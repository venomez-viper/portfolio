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71" r:id="rId4"/>
    <p:sldId id="277" r:id="rId5"/>
    <p:sldId id="278" r:id="rId6"/>
    <p:sldId id="279" r:id="rId7"/>
    <p:sldId id="259" r:id="rId8"/>
    <p:sldId id="280" r:id="rId9"/>
    <p:sldId id="281" r:id="rId10"/>
    <p:sldId id="282" r:id="rId11"/>
    <p:sldId id="283" r:id="rId12"/>
    <p:sldId id="284" r:id="rId13"/>
    <p:sldId id="285" r:id="rId14"/>
    <p:sldId id="286" r:id="rId15"/>
    <p:sldId id="287" r:id="rId16"/>
    <p:sldId id="288" r:id="rId17"/>
    <p:sldId id="289" r:id="rId18"/>
    <p:sldId id="258" r:id="rId19"/>
  </p:sldIdLst>
  <p:sldSz cx="18288000" cy="10287000"/>
  <p:notesSz cx="6858000" cy="9144000"/>
  <p:embeddedFontLst>
    <p:embeddedFont>
      <p:font typeface="Georgia Pro" panose="02040502050405020303" pitchFamily="18" charset="0"/>
      <p:regular r:id="rId20"/>
      <p:bold r:id="rId21"/>
      <p:italic r:id="rId22"/>
      <p:boldItalic r:id="rId23"/>
    </p:embeddedFont>
    <p:embeddedFont>
      <p:font typeface="Nunito Sans" pitchFamily="2" charset="0"/>
      <p:regular r:id="rId24"/>
      <p:bold r:id="rId25"/>
      <p:italic r:id="rId26"/>
      <p:boldItalic r:id="rId27"/>
    </p:embeddedFont>
    <p:embeddedFont>
      <p:font typeface="Nunito Sans Light" pitchFamily="2" charset="0"/>
      <p:regular r:id="rId28"/>
      <p:italic r:id="rId29"/>
    </p:embeddedFont>
    <p:embeddedFont>
      <p:font typeface="Tw Cen MT" panose="020B0602020104020603" pitchFamily="34" charset="0"/>
      <p:regular r:id="rId30"/>
      <p:bold r:id="rId31"/>
      <p:italic r:id="rId32"/>
      <p:boldItalic r:id="rId33"/>
    </p:embeddedFont>
    <p:embeddedFont>
      <p:font typeface="Tw Cen MT" panose="020B0602020104020603" pitchFamily="34" charset="0"/>
      <p:regular r:id="rId30"/>
      <p:bold r:id="rId31"/>
      <p:italic r:id="rId32"/>
      <p:boldItalic r:id="rId3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5DA0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22" autoAdjust="0"/>
  </p:normalViewPr>
  <p:slideViewPr>
    <p:cSldViewPr>
      <p:cViewPr varScale="1">
        <p:scale>
          <a:sx n="73" d="100"/>
          <a:sy n="73" d="100"/>
        </p:scale>
        <p:origin x="54"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7.fntdata"/><Relationship Id="rId21" Type="http://schemas.openxmlformats.org/officeDocument/2006/relationships/font" Target="fonts/font2.fntdata"/><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6.fntdata"/><Relationship Id="rId33" Type="http://schemas.openxmlformats.org/officeDocument/2006/relationships/font" Target="fonts/font14.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32" Type="http://schemas.openxmlformats.org/officeDocument/2006/relationships/font" Target="fonts/font13.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font" Target="fonts/font9.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font" Target="fonts/font11.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C4F1F9"/>
        </a:solidFill>
        <a:effectLst/>
      </p:bgPr>
    </p:bg>
    <p:spTree>
      <p:nvGrpSpPr>
        <p:cNvPr id="1" name=""/>
        <p:cNvGrpSpPr/>
        <p:nvPr/>
      </p:nvGrpSpPr>
      <p:grpSpPr>
        <a:xfrm>
          <a:off x="0" y="0"/>
          <a:ext cx="0" cy="0"/>
          <a:chOff x="0" y="0"/>
          <a:chExt cx="0" cy="0"/>
        </a:xfrm>
      </p:grpSpPr>
      <p:grpSp>
        <p:nvGrpSpPr>
          <p:cNvPr id="2" name="Group 2"/>
          <p:cNvGrpSpPr/>
          <p:nvPr/>
        </p:nvGrpSpPr>
        <p:grpSpPr>
          <a:xfrm>
            <a:off x="0" y="-1687016"/>
            <a:ext cx="27584990" cy="11974016"/>
            <a:chOff x="0" y="0"/>
            <a:chExt cx="7265182" cy="3153650"/>
          </a:xfrm>
        </p:grpSpPr>
        <p:sp>
          <p:nvSpPr>
            <p:cNvPr id="3" name="Freeform 3"/>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adFill rotWithShape="1">
              <a:gsLst>
                <a:gs pos="0">
                  <a:srgbClr val="C5F1FA">
                    <a:alpha val="100000"/>
                  </a:srgbClr>
                </a:gs>
                <a:gs pos="100000">
                  <a:srgbClr val="FFFFFF">
                    <a:alpha val="100000"/>
                  </a:srgbClr>
                </a:gs>
              </a:gsLst>
              <a:lin ang="0"/>
            </a:gradFill>
          </p:spPr>
          <p:txBody>
            <a:bodyPr/>
            <a:lstStyle/>
            <a:p>
              <a:endParaRPr lang="en-IN" dirty="0"/>
            </a:p>
          </p:txBody>
        </p:sp>
        <p:sp>
          <p:nvSpPr>
            <p:cNvPr id="4" name="TextBox 4"/>
            <p:cNvSpPr txBox="1"/>
            <p:nvPr/>
          </p:nvSpPr>
          <p:spPr>
            <a:xfrm>
              <a:off x="0" y="-38100"/>
              <a:ext cx="7265182" cy="3191750"/>
            </a:xfrm>
            <a:prstGeom prst="rect">
              <a:avLst/>
            </a:prstGeom>
          </p:spPr>
          <p:txBody>
            <a:bodyPr lIns="50800" tIns="50800" rIns="50800" bIns="50800" rtlCol="0" anchor="ctr"/>
            <a:lstStyle/>
            <a:p>
              <a:pPr algn="ctr">
                <a:lnSpc>
                  <a:spcPts val="3359"/>
                </a:lnSpc>
              </a:pPr>
              <a:endParaRPr/>
            </a:p>
          </p:txBody>
        </p:sp>
      </p:grpSp>
      <p:sp>
        <p:nvSpPr>
          <p:cNvPr id="5" name="TextBox 5"/>
          <p:cNvSpPr txBox="1"/>
          <p:nvPr/>
        </p:nvSpPr>
        <p:spPr>
          <a:xfrm>
            <a:off x="1625511" y="5334000"/>
            <a:ext cx="15060095" cy="3924300"/>
          </a:xfrm>
          <a:prstGeom prst="rect">
            <a:avLst/>
          </a:prstGeom>
        </p:spPr>
        <p:txBody>
          <a:bodyPr lIns="0" tIns="0" rIns="0" bIns="0" rtlCol="0" anchor="t">
            <a:spAutoFit/>
          </a:bodyPr>
          <a:lstStyle/>
          <a:p>
            <a:pPr algn="l">
              <a:lnSpc>
                <a:spcPts val="15000"/>
              </a:lnSpc>
            </a:pPr>
            <a:r>
              <a:rPr lang="en-US" sz="15000" dirty="0">
                <a:solidFill>
                  <a:srgbClr val="03286A"/>
                </a:solidFill>
                <a:latin typeface="Georgia Pro"/>
                <a:ea typeface="Georgia Pro"/>
                <a:cs typeface="Georgia Pro"/>
                <a:sym typeface="Georgia Pro"/>
              </a:rPr>
              <a:t>Final</a:t>
            </a:r>
          </a:p>
          <a:p>
            <a:pPr algn="l">
              <a:lnSpc>
                <a:spcPts val="15000"/>
              </a:lnSpc>
            </a:pPr>
            <a:r>
              <a:rPr lang="en-US" sz="15000" dirty="0">
                <a:solidFill>
                  <a:srgbClr val="03286A"/>
                </a:solidFill>
                <a:latin typeface="Georgia Pro"/>
                <a:ea typeface="Georgia Pro"/>
                <a:cs typeface="Georgia Pro"/>
                <a:sym typeface="Georgia Pro"/>
              </a:rPr>
              <a:t>Project</a:t>
            </a:r>
          </a:p>
        </p:txBody>
      </p:sp>
      <p:sp>
        <p:nvSpPr>
          <p:cNvPr id="6" name="TextBox 6"/>
          <p:cNvSpPr txBox="1"/>
          <p:nvPr/>
        </p:nvSpPr>
        <p:spPr>
          <a:xfrm>
            <a:off x="1625511" y="4786313"/>
            <a:ext cx="15060095" cy="552450"/>
          </a:xfrm>
          <a:prstGeom prst="rect">
            <a:avLst/>
          </a:prstGeom>
        </p:spPr>
        <p:txBody>
          <a:bodyPr lIns="0" tIns="0" rIns="0" bIns="0" rtlCol="0" anchor="t">
            <a:spAutoFit/>
          </a:bodyPr>
          <a:lstStyle/>
          <a:p>
            <a:pPr marL="0" lvl="0" indent="0" algn="l">
              <a:lnSpc>
                <a:spcPts val="4320"/>
              </a:lnSpc>
              <a:spcBef>
                <a:spcPct val="0"/>
              </a:spcBef>
            </a:pPr>
            <a:r>
              <a:rPr lang="en-US" sz="3600" u="none" strike="noStrike" spc="-107" dirty="0">
                <a:solidFill>
                  <a:srgbClr val="03286A"/>
                </a:solidFill>
                <a:latin typeface="Georgia Pro"/>
                <a:ea typeface="Georgia Pro"/>
                <a:cs typeface="Georgia Pro"/>
                <a:sym typeface="Georgia Pro"/>
              </a:rPr>
              <a:t>MGT- 598</a:t>
            </a:r>
          </a:p>
        </p:txBody>
      </p:sp>
      <p:sp>
        <p:nvSpPr>
          <p:cNvPr id="7" name="TextBox 7"/>
          <p:cNvSpPr txBox="1"/>
          <p:nvPr/>
        </p:nvSpPr>
        <p:spPr>
          <a:xfrm>
            <a:off x="12420600" y="8039100"/>
            <a:ext cx="12459703" cy="552074"/>
          </a:xfrm>
          <a:prstGeom prst="rect">
            <a:avLst/>
          </a:prstGeom>
        </p:spPr>
        <p:txBody>
          <a:bodyPr lIns="0" tIns="0" rIns="0" bIns="0" rtlCol="0" anchor="t">
            <a:spAutoFit/>
          </a:bodyPr>
          <a:lstStyle/>
          <a:p>
            <a:pPr algn="l">
              <a:lnSpc>
                <a:spcPts val="4320"/>
              </a:lnSpc>
            </a:pPr>
            <a:r>
              <a:rPr lang="en-US" sz="3600" spc="-107" dirty="0">
                <a:solidFill>
                  <a:srgbClr val="F94075"/>
                </a:solidFill>
                <a:latin typeface="Nunito Sans"/>
                <a:ea typeface="Nunito Sans"/>
                <a:cs typeface="Nunito Sans"/>
                <a:sym typeface="Nunito Sans"/>
              </a:rPr>
              <a:t>By Team 2</a:t>
            </a:r>
          </a:p>
        </p:txBody>
      </p:sp>
      <p:sp>
        <p:nvSpPr>
          <p:cNvPr id="8" name="AutoShape 8"/>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9" name="TextBox 9"/>
          <p:cNvSpPr txBox="1"/>
          <p:nvPr/>
        </p:nvSpPr>
        <p:spPr>
          <a:xfrm rot="-5400000">
            <a:off x="-1848088" y="7586207"/>
            <a:ext cx="4498668" cy="282129"/>
          </a:xfrm>
          <a:prstGeom prst="rect">
            <a:avLst/>
          </a:prstGeom>
        </p:spPr>
        <p:txBody>
          <a:bodyPr lIns="0" tIns="0" rIns="0" bIns="0" rtlCol="0" anchor="t">
            <a:spAutoFit/>
          </a:bodyPr>
          <a:lstStyle/>
          <a:p>
            <a:pPr>
              <a:lnSpc>
                <a:spcPts val="2160"/>
              </a:lnSpc>
            </a:pPr>
            <a:r>
              <a:rPr lang="en-US" sz="2000" dirty="0">
                <a:solidFill>
                  <a:schemeClr val="tx2"/>
                </a:solidFill>
                <a:latin typeface="Georgia Pro" panose="02040502050405020303" pitchFamily="18" charset="0"/>
              </a:rPr>
              <a:t>POM+ Singapore </a:t>
            </a:r>
            <a:endParaRPr lang="en-US" sz="2000" spc="-53" dirty="0">
              <a:solidFill>
                <a:schemeClr val="tx2"/>
              </a:solidFill>
              <a:latin typeface="Georgia Pro" panose="02040502050405020303" pitchFamily="18" charset="0"/>
              <a:ea typeface="Nunito Sans"/>
              <a:cs typeface="Nunito Sans"/>
              <a:sym typeface="Nunito Sans"/>
            </a:endParaRPr>
          </a:p>
        </p:txBody>
      </p:sp>
      <p:sp>
        <p:nvSpPr>
          <p:cNvPr id="10" name="TextBox 10"/>
          <p:cNvSpPr txBox="1"/>
          <p:nvPr/>
        </p:nvSpPr>
        <p:spPr>
          <a:xfrm rot="-5400000">
            <a:off x="-1848088" y="2515743"/>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687016"/>
            <a:ext cx="27584990" cy="11974016"/>
            <a:chOff x="0" y="0"/>
            <a:chExt cx="7265182" cy="3153650"/>
          </a:xfrm>
          <a:gradFill flip="none" rotWithShape="1">
            <a:gsLst>
              <a:gs pos="51000">
                <a:schemeClr val="accent2">
                  <a:lumMod val="5000"/>
                  <a:lumOff val="95000"/>
                </a:schemeClr>
              </a:gs>
              <a:gs pos="22000">
                <a:schemeClr val="accent2">
                  <a:lumMod val="45000"/>
                  <a:lumOff val="55000"/>
                </a:schemeClr>
              </a:gs>
              <a:gs pos="100000">
                <a:schemeClr val="accent2">
                  <a:lumMod val="30000"/>
                  <a:lumOff val="70000"/>
                </a:schemeClr>
              </a:gs>
            </a:gsLst>
            <a:path path="circle">
              <a:fillToRect l="100000" t="100000"/>
            </a:path>
            <a:tileRect r="-100000" b="-100000"/>
          </a:gradFill>
        </p:grpSpPr>
        <p:sp>
          <p:nvSpPr>
            <p:cNvPr id="3" name="Freeform 3"/>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p:spPr>
          <p:txBody>
            <a:bodyPr/>
            <a:lstStyle/>
            <a:p>
              <a:endParaRPr lang="en-IN" dirty="0"/>
            </a:p>
          </p:txBody>
        </p:sp>
        <p:sp>
          <p:nvSpPr>
            <p:cNvPr id="4" name="TextBox 4"/>
            <p:cNvSpPr txBox="1"/>
            <p:nvPr/>
          </p:nvSpPr>
          <p:spPr>
            <a:xfrm>
              <a:off x="0" y="-38100"/>
              <a:ext cx="7265182" cy="3191750"/>
            </a:xfrm>
            <a:prstGeom prst="rect">
              <a:avLst/>
            </a:prstGeom>
            <a:grpFill/>
          </p:spPr>
          <p:txBody>
            <a:bodyPr lIns="50800" tIns="50800" rIns="50800" bIns="50800" rtlCol="0" anchor="ctr"/>
            <a:lstStyle/>
            <a:p>
              <a:pPr algn="ctr">
                <a:lnSpc>
                  <a:spcPts val="3359"/>
                </a:lnSpc>
              </a:pPr>
              <a:endParaRPr/>
            </a:p>
          </p:txBody>
        </p:sp>
      </p:grpSp>
      <p:sp>
        <p:nvSpPr>
          <p:cNvPr id="5" name="AutoShape 5"/>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5" name="TextBox 15"/>
          <p:cNvSpPr txBox="1"/>
          <p:nvPr/>
        </p:nvSpPr>
        <p:spPr>
          <a:xfrm>
            <a:off x="4817753" y="2809207"/>
            <a:ext cx="9981453" cy="5473293"/>
          </a:xfrm>
          <a:prstGeom prst="rect">
            <a:avLst/>
          </a:prstGeom>
        </p:spPr>
        <p:txBody>
          <a:bodyPr wrap="square" lIns="0" tIns="0" rIns="0" bIns="0" rtlCol="0" anchor="t">
            <a:spAutoFit/>
          </a:bodyPr>
          <a:lstStyle/>
          <a:p>
            <a:pPr marL="571500" indent="-571500" fontAlgn="base">
              <a:buClr>
                <a:srgbClr val="B31795"/>
              </a:buClr>
              <a:buFont typeface="Wingdings" panose="05000000000000000000" pitchFamily="2" charset="2"/>
              <a:buChar char="Ø"/>
            </a:pPr>
            <a:r>
              <a:rPr lang="en-US" sz="3600" dirty="0">
                <a:solidFill>
                  <a:schemeClr val="tx2"/>
                </a:solidFill>
                <a:latin typeface="Georgia Pro" panose="020F0502020204030204" pitchFamily="18" charset="0"/>
              </a:rPr>
              <a:t>Scope Document​</a:t>
            </a:r>
          </a:p>
          <a:p>
            <a:pPr marL="571500" indent="-571500" fontAlgn="base">
              <a:buClr>
                <a:srgbClr val="B31795"/>
              </a:buClr>
              <a:buFont typeface="Wingdings" panose="05000000000000000000" pitchFamily="2" charset="2"/>
              <a:buChar char="Ø"/>
            </a:pPr>
            <a:r>
              <a:rPr lang="en-US" sz="3600" dirty="0">
                <a:solidFill>
                  <a:schemeClr val="tx2"/>
                </a:solidFill>
                <a:latin typeface="Georgia Pro" panose="020F0502020204030204" pitchFamily="18" charset="0"/>
              </a:rPr>
              <a:t>Project Cost Analysis​</a:t>
            </a:r>
          </a:p>
          <a:p>
            <a:pPr marL="571500" indent="-571500" fontAlgn="base">
              <a:buClr>
                <a:srgbClr val="B31795"/>
              </a:buClr>
              <a:buFont typeface="Wingdings" panose="05000000000000000000" pitchFamily="2" charset="2"/>
              <a:buChar char="Ø"/>
            </a:pPr>
            <a:r>
              <a:rPr lang="en-US" sz="3600" dirty="0">
                <a:solidFill>
                  <a:schemeClr val="tx2"/>
                </a:solidFill>
                <a:latin typeface="Georgia Pro" panose="020F0502020204030204" pitchFamily="18" charset="0"/>
              </a:rPr>
              <a:t>Project NPV​</a:t>
            </a:r>
          </a:p>
          <a:p>
            <a:pPr marL="571500" indent="-571500" fontAlgn="base">
              <a:buClr>
                <a:srgbClr val="B31795"/>
              </a:buClr>
              <a:buFont typeface="Wingdings" panose="05000000000000000000" pitchFamily="2" charset="2"/>
              <a:buChar char="Ø"/>
            </a:pPr>
            <a:r>
              <a:rPr lang="en-US" sz="3600" dirty="0">
                <a:solidFill>
                  <a:schemeClr val="tx2"/>
                </a:solidFill>
                <a:latin typeface="Georgia Pro" panose="020F0502020204030204" pitchFamily="18" charset="0"/>
              </a:rPr>
              <a:t>Activity-on-Node (AON) Diagram​</a:t>
            </a:r>
          </a:p>
          <a:p>
            <a:pPr marL="571500" indent="-571500" fontAlgn="base">
              <a:buClr>
                <a:srgbClr val="B31795"/>
              </a:buClr>
              <a:buFont typeface="Wingdings" panose="05000000000000000000" pitchFamily="2" charset="2"/>
              <a:buChar char="Ø"/>
            </a:pPr>
            <a:r>
              <a:rPr lang="en-US" sz="3600" dirty="0">
                <a:solidFill>
                  <a:schemeClr val="tx2"/>
                </a:solidFill>
                <a:latin typeface="Georgia Pro" panose="020F0502020204030204" pitchFamily="18" charset="0"/>
              </a:rPr>
              <a:t>Project Schedule​</a:t>
            </a:r>
          </a:p>
          <a:p>
            <a:pPr marL="571500" indent="-571500" fontAlgn="base">
              <a:buClr>
                <a:srgbClr val="B31795"/>
              </a:buClr>
              <a:buFont typeface="Wingdings" panose="05000000000000000000" pitchFamily="2" charset="2"/>
              <a:buChar char="Ø"/>
            </a:pPr>
            <a:r>
              <a:rPr lang="en-US" sz="3600" dirty="0">
                <a:solidFill>
                  <a:schemeClr val="tx2"/>
                </a:solidFill>
                <a:latin typeface="Georgia Pro" panose="020F0502020204030204" pitchFamily="18" charset="0"/>
              </a:rPr>
              <a:t>Earned Value Management (EVM)​</a:t>
            </a:r>
          </a:p>
          <a:p>
            <a:pPr marL="571500" indent="-571500" fontAlgn="base">
              <a:buClr>
                <a:srgbClr val="B31795"/>
              </a:buClr>
              <a:buFont typeface="Wingdings" panose="05000000000000000000" pitchFamily="2" charset="2"/>
              <a:buChar char="Ø"/>
            </a:pPr>
            <a:r>
              <a:rPr lang="en-US" sz="3600" dirty="0">
                <a:solidFill>
                  <a:schemeClr val="tx2"/>
                </a:solidFill>
                <a:latin typeface="Georgia Pro" panose="020F0502020204030204" pitchFamily="18" charset="0"/>
              </a:rPr>
              <a:t>Communication Plan​</a:t>
            </a:r>
          </a:p>
          <a:p>
            <a:pPr marL="571500" indent="-571500" fontAlgn="base">
              <a:buClr>
                <a:srgbClr val="B31795"/>
              </a:buClr>
              <a:buFont typeface="Wingdings" panose="05000000000000000000" pitchFamily="2" charset="2"/>
              <a:buChar char="Ø"/>
            </a:pPr>
            <a:r>
              <a:rPr lang="en-US" sz="3600" dirty="0">
                <a:solidFill>
                  <a:schemeClr val="tx2"/>
                </a:solidFill>
                <a:latin typeface="Georgia Pro" panose="020F0502020204030204" pitchFamily="18" charset="0"/>
              </a:rPr>
              <a:t>Risk Assessment &amp; Risk Response Matrix​</a:t>
            </a:r>
          </a:p>
          <a:p>
            <a:pPr marL="571500" indent="-571500" fontAlgn="base">
              <a:buClr>
                <a:srgbClr val="B31795"/>
              </a:buClr>
              <a:buFont typeface="Wingdings" panose="05000000000000000000" pitchFamily="2" charset="2"/>
              <a:buChar char="Ø"/>
            </a:pPr>
            <a:r>
              <a:rPr lang="en-US" sz="3600" dirty="0">
                <a:solidFill>
                  <a:schemeClr val="tx2"/>
                </a:solidFill>
                <a:latin typeface="Georgia Pro" panose="020F0502020204030204" pitchFamily="18" charset="0"/>
              </a:rPr>
              <a:t>Conclusion &amp; Recommendations</a:t>
            </a:r>
          </a:p>
          <a:p>
            <a:pPr marL="0" lvl="0" indent="0" algn="ctr">
              <a:lnSpc>
                <a:spcPts val="3840"/>
              </a:lnSpc>
              <a:spcBef>
                <a:spcPct val="0"/>
              </a:spcBef>
            </a:pPr>
            <a:endParaRPr lang="en-US" sz="3200" dirty="0">
              <a:solidFill>
                <a:srgbClr val="03286A"/>
              </a:solidFill>
              <a:latin typeface="Georgia Pro"/>
              <a:ea typeface="Georgia Pro"/>
              <a:cs typeface="Georgia Pro"/>
              <a:sym typeface="Georgia Pro"/>
            </a:endParaRPr>
          </a:p>
        </p:txBody>
      </p:sp>
      <p:sp>
        <p:nvSpPr>
          <p:cNvPr id="21" name="TextBox 21"/>
          <p:cNvSpPr txBox="1"/>
          <p:nvPr/>
        </p:nvSpPr>
        <p:spPr>
          <a:xfrm>
            <a:off x="3488794" y="7734834"/>
            <a:ext cx="2610128" cy="359714"/>
          </a:xfrm>
          <a:prstGeom prst="rect">
            <a:avLst/>
          </a:prstGeom>
        </p:spPr>
        <p:txBody>
          <a:bodyPr lIns="0" tIns="0" rIns="0" bIns="0" rtlCol="0" anchor="t">
            <a:spAutoFit/>
          </a:bodyPr>
          <a:lstStyle/>
          <a:p>
            <a:pPr marL="0" lvl="0" indent="0" algn="ctr">
              <a:lnSpc>
                <a:spcPts val="2940"/>
              </a:lnSpc>
              <a:spcBef>
                <a:spcPct val="0"/>
              </a:spcBef>
            </a:pPr>
            <a:r>
              <a:rPr lang="en-US" sz="2100" dirty="0">
                <a:solidFill>
                  <a:srgbClr val="03286A"/>
                </a:solidFill>
                <a:latin typeface="Nunito Sans Light"/>
                <a:ea typeface="Nunito Sans Light"/>
                <a:cs typeface="Nunito Sans Light"/>
                <a:sym typeface="Nunito Sans Light"/>
              </a:rPr>
              <a:t>. </a:t>
            </a:r>
          </a:p>
        </p:txBody>
      </p:sp>
      <p:sp>
        <p:nvSpPr>
          <p:cNvPr id="22" name="TextBox 22"/>
          <p:cNvSpPr txBox="1"/>
          <p:nvPr/>
        </p:nvSpPr>
        <p:spPr>
          <a:xfrm>
            <a:off x="8242349" y="7734834"/>
            <a:ext cx="2610128" cy="359714"/>
          </a:xfrm>
          <a:prstGeom prst="rect">
            <a:avLst/>
          </a:prstGeom>
        </p:spPr>
        <p:txBody>
          <a:bodyPr lIns="0" tIns="0" rIns="0" bIns="0" rtlCol="0" anchor="t">
            <a:spAutoFit/>
          </a:bodyPr>
          <a:lstStyle/>
          <a:p>
            <a:pPr marL="0" lvl="0" indent="0" algn="ctr">
              <a:lnSpc>
                <a:spcPts val="2940"/>
              </a:lnSpc>
              <a:spcBef>
                <a:spcPct val="0"/>
              </a:spcBef>
            </a:pPr>
            <a:r>
              <a:rPr lang="en-US" sz="2100" dirty="0">
                <a:solidFill>
                  <a:srgbClr val="03286A"/>
                </a:solidFill>
                <a:latin typeface="Nunito Sans Light"/>
                <a:ea typeface="Nunito Sans Light"/>
                <a:cs typeface="Nunito Sans Light"/>
                <a:sym typeface="Nunito Sans Light"/>
              </a:rPr>
              <a:t>. </a:t>
            </a:r>
          </a:p>
        </p:txBody>
      </p:sp>
      <p:sp>
        <p:nvSpPr>
          <p:cNvPr id="24" name="TextBox 24"/>
          <p:cNvSpPr txBox="1"/>
          <p:nvPr/>
        </p:nvSpPr>
        <p:spPr>
          <a:xfrm>
            <a:off x="-709976" y="1109822"/>
            <a:ext cx="16507551" cy="923925"/>
          </a:xfrm>
          <a:prstGeom prst="rect">
            <a:avLst/>
          </a:prstGeom>
        </p:spPr>
        <p:txBody>
          <a:bodyPr lIns="0" tIns="0" rIns="0" bIns="0" rtlCol="0" anchor="t">
            <a:spAutoFit/>
          </a:bodyPr>
          <a:lstStyle/>
          <a:p>
            <a:pPr marL="0" lvl="0" indent="0" algn="ctr">
              <a:lnSpc>
                <a:spcPts val="7200"/>
              </a:lnSpc>
              <a:spcBef>
                <a:spcPct val="0"/>
              </a:spcBef>
            </a:pPr>
            <a:r>
              <a:rPr lang="en-US" sz="6000" spc="-252" dirty="0">
                <a:solidFill>
                  <a:srgbClr val="03286A"/>
                </a:solidFill>
                <a:latin typeface="Georgia Pro"/>
                <a:ea typeface="Georgia Pro"/>
                <a:cs typeface="Georgia Pro"/>
                <a:sym typeface="Georgia Pro"/>
              </a:rPr>
              <a:t>AGENDA</a:t>
            </a:r>
          </a:p>
        </p:txBody>
      </p:sp>
      <p:sp>
        <p:nvSpPr>
          <p:cNvPr id="27" name="AutoShape 27"/>
          <p:cNvSpPr/>
          <p:nvPr/>
        </p:nvSpPr>
        <p:spPr>
          <a:xfrm flipV="1">
            <a:off x="5643271" y="2048829"/>
            <a:ext cx="3801055" cy="0"/>
          </a:xfrm>
          <a:prstGeom prst="line">
            <a:avLst/>
          </a:prstGeom>
          <a:ln w="9525" cap="flat">
            <a:solidFill>
              <a:srgbClr val="F94075"/>
            </a:solidFill>
            <a:prstDash val="solid"/>
            <a:headEnd type="none" w="sm" len="sm"/>
            <a:tailEnd type="none" w="sm" len="sm"/>
          </a:ln>
        </p:spPr>
        <p:txBody>
          <a:bodyPr/>
          <a:lstStyle/>
          <a:p>
            <a:endParaRPr lang="en-IN"/>
          </a:p>
        </p:txBody>
      </p:sp>
      <p:sp>
        <p:nvSpPr>
          <p:cNvPr id="30" name="TextBox 10">
            <a:extLst>
              <a:ext uri="{FF2B5EF4-FFF2-40B4-BE49-F238E27FC236}">
                <a16:creationId xmlns:a16="http://schemas.microsoft.com/office/drawing/2014/main" id="{5EED9868-D198-6971-1CA7-0D5E8C909CC1}"/>
              </a:ext>
            </a:extLst>
          </p:cNvPr>
          <p:cNvSpPr txBox="1"/>
          <p:nvPr/>
        </p:nvSpPr>
        <p:spPr>
          <a:xfrm rot="16200000">
            <a:off x="-1848088" y="2697254"/>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
        <p:nvSpPr>
          <p:cNvPr id="32" name="TextBox 9">
            <a:extLst>
              <a:ext uri="{FF2B5EF4-FFF2-40B4-BE49-F238E27FC236}">
                <a16:creationId xmlns:a16="http://schemas.microsoft.com/office/drawing/2014/main" id="{FBE09170-17F6-EBFF-82EB-1BB59B7BAA93}"/>
              </a:ext>
            </a:extLst>
          </p:cNvPr>
          <p:cNvSpPr txBox="1"/>
          <p:nvPr/>
        </p:nvSpPr>
        <p:spPr>
          <a:xfrm rot="16200000">
            <a:off x="-1848088" y="7586207"/>
            <a:ext cx="4498668" cy="282129"/>
          </a:xfrm>
          <a:prstGeom prst="rect">
            <a:avLst/>
          </a:prstGeom>
        </p:spPr>
        <p:txBody>
          <a:bodyPr lIns="0" tIns="0" rIns="0" bIns="0" rtlCol="0" anchor="t">
            <a:spAutoFit/>
          </a:bodyPr>
          <a:lstStyle/>
          <a:p>
            <a:pPr>
              <a:lnSpc>
                <a:spcPts val="2160"/>
              </a:lnSpc>
            </a:pPr>
            <a:r>
              <a:rPr lang="en-US" sz="2000" dirty="0">
                <a:solidFill>
                  <a:schemeClr val="tx2"/>
                </a:solidFill>
                <a:latin typeface="Georgia Pro" panose="02040502050405020303" pitchFamily="18" charset="0"/>
              </a:rPr>
              <a:t>POM+ Singapore </a:t>
            </a:r>
            <a:endParaRPr lang="en-US" sz="2000" spc="-53" dirty="0">
              <a:solidFill>
                <a:schemeClr val="tx2"/>
              </a:solidFill>
              <a:latin typeface="Georgia Pro" panose="02040502050405020303" pitchFamily="18" charset="0"/>
              <a:ea typeface="Nunito Sans"/>
              <a:cs typeface="Nunito Sans"/>
              <a:sym typeface="Nunito Sans"/>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687016"/>
            <a:ext cx="27584990" cy="11974016"/>
            <a:chOff x="0" y="0"/>
            <a:chExt cx="7265182" cy="3153650"/>
          </a:xfrm>
          <a:gradFill>
            <a:gsLst>
              <a:gs pos="0">
                <a:schemeClr val="accent6">
                  <a:lumMod val="20000"/>
                  <a:lumOff val="80000"/>
                </a:schemeClr>
              </a:gs>
              <a:gs pos="100000">
                <a:srgbClr val="FFFFFF">
                  <a:alpha val="100000"/>
                </a:srgbClr>
              </a:gs>
            </a:gsLst>
            <a:lin ang="0" scaled="0"/>
          </a:gradFill>
        </p:grpSpPr>
        <p:sp>
          <p:nvSpPr>
            <p:cNvPr id="3" name="Freeform 3"/>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a:ln cap="sq">
              <a:noFill/>
              <a:prstDash val="solid"/>
              <a:miter/>
            </a:ln>
          </p:spPr>
          <p:txBody>
            <a:bodyPr/>
            <a:lstStyle/>
            <a:p>
              <a:endParaRPr lang="en-IN"/>
            </a:p>
          </p:txBody>
        </p:sp>
        <p:sp>
          <p:nvSpPr>
            <p:cNvPr id="4" name="TextBox 4"/>
            <p:cNvSpPr txBox="1"/>
            <p:nvPr/>
          </p:nvSpPr>
          <p:spPr>
            <a:xfrm>
              <a:off x="0" y="-19050"/>
              <a:ext cx="7265182" cy="3172700"/>
            </a:xfrm>
            <a:prstGeom prst="rect">
              <a:avLst/>
            </a:prstGeom>
            <a:grpFill/>
          </p:spPr>
          <p:txBody>
            <a:bodyPr lIns="50800" tIns="50800" rIns="50800" bIns="50800" rtlCol="0" anchor="ctr"/>
            <a:lstStyle/>
            <a:p>
              <a:pPr marL="0" lvl="0" indent="0" algn="ctr">
                <a:lnSpc>
                  <a:spcPts val="2730"/>
                </a:lnSpc>
                <a:spcBef>
                  <a:spcPct val="0"/>
                </a:spcBef>
              </a:pPr>
              <a:endParaRPr/>
            </a:p>
          </p:txBody>
        </p:sp>
      </p:grpSp>
      <p:sp>
        <p:nvSpPr>
          <p:cNvPr id="5" name="TextBox 5"/>
          <p:cNvSpPr txBox="1"/>
          <p:nvPr/>
        </p:nvSpPr>
        <p:spPr>
          <a:xfrm>
            <a:off x="7540838" y="1576938"/>
            <a:ext cx="9101955" cy="923925"/>
          </a:xfrm>
          <a:prstGeom prst="rect">
            <a:avLst/>
          </a:prstGeom>
        </p:spPr>
        <p:txBody>
          <a:bodyPr lIns="0" tIns="0" rIns="0" bIns="0" rtlCol="0" anchor="t">
            <a:spAutoFit/>
          </a:bodyPr>
          <a:lstStyle/>
          <a:p>
            <a:pPr marL="0" lvl="0" indent="0" algn="l">
              <a:lnSpc>
                <a:spcPts val="7200"/>
              </a:lnSpc>
              <a:spcBef>
                <a:spcPct val="0"/>
              </a:spcBef>
            </a:pPr>
            <a:r>
              <a:rPr lang="en-US" sz="6000" u="none" strike="noStrike" spc="-252" dirty="0">
                <a:solidFill>
                  <a:srgbClr val="03286A"/>
                </a:solidFill>
                <a:latin typeface="Georgia Pro"/>
                <a:ea typeface="Georgia Pro"/>
                <a:cs typeface="Georgia Pro"/>
                <a:sym typeface="Georgia Pro"/>
              </a:rPr>
              <a:t> </a:t>
            </a:r>
          </a:p>
        </p:txBody>
      </p:sp>
      <p:sp>
        <p:nvSpPr>
          <p:cNvPr id="9" name="AutoShape 9"/>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6" name="TextBox 15">
            <a:extLst>
              <a:ext uri="{FF2B5EF4-FFF2-40B4-BE49-F238E27FC236}">
                <a16:creationId xmlns:a16="http://schemas.microsoft.com/office/drawing/2014/main" id="{E23DA3DF-E065-1FF8-08A0-7EF12F556B2B}"/>
              </a:ext>
            </a:extLst>
          </p:cNvPr>
          <p:cNvSpPr txBox="1"/>
          <p:nvPr/>
        </p:nvSpPr>
        <p:spPr>
          <a:xfrm>
            <a:off x="1607341" y="190500"/>
            <a:ext cx="7010400" cy="769441"/>
          </a:xfrm>
          <a:prstGeom prst="rect">
            <a:avLst/>
          </a:prstGeom>
          <a:noFill/>
        </p:spPr>
        <p:txBody>
          <a:bodyPr wrap="square" rtlCol="0">
            <a:spAutoFit/>
          </a:bodyPr>
          <a:lstStyle/>
          <a:p>
            <a:r>
              <a:rPr lang="en-IN" sz="4400" dirty="0">
                <a:solidFill>
                  <a:schemeClr val="tx2"/>
                </a:solidFill>
                <a:latin typeface="Georgia Pro" panose="02040502050405020303" pitchFamily="18" charset="0"/>
              </a:rPr>
              <a:t>PROJECT SCOPE</a:t>
            </a:r>
          </a:p>
        </p:txBody>
      </p:sp>
      <p:sp>
        <p:nvSpPr>
          <p:cNvPr id="17" name="TextBox 16">
            <a:extLst>
              <a:ext uri="{FF2B5EF4-FFF2-40B4-BE49-F238E27FC236}">
                <a16:creationId xmlns:a16="http://schemas.microsoft.com/office/drawing/2014/main" id="{424A950E-DD78-35E8-E53C-8359ADD0F142}"/>
              </a:ext>
            </a:extLst>
          </p:cNvPr>
          <p:cNvSpPr txBox="1"/>
          <p:nvPr/>
        </p:nvSpPr>
        <p:spPr>
          <a:xfrm>
            <a:off x="964273" y="1032271"/>
            <a:ext cx="15494927" cy="8402300"/>
          </a:xfrm>
          <a:prstGeom prst="rect">
            <a:avLst/>
          </a:prstGeom>
          <a:noFill/>
        </p:spPr>
        <p:txBody>
          <a:bodyPr wrap="square" rtlCol="0">
            <a:spAutoFit/>
          </a:bodyPr>
          <a:lstStyle/>
          <a:p>
            <a:pPr fontAlgn="base"/>
            <a:r>
              <a:rPr lang="en-US" sz="2400" b="1" dirty="0">
                <a:latin typeface="Nunito Sans" pitchFamily="2" charset="0"/>
              </a:rPr>
              <a:t>1. Project Objective</a:t>
            </a:r>
            <a:r>
              <a:rPr lang="en-US" sz="2400" dirty="0">
                <a:latin typeface="Nunito Sans" pitchFamily="2" charset="0"/>
              </a:rPr>
              <a:t>​</a:t>
            </a:r>
          </a:p>
          <a:p>
            <a:pPr fontAlgn="base"/>
            <a:r>
              <a:rPr lang="en-US" sz="2400" dirty="0">
                <a:latin typeface="Nunito Sans" pitchFamily="2" charset="0"/>
              </a:rPr>
              <a:t>The objective of the POM+ Singapore Pilot is to develop, validate, and market-test two pomegranate-based​</a:t>
            </a:r>
          </a:p>
          <a:p>
            <a:pPr fontAlgn="base"/>
            <a:r>
              <a:rPr lang="en-US" sz="2400" dirty="0">
                <a:latin typeface="Nunito Sans" pitchFamily="2" charset="0"/>
              </a:rPr>
              <a:t>energy drink variants—POM+ Red and POM+ Blue each containing under 110 calories and demonstrating​</a:t>
            </a:r>
          </a:p>
          <a:p>
            <a:pPr fontAlgn="base"/>
            <a:r>
              <a:rPr lang="en-US" sz="2400" dirty="0">
                <a:latin typeface="Nunito Sans" pitchFamily="2" charset="0"/>
              </a:rPr>
              <a:t>antitoxin benefits certified by the Technion Institute. The project will design recyclable packaging that aligns with​ Big Kola’s sustainability standards and execute a structured 60-day pilot in Singapore to evaluate taste ratings,​ consumer acceptance, market response, and operational feasibility.​ The project begins on January 2, 2025 and concludes on July 14, 2025, as supported by the project schedule.​ The total project cost without overhead is $1,750,800, and with overhead applied, the full project cost is​ $2,100,960. The final output of this project is a complete Go / No-Go recommendation for APAC expansion,​ supported by financial results (NPV), risks, sustainability considerations, and validated consumer data.​</a:t>
            </a:r>
          </a:p>
          <a:p>
            <a:pPr fontAlgn="base"/>
            <a:r>
              <a:rPr lang="en-US" sz="2400" dirty="0">
                <a:latin typeface="Nunito Sans" pitchFamily="2" charset="0"/>
              </a:rPr>
              <a:t>​</a:t>
            </a:r>
            <a:br>
              <a:rPr lang="en-US" sz="2400" dirty="0">
                <a:latin typeface="Nunito Sans" pitchFamily="2" charset="0"/>
              </a:rPr>
            </a:br>
            <a:r>
              <a:rPr lang="en-US" sz="2400" b="1" dirty="0">
                <a:latin typeface="Nunito Sans" pitchFamily="2" charset="0"/>
              </a:rPr>
              <a:t>2. Project Scope</a:t>
            </a:r>
            <a:r>
              <a:rPr lang="en-US" sz="2400" dirty="0">
                <a:latin typeface="Nunito Sans" pitchFamily="2" charset="0"/>
              </a:rPr>
              <a:t>​</a:t>
            </a:r>
          </a:p>
          <a:p>
            <a:pPr fontAlgn="base"/>
            <a:r>
              <a:rPr lang="en-US" sz="2400" dirty="0">
                <a:latin typeface="Nunito Sans" pitchFamily="2" charset="0"/>
              </a:rPr>
              <a:t>This project produces two finalized low-calorie POM+ variants with approved nutritional specifications,​</a:t>
            </a:r>
          </a:p>
          <a:p>
            <a:pPr fontAlgn="base"/>
            <a:r>
              <a:rPr lang="en-US" sz="2400" dirty="0">
                <a:latin typeface="Nunito Sans" pitchFamily="2" charset="0"/>
              </a:rPr>
              <a:t>validated antitoxin content, and fully compliant Singapore Food Agency labeling. Each deliverable includes​</a:t>
            </a:r>
          </a:p>
          <a:p>
            <a:pPr fontAlgn="base"/>
            <a:r>
              <a:rPr lang="en-US" sz="2400" dirty="0">
                <a:latin typeface="Nunito Sans" pitchFamily="2" charset="0"/>
              </a:rPr>
              <a:t>finalized recipes, quality metrics, standardized taste-testing procedures, a full Technion Institute safety​</a:t>
            </a:r>
          </a:p>
          <a:p>
            <a:pPr fontAlgn="base"/>
            <a:r>
              <a:rPr lang="en-US" sz="2400" dirty="0">
                <a:latin typeface="Nunito Sans" pitchFamily="2" charset="0"/>
              </a:rPr>
              <a:t>evaluation, and recyclable packaging that meets sustainability targets (≥60% post-consumer recycled content).​</a:t>
            </a:r>
          </a:p>
          <a:p>
            <a:pPr fontAlgn="base"/>
            <a:r>
              <a:rPr lang="en-US" sz="2400" dirty="0">
                <a:latin typeface="Nunito Sans" pitchFamily="2" charset="0"/>
              </a:rPr>
              <a:t>The product scope also includes a complete 60-day Singapore pilot executed in selected retail outlets, supported​ by taste-testing stations and structured consumer feedback tools, followed by market research that captures taste​ scores, purchasing indicators, and pilot performance metrics. The project concludes with an integrated final​ report summarizing formulation outcomes, sustainability alignment, market performance, NPV results, and a​ formal Go / No-Go decision.​</a:t>
            </a:r>
          </a:p>
          <a:p>
            <a:pPr fontAlgn="base"/>
            <a:r>
              <a:rPr lang="en-US" dirty="0">
                <a:latin typeface="Nunito Sans" pitchFamily="2" charset="0"/>
              </a:rPr>
              <a:t>​</a:t>
            </a:r>
          </a:p>
          <a:p>
            <a:endParaRPr lang="en-IN" dirty="0"/>
          </a:p>
        </p:txBody>
      </p:sp>
      <p:pic>
        <p:nvPicPr>
          <p:cNvPr id="21" name="Picture 20" descr="A bottle of liquid with a red lid&#10;&#10;AI-generated content may be incorrect.">
            <a:extLst>
              <a:ext uri="{FF2B5EF4-FFF2-40B4-BE49-F238E27FC236}">
                <a16:creationId xmlns:a16="http://schemas.microsoft.com/office/drawing/2014/main" id="{B4F3D09D-2021-D04C-CDE5-2EC9277A2D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621000" y="407473"/>
            <a:ext cx="4193144" cy="9417147"/>
          </a:xfrm>
          <a:prstGeom prst="rect">
            <a:avLst/>
          </a:prstGeom>
          <a:ln>
            <a:noFill/>
          </a:ln>
          <a:effectLst>
            <a:softEdge rad="112500"/>
          </a:effectLst>
        </p:spPr>
      </p:pic>
      <p:sp>
        <p:nvSpPr>
          <p:cNvPr id="22" name="TextBox 10">
            <a:extLst>
              <a:ext uri="{FF2B5EF4-FFF2-40B4-BE49-F238E27FC236}">
                <a16:creationId xmlns:a16="http://schemas.microsoft.com/office/drawing/2014/main" id="{326DC9AA-6DD1-0226-3A51-0EE6BCDBC870}"/>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
        <p:nvSpPr>
          <p:cNvPr id="23" name="TextBox 9">
            <a:extLst>
              <a:ext uri="{FF2B5EF4-FFF2-40B4-BE49-F238E27FC236}">
                <a16:creationId xmlns:a16="http://schemas.microsoft.com/office/drawing/2014/main" id="{9CCB13F5-1AE8-A4D1-C267-FDF1149F687C}"/>
              </a:ext>
            </a:extLst>
          </p:cNvPr>
          <p:cNvSpPr txBox="1"/>
          <p:nvPr/>
        </p:nvSpPr>
        <p:spPr>
          <a:xfrm rot="16200000">
            <a:off x="-1848088" y="7586207"/>
            <a:ext cx="4498668" cy="282129"/>
          </a:xfrm>
          <a:prstGeom prst="rect">
            <a:avLst/>
          </a:prstGeom>
        </p:spPr>
        <p:txBody>
          <a:bodyPr lIns="0" tIns="0" rIns="0" bIns="0" rtlCol="0" anchor="t">
            <a:spAutoFit/>
          </a:bodyPr>
          <a:lstStyle/>
          <a:p>
            <a:pPr>
              <a:lnSpc>
                <a:spcPts val="2160"/>
              </a:lnSpc>
            </a:pPr>
            <a:r>
              <a:rPr lang="en-US" sz="2000" dirty="0">
                <a:solidFill>
                  <a:schemeClr val="tx2"/>
                </a:solidFill>
                <a:latin typeface="Georgia Pro" panose="02040502050405020303" pitchFamily="18" charset="0"/>
              </a:rPr>
              <a:t>POM+ Singapore </a:t>
            </a:r>
            <a:endParaRPr lang="en-US" sz="2000" spc="-53" dirty="0">
              <a:solidFill>
                <a:schemeClr val="tx2"/>
              </a:solidFill>
              <a:latin typeface="Georgia Pro" panose="02040502050405020303" pitchFamily="18" charset="0"/>
              <a:ea typeface="Nunito Sans"/>
              <a:cs typeface="Nunito Sans"/>
              <a:sym typeface="Nunito Sans"/>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621F1-7D7C-C730-2FAF-FF7415BE194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D347657-D370-7726-123C-4BA2F606703F}"/>
              </a:ext>
            </a:extLst>
          </p:cNvPr>
          <p:cNvGrpSpPr/>
          <p:nvPr/>
        </p:nvGrpSpPr>
        <p:grpSpPr>
          <a:xfrm>
            <a:off x="0" y="-1687016"/>
            <a:ext cx="27584990" cy="11974016"/>
            <a:chOff x="0" y="0"/>
            <a:chExt cx="7265182" cy="3153650"/>
          </a:xfrm>
          <a:gradFill>
            <a:gsLst>
              <a:gs pos="0">
                <a:schemeClr val="accent6">
                  <a:lumMod val="20000"/>
                  <a:lumOff val="80000"/>
                </a:schemeClr>
              </a:gs>
              <a:gs pos="100000">
                <a:srgbClr val="FFFFFF">
                  <a:alpha val="100000"/>
                </a:srgbClr>
              </a:gs>
            </a:gsLst>
            <a:lin ang="0" scaled="0"/>
          </a:gradFill>
        </p:grpSpPr>
        <p:sp>
          <p:nvSpPr>
            <p:cNvPr id="3" name="Freeform 3">
              <a:extLst>
                <a:ext uri="{FF2B5EF4-FFF2-40B4-BE49-F238E27FC236}">
                  <a16:creationId xmlns:a16="http://schemas.microsoft.com/office/drawing/2014/main" id="{F17C2A10-7A21-43BC-CCB0-F40F09F5A516}"/>
                </a:ext>
              </a:extLst>
            </p:cNvPr>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a:ln cap="sq">
              <a:noFill/>
              <a:prstDash val="solid"/>
              <a:miter/>
            </a:ln>
          </p:spPr>
          <p:txBody>
            <a:bodyPr/>
            <a:lstStyle/>
            <a:p>
              <a:endParaRPr lang="en-IN"/>
            </a:p>
          </p:txBody>
        </p:sp>
        <p:sp>
          <p:nvSpPr>
            <p:cNvPr id="4" name="TextBox 4">
              <a:extLst>
                <a:ext uri="{FF2B5EF4-FFF2-40B4-BE49-F238E27FC236}">
                  <a16:creationId xmlns:a16="http://schemas.microsoft.com/office/drawing/2014/main" id="{AB99DD22-A003-FACE-BBB1-69AC61293A45}"/>
                </a:ext>
              </a:extLst>
            </p:cNvPr>
            <p:cNvSpPr txBox="1"/>
            <p:nvPr/>
          </p:nvSpPr>
          <p:spPr>
            <a:xfrm>
              <a:off x="0" y="-19050"/>
              <a:ext cx="7265182" cy="3172700"/>
            </a:xfrm>
            <a:prstGeom prst="rect">
              <a:avLst/>
            </a:prstGeom>
            <a:grpFill/>
          </p:spPr>
          <p:txBody>
            <a:bodyPr lIns="50800" tIns="50800" rIns="50800" bIns="50800" rtlCol="0" anchor="ctr"/>
            <a:lstStyle/>
            <a:p>
              <a:pPr marL="0" lvl="0" indent="0" algn="ctr">
                <a:lnSpc>
                  <a:spcPts val="2730"/>
                </a:lnSpc>
                <a:spcBef>
                  <a:spcPct val="0"/>
                </a:spcBef>
              </a:pPr>
              <a:endParaRPr/>
            </a:p>
          </p:txBody>
        </p:sp>
      </p:grpSp>
      <p:sp>
        <p:nvSpPr>
          <p:cNvPr id="5" name="TextBox 5">
            <a:extLst>
              <a:ext uri="{FF2B5EF4-FFF2-40B4-BE49-F238E27FC236}">
                <a16:creationId xmlns:a16="http://schemas.microsoft.com/office/drawing/2014/main" id="{7B0C8683-B299-6A4B-062A-994DFBA501D0}"/>
              </a:ext>
            </a:extLst>
          </p:cNvPr>
          <p:cNvSpPr txBox="1"/>
          <p:nvPr/>
        </p:nvSpPr>
        <p:spPr>
          <a:xfrm>
            <a:off x="7540838" y="1576938"/>
            <a:ext cx="9101955" cy="923925"/>
          </a:xfrm>
          <a:prstGeom prst="rect">
            <a:avLst/>
          </a:prstGeom>
        </p:spPr>
        <p:txBody>
          <a:bodyPr lIns="0" tIns="0" rIns="0" bIns="0" rtlCol="0" anchor="t">
            <a:spAutoFit/>
          </a:bodyPr>
          <a:lstStyle/>
          <a:p>
            <a:pPr marL="0" lvl="0" indent="0" algn="l">
              <a:lnSpc>
                <a:spcPts val="7200"/>
              </a:lnSpc>
              <a:spcBef>
                <a:spcPct val="0"/>
              </a:spcBef>
            </a:pPr>
            <a:r>
              <a:rPr lang="en-US" sz="6000" u="none" strike="noStrike" spc="-252" dirty="0">
                <a:solidFill>
                  <a:srgbClr val="03286A"/>
                </a:solidFill>
                <a:latin typeface="Georgia Pro"/>
                <a:ea typeface="Georgia Pro"/>
                <a:cs typeface="Georgia Pro"/>
                <a:sym typeface="Georgia Pro"/>
              </a:rPr>
              <a:t> </a:t>
            </a:r>
          </a:p>
        </p:txBody>
      </p:sp>
      <p:sp>
        <p:nvSpPr>
          <p:cNvPr id="9" name="AutoShape 9">
            <a:extLst>
              <a:ext uri="{FF2B5EF4-FFF2-40B4-BE49-F238E27FC236}">
                <a16:creationId xmlns:a16="http://schemas.microsoft.com/office/drawing/2014/main" id="{9E56F3B4-856C-9D80-488D-40CCEB9CE96D}"/>
              </a:ext>
            </a:extLst>
          </p:cNvPr>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6" name="TextBox 15">
            <a:extLst>
              <a:ext uri="{FF2B5EF4-FFF2-40B4-BE49-F238E27FC236}">
                <a16:creationId xmlns:a16="http://schemas.microsoft.com/office/drawing/2014/main" id="{8DE5D431-79E4-0BE7-5DB6-9791D65682CB}"/>
              </a:ext>
            </a:extLst>
          </p:cNvPr>
          <p:cNvSpPr txBox="1"/>
          <p:nvPr/>
        </p:nvSpPr>
        <p:spPr>
          <a:xfrm>
            <a:off x="1607341" y="190500"/>
            <a:ext cx="7010400" cy="769441"/>
          </a:xfrm>
          <a:prstGeom prst="rect">
            <a:avLst/>
          </a:prstGeom>
          <a:noFill/>
        </p:spPr>
        <p:txBody>
          <a:bodyPr wrap="square" rtlCol="0">
            <a:spAutoFit/>
          </a:bodyPr>
          <a:lstStyle/>
          <a:p>
            <a:r>
              <a:rPr lang="en-IN" sz="4400" dirty="0">
                <a:solidFill>
                  <a:schemeClr val="tx2"/>
                </a:solidFill>
                <a:latin typeface="Georgia Pro" panose="02040502050405020303" pitchFamily="18" charset="0"/>
              </a:rPr>
              <a:t>PROJECT SCOPE</a:t>
            </a:r>
          </a:p>
        </p:txBody>
      </p:sp>
      <p:sp>
        <p:nvSpPr>
          <p:cNvPr id="17" name="TextBox 16">
            <a:extLst>
              <a:ext uri="{FF2B5EF4-FFF2-40B4-BE49-F238E27FC236}">
                <a16:creationId xmlns:a16="http://schemas.microsoft.com/office/drawing/2014/main" id="{9972F6FB-5E76-BF21-6F75-920EF51FE7B6}"/>
              </a:ext>
            </a:extLst>
          </p:cNvPr>
          <p:cNvSpPr txBox="1"/>
          <p:nvPr/>
        </p:nvSpPr>
        <p:spPr>
          <a:xfrm>
            <a:off x="964273" y="1032271"/>
            <a:ext cx="15494927" cy="9233297"/>
          </a:xfrm>
          <a:prstGeom prst="rect">
            <a:avLst/>
          </a:prstGeom>
          <a:noFill/>
        </p:spPr>
        <p:txBody>
          <a:bodyPr wrap="square" rtlCol="0">
            <a:spAutoFit/>
          </a:bodyPr>
          <a:lstStyle/>
          <a:p>
            <a:pPr fontAlgn="base"/>
            <a:r>
              <a:rPr lang="en-US" sz="2200" b="1" dirty="0">
                <a:latin typeface="Nunito Sans" pitchFamily="2" charset="0"/>
              </a:rPr>
              <a:t>3. Justification​</a:t>
            </a:r>
          </a:p>
          <a:p>
            <a:pPr fontAlgn="base"/>
            <a:endParaRPr lang="en-US" sz="2200" b="1" dirty="0">
              <a:latin typeface="Nunito Sans" pitchFamily="2" charset="0"/>
            </a:endParaRPr>
          </a:p>
          <a:p>
            <a:pPr fontAlgn="base"/>
            <a:r>
              <a:rPr lang="en-US" sz="2200" dirty="0">
                <a:latin typeface="Nunito Sans" pitchFamily="2" charset="0"/>
              </a:rPr>
              <a:t>This project is justified by Big Kola’s strategic need to enter the fast‑growing functional beverage market and strengthen its competitive position against specialized fruit‑based drink competitors. Pomegranate’s naturally high antitoxin profile provides a differentiating health benefit that aligns with current consumer preferences in Singapore, one of the most health‑conscious and premium-oriented markets in APAC. The 60‑day Singapore pilot provides a low‑risk, high‑learning opportunity to evaluate feasibility before committing to broader launch investment. The project supports corporate sustainability objectives by requiring recyclable packaging and reduced environmental impact. Additionally, the pilot’s outcomes including consumer taste ratings, repeat purchase signals, and market responsiveness will supply critical data that cannot be obtained through laboratory testing alone, thereby ensuring evidence‑based decision‑making for APAC expansion.​</a:t>
            </a:r>
          </a:p>
          <a:p>
            <a:pPr fontAlgn="base"/>
            <a:endParaRPr lang="en-US" sz="2200" b="1" dirty="0">
              <a:latin typeface="Nunito Sans" pitchFamily="2" charset="0"/>
            </a:endParaRPr>
          </a:p>
          <a:p>
            <a:pPr fontAlgn="base"/>
            <a:r>
              <a:rPr lang="en-US" sz="2200" b="1" dirty="0">
                <a:latin typeface="Nunito Sans" pitchFamily="2" charset="0"/>
              </a:rPr>
              <a:t>4. Deliverables​</a:t>
            </a:r>
          </a:p>
          <a:p>
            <a:pPr fontAlgn="base"/>
            <a:endParaRPr lang="en-US" sz="2200" b="1" dirty="0">
              <a:latin typeface="Nunito Sans" pitchFamily="2" charset="0"/>
            </a:endParaRPr>
          </a:p>
          <a:p>
            <a:pPr fontAlgn="base"/>
            <a:r>
              <a:rPr lang="en-US" sz="2200" dirty="0">
                <a:latin typeface="Nunito Sans" pitchFamily="2" charset="0"/>
              </a:rPr>
              <a:t>• Finalized POM+ Red and POM+ Blue formulations with verified nutritional panels.​</a:t>
            </a:r>
          </a:p>
          <a:p>
            <a:pPr fontAlgn="base"/>
            <a:endParaRPr lang="en-US" sz="2200" dirty="0">
              <a:latin typeface="Nunito Sans" pitchFamily="2" charset="0"/>
            </a:endParaRPr>
          </a:p>
          <a:p>
            <a:pPr fontAlgn="base"/>
            <a:r>
              <a:rPr lang="en-US" sz="2200" dirty="0">
                <a:latin typeface="Nunito Sans" pitchFamily="2" charset="0"/>
              </a:rPr>
              <a:t>• Technion Institute laboratory report confirming antitoxin levels and product safety.​</a:t>
            </a:r>
          </a:p>
          <a:p>
            <a:pPr fontAlgn="base"/>
            <a:endParaRPr lang="en-US" sz="2200" dirty="0">
              <a:latin typeface="Nunito Sans" pitchFamily="2" charset="0"/>
            </a:endParaRPr>
          </a:p>
          <a:p>
            <a:pPr fontAlgn="base"/>
            <a:r>
              <a:rPr lang="en-US" sz="2200" dirty="0">
                <a:latin typeface="Nunito Sans" pitchFamily="2" charset="0"/>
              </a:rPr>
              <a:t>• Singapore Food Agency–compliant labeling and regulatory documentation.​</a:t>
            </a:r>
          </a:p>
          <a:p>
            <a:pPr fontAlgn="base"/>
            <a:endParaRPr lang="en-US" sz="2200" dirty="0">
              <a:latin typeface="Nunito Sans" pitchFamily="2" charset="0"/>
            </a:endParaRPr>
          </a:p>
          <a:p>
            <a:pPr fontAlgn="base"/>
            <a:r>
              <a:rPr lang="en-US" sz="2200" dirty="0">
                <a:latin typeface="Nunito Sans" pitchFamily="2" charset="0"/>
              </a:rPr>
              <a:t>• Recyclable packaging designs meeting Big Kola’s sustainability standards.​</a:t>
            </a:r>
          </a:p>
          <a:p>
            <a:pPr fontAlgn="base"/>
            <a:endParaRPr lang="en-US" sz="2200" dirty="0">
              <a:latin typeface="Nunito Sans" pitchFamily="2" charset="0"/>
            </a:endParaRPr>
          </a:p>
          <a:p>
            <a:pPr fontAlgn="base"/>
            <a:r>
              <a:rPr lang="en-US" sz="2200" dirty="0">
                <a:latin typeface="Nunito Sans" pitchFamily="2" charset="0"/>
              </a:rPr>
              <a:t>• Fully executed 60‑day pilot in Singapore with structured taste-testing and data‑collection.​</a:t>
            </a:r>
          </a:p>
          <a:p>
            <a:pPr fontAlgn="base"/>
            <a:endParaRPr lang="en-US" sz="2200" dirty="0">
              <a:latin typeface="Nunito Sans" pitchFamily="2" charset="0"/>
            </a:endParaRPr>
          </a:p>
          <a:p>
            <a:pPr fontAlgn="base"/>
            <a:r>
              <a:rPr lang="en-US" sz="2200" dirty="0">
                <a:latin typeface="Nunito Sans" pitchFamily="2" charset="0"/>
              </a:rPr>
              <a:t>• Market research results including taste-test scores, feedback analysis, and sales observations.​</a:t>
            </a:r>
          </a:p>
          <a:p>
            <a:pPr fontAlgn="base"/>
            <a:endParaRPr lang="en-US" sz="2200" dirty="0">
              <a:latin typeface="Nunito Sans" pitchFamily="2" charset="0"/>
            </a:endParaRPr>
          </a:p>
          <a:p>
            <a:pPr fontAlgn="base"/>
            <a:r>
              <a:rPr lang="en-US" sz="2200" dirty="0">
                <a:latin typeface="Nunito Sans" pitchFamily="2" charset="0"/>
              </a:rPr>
              <a:t>• Integrated final project report with NPV analysis, sustainability assessment, and Go / No-Go decision.​</a:t>
            </a:r>
            <a:endParaRPr lang="en-IN" sz="2200" dirty="0"/>
          </a:p>
        </p:txBody>
      </p:sp>
      <p:pic>
        <p:nvPicPr>
          <p:cNvPr id="21" name="Picture 20" descr="A bottle of liquid with a red lid&#10;&#10;AI-generated content may be incorrect.">
            <a:extLst>
              <a:ext uri="{FF2B5EF4-FFF2-40B4-BE49-F238E27FC236}">
                <a16:creationId xmlns:a16="http://schemas.microsoft.com/office/drawing/2014/main" id="{7FF904B1-C1A1-8AEC-664A-3334713B92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621000" y="407473"/>
            <a:ext cx="4193144" cy="9417147"/>
          </a:xfrm>
          <a:prstGeom prst="rect">
            <a:avLst/>
          </a:prstGeom>
          <a:ln>
            <a:noFill/>
          </a:ln>
          <a:effectLst>
            <a:softEdge rad="112500"/>
          </a:effectLst>
        </p:spPr>
      </p:pic>
      <p:sp>
        <p:nvSpPr>
          <p:cNvPr id="22" name="TextBox 10">
            <a:extLst>
              <a:ext uri="{FF2B5EF4-FFF2-40B4-BE49-F238E27FC236}">
                <a16:creationId xmlns:a16="http://schemas.microsoft.com/office/drawing/2014/main" id="{698C5F0D-1557-0763-29BE-A4CF17308F4B}"/>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
        <p:nvSpPr>
          <p:cNvPr id="23" name="TextBox 9">
            <a:extLst>
              <a:ext uri="{FF2B5EF4-FFF2-40B4-BE49-F238E27FC236}">
                <a16:creationId xmlns:a16="http://schemas.microsoft.com/office/drawing/2014/main" id="{3D5A3ADC-85D4-D7C6-8FD2-B0C19EF7DA52}"/>
              </a:ext>
            </a:extLst>
          </p:cNvPr>
          <p:cNvSpPr txBox="1"/>
          <p:nvPr/>
        </p:nvSpPr>
        <p:spPr>
          <a:xfrm rot="16200000">
            <a:off x="-1848088" y="7586207"/>
            <a:ext cx="4498668" cy="282129"/>
          </a:xfrm>
          <a:prstGeom prst="rect">
            <a:avLst/>
          </a:prstGeom>
        </p:spPr>
        <p:txBody>
          <a:bodyPr lIns="0" tIns="0" rIns="0" bIns="0" rtlCol="0" anchor="t">
            <a:spAutoFit/>
          </a:bodyPr>
          <a:lstStyle/>
          <a:p>
            <a:pPr>
              <a:lnSpc>
                <a:spcPts val="2160"/>
              </a:lnSpc>
            </a:pPr>
            <a:r>
              <a:rPr lang="en-US" sz="2000" dirty="0">
                <a:solidFill>
                  <a:schemeClr val="tx2"/>
                </a:solidFill>
                <a:latin typeface="Georgia Pro" panose="02040502050405020303" pitchFamily="18" charset="0"/>
              </a:rPr>
              <a:t>POM+ Singapore </a:t>
            </a:r>
            <a:endParaRPr lang="en-US" sz="2000" spc="-53" dirty="0">
              <a:solidFill>
                <a:schemeClr val="tx2"/>
              </a:solidFill>
              <a:latin typeface="Georgia Pro" panose="02040502050405020303" pitchFamily="18" charset="0"/>
              <a:ea typeface="Nunito Sans"/>
              <a:cs typeface="Nunito Sans"/>
              <a:sym typeface="Nunito Sans"/>
            </a:endParaRPr>
          </a:p>
        </p:txBody>
      </p:sp>
    </p:spTree>
    <p:extLst>
      <p:ext uri="{BB962C8B-B14F-4D97-AF65-F5344CB8AC3E}">
        <p14:creationId xmlns:p14="http://schemas.microsoft.com/office/powerpoint/2010/main" val="5526998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18EC9-8E73-40B0-2C5E-B5AAEEA320C5}"/>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D3A2B92-4AAC-C890-6F45-0855F7D9A1DA}"/>
              </a:ext>
            </a:extLst>
          </p:cNvPr>
          <p:cNvGrpSpPr/>
          <p:nvPr/>
        </p:nvGrpSpPr>
        <p:grpSpPr>
          <a:xfrm>
            <a:off x="0" y="-1687016"/>
            <a:ext cx="27584990" cy="11974016"/>
            <a:chOff x="0" y="0"/>
            <a:chExt cx="7265182" cy="3153650"/>
          </a:xfrm>
          <a:gradFill>
            <a:gsLst>
              <a:gs pos="0">
                <a:schemeClr val="accent6">
                  <a:lumMod val="20000"/>
                  <a:lumOff val="80000"/>
                </a:schemeClr>
              </a:gs>
              <a:gs pos="100000">
                <a:srgbClr val="FFFFFF">
                  <a:alpha val="100000"/>
                </a:srgbClr>
              </a:gs>
            </a:gsLst>
            <a:lin ang="0" scaled="0"/>
          </a:gradFill>
        </p:grpSpPr>
        <p:sp>
          <p:nvSpPr>
            <p:cNvPr id="3" name="Freeform 3">
              <a:extLst>
                <a:ext uri="{FF2B5EF4-FFF2-40B4-BE49-F238E27FC236}">
                  <a16:creationId xmlns:a16="http://schemas.microsoft.com/office/drawing/2014/main" id="{2A5FD0B2-9136-CB3A-5031-FC291172538E}"/>
                </a:ext>
              </a:extLst>
            </p:cNvPr>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a:ln cap="sq">
              <a:noFill/>
              <a:prstDash val="solid"/>
              <a:miter/>
            </a:ln>
          </p:spPr>
          <p:txBody>
            <a:bodyPr/>
            <a:lstStyle/>
            <a:p>
              <a:endParaRPr lang="en-IN"/>
            </a:p>
          </p:txBody>
        </p:sp>
        <p:sp>
          <p:nvSpPr>
            <p:cNvPr id="4" name="TextBox 4">
              <a:extLst>
                <a:ext uri="{FF2B5EF4-FFF2-40B4-BE49-F238E27FC236}">
                  <a16:creationId xmlns:a16="http://schemas.microsoft.com/office/drawing/2014/main" id="{B45088E7-64A9-1430-790A-A504DC1468D9}"/>
                </a:ext>
              </a:extLst>
            </p:cNvPr>
            <p:cNvSpPr txBox="1"/>
            <p:nvPr/>
          </p:nvSpPr>
          <p:spPr>
            <a:xfrm>
              <a:off x="0" y="-19050"/>
              <a:ext cx="7265182" cy="3172700"/>
            </a:xfrm>
            <a:prstGeom prst="rect">
              <a:avLst/>
            </a:prstGeom>
            <a:grpFill/>
          </p:spPr>
          <p:txBody>
            <a:bodyPr lIns="50800" tIns="50800" rIns="50800" bIns="50800" rtlCol="0" anchor="ctr"/>
            <a:lstStyle/>
            <a:p>
              <a:pPr marL="0" lvl="0" indent="0" algn="ctr">
                <a:lnSpc>
                  <a:spcPts val="2730"/>
                </a:lnSpc>
                <a:spcBef>
                  <a:spcPct val="0"/>
                </a:spcBef>
              </a:pPr>
              <a:endParaRPr/>
            </a:p>
          </p:txBody>
        </p:sp>
      </p:grpSp>
      <p:sp>
        <p:nvSpPr>
          <p:cNvPr id="5" name="TextBox 5">
            <a:extLst>
              <a:ext uri="{FF2B5EF4-FFF2-40B4-BE49-F238E27FC236}">
                <a16:creationId xmlns:a16="http://schemas.microsoft.com/office/drawing/2014/main" id="{420D9FE9-5FC7-B226-C1C8-85680D4BC286}"/>
              </a:ext>
            </a:extLst>
          </p:cNvPr>
          <p:cNvSpPr txBox="1"/>
          <p:nvPr/>
        </p:nvSpPr>
        <p:spPr>
          <a:xfrm>
            <a:off x="7540838" y="1576938"/>
            <a:ext cx="9101955" cy="923925"/>
          </a:xfrm>
          <a:prstGeom prst="rect">
            <a:avLst/>
          </a:prstGeom>
        </p:spPr>
        <p:txBody>
          <a:bodyPr lIns="0" tIns="0" rIns="0" bIns="0" rtlCol="0" anchor="t">
            <a:spAutoFit/>
          </a:bodyPr>
          <a:lstStyle/>
          <a:p>
            <a:pPr marL="0" lvl="0" indent="0" algn="l">
              <a:lnSpc>
                <a:spcPts val="7200"/>
              </a:lnSpc>
              <a:spcBef>
                <a:spcPct val="0"/>
              </a:spcBef>
            </a:pPr>
            <a:r>
              <a:rPr lang="en-US" sz="6000" u="none" strike="noStrike" spc="-252" dirty="0">
                <a:solidFill>
                  <a:srgbClr val="03286A"/>
                </a:solidFill>
                <a:latin typeface="Georgia Pro"/>
                <a:ea typeface="Georgia Pro"/>
                <a:cs typeface="Georgia Pro"/>
                <a:sym typeface="Georgia Pro"/>
              </a:rPr>
              <a:t> </a:t>
            </a:r>
          </a:p>
        </p:txBody>
      </p:sp>
      <p:sp>
        <p:nvSpPr>
          <p:cNvPr id="9" name="AutoShape 9">
            <a:extLst>
              <a:ext uri="{FF2B5EF4-FFF2-40B4-BE49-F238E27FC236}">
                <a16:creationId xmlns:a16="http://schemas.microsoft.com/office/drawing/2014/main" id="{120751AF-1257-D1A4-D03B-3459B7AA6EEF}"/>
              </a:ext>
            </a:extLst>
          </p:cNvPr>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6" name="TextBox 15">
            <a:extLst>
              <a:ext uri="{FF2B5EF4-FFF2-40B4-BE49-F238E27FC236}">
                <a16:creationId xmlns:a16="http://schemas.microsoft.com/office/drawing/2014/main" id="{E395077B-E16E-93C0-FBCF-69F0FD5ABFE0}"/>
              </a:ext>
            </a:extLst>
          </p:cNvPr>
          <p:cNvSpPr txBox="1"/>
          <p:nvPr/>
        </p:nvSpPr>
        <p:spPr>
          <a:xfrm>
            <a:off x="1607341" y="190500"/>
            <a:ext cx="7010400" cy="769441"/>
          </a:xfrm>
          <a:prstGeom prst="rect">
            <a:avLst/>
          </a:prstGeom>
          <a:noFill/>
        </p:spPr>
        <p:txBody>
          <a:bodyPr wrap="square" rtlCol="0">
            <a:spAutoFit/>
          </a:bodyPr>
          <a:lstStyle/>
          <a:p>
            <a:r>
              <a:rPr lang="en-IN" sz="4400" dirty="0">
                <a:solidFill>
                  <a:schemeClr val="tx2"/>
                </a:solidFill>
                <a:latin typeface="Georgia Pro" panose="02040502050405020303" pitchFamily="18" charset="0"/>
              </a:rPr>
              <a:t>PROJECT SCOPE</a:t>
            </a:r>
          </a:p>
        </p:txBody>
      </p:sp>
      <p:sp>
        <p:nvSpPr>
          <p:cNvPr id="17" name="TextBox 16">
            <a:extLst>
              <a:ext uri="{FF2B5EF4-FFF2-40B4-BE49-F238E27FC236}">
                <a16:creationId xmlns:a16="http://schemas.microsoft.com/office/drawing/2014/main" id="{BE39D26A-E05E-39E4-B65E-ACF25A5AE0E1}"/>
              </a:ext>
            </a:extLst>
          </p:cNvPr>
          <p:cNvSpPr txBox="1"/>
          <p:nvPr/>
        </p:nvSpPr>
        <p:spPr>
          <a:xfrm>
            <a:off x="1089414" y="895754"/>
            <a:ext cx="15494927" cy="9448740"/>
          </a:xfrm>
          <a:prstGeom prst="rect">
            <a:avLst/>
          </a:prstGeom>
          <a:noFill/>
        </p:spPr>
        <p:txBody>
          <a:bodyPr wrap="square" rtlCol="0">
            <a:spAutoFit/>
          </a:bodyPr>
          <a:lstStyle/>
          <a:p>
            <a:pPr fontAlgn="base"/>
            <a:r>
              <a:rPr lang="en-US" sz="1600" b="1" dirty="0">
                <a:latin typeface="Nunito Sans" pitchFamily="2" charset="0"/>
              </a:rPr>
              <a:t>5. Milestones​</a:t>
            </a:r>
          </a:p>
          <a:p>
            <a:pPr fontAlgn="base"/>
            <a:endParaRPr lang="en-US" sz="1600" dirty="0">
              <a:latin typeface="Nunito Sans" pitchFamily="2" charset="0"/>
            </a:endParaRPr>
          </a:p>
          <a:p>
            <a:pPr fontAlgn="base"/>
            <a:r>
              <a:rPr lang="en-US" sz="1600" b="1" dirty="0">
                <a:latin typeface="Nunito Sans" pitchFamily="2" charset="0"/>
              </a:rPr>
              <a:t>• Project Charter and Scope Approval – January 2, 2025​</a:t>
            </a:r>
          </a:p>
          <a:p>
            <a:pPr fontAlgn="base"/>
            <a:endParaRPr lang="en-US" sz="1600" b="1" dirty="0">
              <a:latin typeface="Nunito Sans" pitchFamily="2" charset="0"/>
            </a:endParaRPr>
          </a:p>
          <a:p>
            <a:pPr fontAlgn="base"/>
            <a:r>
              <a:rPr lang="en-US" sz="1600" b="1" dirty="0">
                <a:latin typeface="Nunito Sans" pitchFamily="2" charset="0"/>
              </a:rPr>
              <a:t>• Completion of Formulation Development – January 31–February 27, 2025​</a:t>
            </a:r>
          </a:p>
          <a:p>
            <a:pPr fontAlgn="base"/>
            <a:endParaRPr lang="en-US" sz="1600" b="1" dirty="0">
              <a:latin typeface="Nunito Sans" pitchFamily="2" charset="0"/>
            </a:endParaRPr>
          </a:p>
          <a:p>
            <a:pPr fontAlgn="base"/>
            <a:r>
              <a:rPr lang="en-US" sz="1600" b="1" dirty="0">
                <a:latin typeface="Nunito Sans" pitchFamily="2" charset="0"/>
              </a:rPr>
              <a:t>• Packaging and Regulatory Clearance – April 18–May 8, 2025​</a:t>
            </a:r>
          </a:p>
          <a:p>
            <a:pPr fontAlgn="base"/>
            <a:endParaRPr lang="en-US" sz="1600" b="1" dirty="0">
              <a:latin typeface="Nunito Sans" pitchFamily="2" charset="0"/>
            </a:endParaRPr>
          </a:p>
          <a:p>
            <a:pPr fontAlgn="base"/>
            <a:r>
              <a:rPr lang="en-US" sz="1600" b="1" dirty="0">
                <a:latin typeface="Nunito Sans" pitchFamily="2" charset="0"/>
              </a:rPr>
              <a:t>• Pilot Preparation and Shipment to Stores – June 2–June 20, 2025​</a:t>
            </a:r>
          </a:p>
          <a:p>
            <a:pPr fontAlgn="base"/>
            <a:endParaRPr lang="en-US" sz="1600" b="1" dirty="0">
              <a:latin typeface="Nunito Sans" pitchFamily="2" charset="0"/>
            </a:endParaRPr>
          </a:p>
          <a:p>
            <a:pPr fontAlgn="base"/>
            <a:r>
              <a:rPr lang="en-US" sz="1600" b="1" dirty="0">
                <a:latin typeface="Nunito Sans" pitchFamily="2" charset="0"/>
              </a:rPr>
              <a:t>• Launch of the 60‑Day Singapore Pilot – March 7–April 17, 2025​</a:t>
            </a:r>
          </a:p>
          <a:p>
            <a:pPr fontAlgn="base"/>
            <a:endParaRPr lang="en-US" sz="1600" b="1" dirty="0">
              <a:latin typeface="Nunito Sans" pitchFamily="2" charset="0"/>
            </a:endParaRPr>
          </a:p>
          <a:p>
            <a:pPr fontAlgn="base"/>
            <a:r>
              <a:rPr lang="en-US" sz="1600" b="1" dirty="0">
                <a:latin typeface="Nunito Sans" pitchFamily="2" charset="0"/>
              </a:rPr>
              <a:t>• Mid‑Pilot Review – April 17, 2025​</a:t>
            </a:r>
          </a:p>
          <a:p>
            <a:pPr fontAlgn="base"/>
            <a:endParaRPr lang="en-US" sz="1600" b="1" dirty="0">
              <a:latin typeface="Nunito Sans" pitchFamily="2" charset="0"/>
            </a:endParaRPr>
          </a:p>
          <a:p>
            <a:pPr fontAlgn="base"/>
            <a:r>
              <a:rPr lang="en-US" sz="1600" b="1" dirty="0">
                <a:latin typeface="Nunito Sans" pitchFamily="2" charset="0"/>
              </a:rPr>
              <a:t>• Pilot Completion and Data Consolidation – May 20–June 20, 2025​</a:t>
            </a:r>
          </a:p>
          <a:p>
            <a:pPr fontAlgn="base"/>
            <a:endParaRPr lang="en-US" sz="1600" b="1" dirty="0">
              <a:latin typeface="Nunito Sans" pitchFamily="2" charset="0"/>
            </a:endParaRPr>
          </a:p>
          <a:p>
            <a:pPr fontAlgn="base"/>
            <a:r>
              <a:rPr lang="en-US" sz="1600" b="1" dirty="0">
                <a:latin typeface="Nunito Sans" pitchFamily="2" charset="0"/>
              </a:rPr>
              <a:t>• Final Report Submission and Go / No-Go Review – July 11, 2025​</a:t>
            </a:r>
          </a:p>
          <a:p>
            <a:pPr fontAlgn="base"/>
            <a:endParaRPr lang="en-US" sz="1600" b="1" dirty="0">
              <a:latin typeface="Nunito Sans" pitchFamily="2" charset="0"/>
            </a:endParaRPr>
          </a:p>
          <a:p>
            <a:pPr fontAlgn="base"/>
            <a:r>
              <a:rPr lang="en-US" sz="1600" b="1" dirty="0">
                <a:latin typeface="Nunito Sans" pitchFamily="2" charset="0"/>
              </a:rPr>
              <a:t>​</a:t>
            </a:r>
          </a:p>
          <a:p>
            <a:pPr fontAlgn="base"/>
            <a:r>
              <a:rPr lang="en-US" sz="1600" b="1" dirty="0">
                <a:latin typeface="Nunito Sans" pitchFamily="2" charset="0"/>
              </a:rPr>
              <a:t>6. Technical Requirements​</a:t>
            </a:r>
          </a:p>
          <a:p>
            <a:pPr fontAlgn="base"/>
            <a:endParaRPr lang="en-US" sz="1600" b="1" dirty="0">
              <a:latin typeface="Nunito Sans" pitchFamily="2" charset="0"/>
            </a:endParaRPr>
          </a:p>
          <a:p>
            <a:pPr fontAlgn="base"/>
            <a:r>
              <a:rPr lang="en-US" sz="1600" dirty="0">
                <a:latin typeface="Nunito Sans" pitchFamily="2" charset="0"/>
              </a:rPr>
              <a:t>• Each POM+ variant must contain fewer than 110 calories per serving and maintain consistent sensory characteristics across all production batches.​</a:t>
            </a:r>
          </a:p>
          <a:p>
            <a:pPr fontAlgn="base"/>
            <a:endParaRPr lang="en-US" sz="1600" dirty="0">
              <a:latin typeface="Nunito Sans" pitchFamily="2" charset="0"/>
            </a:endParaRPr>
          </a:p>
          <a:p>
            <a:pPr fontAlgn="base"/>
            <a:r>
              <a:rPr lang="en-US" sz="1600" dirty="0">
                <a:latin typeface="Nunito Sans" pitchFamily="2" charset="0"/>
              </a:rPr>
              <a:t>• Both the Red and Blue variants must pass antitoxin testing and safety validation conducted by the Technion Institute before pilot shipment.​</a:t>
            </a:r>
          </a:p>
          <a:p>
            <a:pPr fontAlgn="base"/>
            <a:endParaRPr lang="en-US" sz="1600" dirty="0">
              <a:latin typeface="Nunito Sans" pitchFamily="2" charset="0"/>
            </a:endParaRPr>
          </a:p>
          <a:p>
            <a:pPr fontAlgn="base"/>
            <a:r>
              <a:rPr lang="en-US" sz="1600" dirty="0">
                <a:latin typeface="Nunito Sans" pitchFamily="2" charset="0"/>
              </a:rPr>
              <a:t>• All packaging must be fully recyclable and manufactured using at least 60% post‑consumer recycled material, in alignment with Big Kola’s sustainability goals.​</a:t>
            </a:r>
          </a:p>
          <a:p>
            <a:pPr fontAlgn="base"/>
            <a:endParaRPr lang="en-US" sz="1600" dirty="0">
              <a:latin typeface="Nunito Sans" pitchFamily="2" charset="0"/>
            </a:endParaRPr>
          </a:p>
          <a:p>
            <a:pPr fontAlgn="base"/>
            <a:r>
              <a:rPr lang="en-US" sz="1600" dirty="0">
                <a:latin typeface="Nunito Sans" pitchFamily="2" charset="0"/>
              </a:rPr>
              <a:t>• All labeling, ingredient listings, nutritional panels, and health claims must comply with Singapore Food Agency regulations.​</a:t>
            </a:r>
          </a:p>
          <a:p>
            <a:pPr fontAlgn="base"/>
            <a:endParaRPr lang="en-US" sz="1600" dirty="0">
              <a:latin typeface="Nunito Sans" pitchFamily="2" charset="0"/>
            </a:endParaRPr>
          </a:p>
          <a:p>
            <a:pPr fontAlgn="base"/>
            <a:r>
              <a:rPr lang="en-US" sz="1600" dirty="0">
                <a:latin typeface="Nunito Sans" pitchFamily="2" charset="0"/>
              </a:rPr>
              <a:t>• The product must demonstrate a stable shelf life suitable for transportation, retail display, and a full 60‑day pilot without requiring specialized storage conditions.​</a:t>
            </a:r>
          </a:p>
          <a:p>
            <a:pPr fontAlgn="base"/>
            <a:endParaRPr lang="en-US" sz="1600" dirty="0">
              <a:latin typeface="Nunito Sans" pitchFamily="2" charset="0"/>
            </a:endParaRPr>
          </a:p>
          <a:p>
            <a:pPr fontAlgn="base"/>
            <a:r>
              <a:rPr lang="en-US" sz="1600" dirty="0">
                <a:latin typeface="Nunito Sans" pitchFamily="2" charset="0"/>
              </a:rPr>
              <a:t>• All formulations and packaging materials must remain compatible with Big Kola’s existing production and distribution systems without requiring major capital investments.​</a:t>
            </a:r>
          </a:p>
          <a:p>
            <a:pPr fontAlgn="base"/>
            <a:endParaRPr lang="en-US" sz="1600" dirty="0">
              <a:latin typeface="Nunito Sans" pitchFamily="2" charset="0"/>
            </a:endParaRPr>
          </a:p>
          <a:p>
            <a:pPr fontAlgn="base"/>
            <a:r>
              <a:rPr lang="en-US" sz="1600" dirty="0">
                <a:latin typeface="Nunito Sans" pitchFamily="2" charset="0"/>
              </a:rPr>
              <a:t>• Standardized taste‑testing procedures and validated consumer feedback tools must be implemented to ensure accurate assessment of consumer responses during the pilot.​</a:t>
            </a:r>
          </a:p>
          <a:p>
            <a:pPr fontAlgn="base"/>
            <a:endParaRPr lang="en-US" sz="1600" b="1" dirty="0">
              <a:solidFill>
                <a:schemeClr val="tx2"/>
              </a:solidFill>
              <a:latin typeface="Nunito Sans" pitchFamily="2" charset="0"/>
            </a:endParaRPr>
          </a:p>
          <a:p>
            <a:pPr fontAlgn="base"/>
            <a:r>
              <a:rPr lang="en-US" sz="1600" b="1" dirty="0">
                <a:solidFill>
                  <a:schemeClr val="tx2"/>
                </a:solidFill>
                <a:latin typeface="Nunito Sans" pitchFamily="2" charset="0"/>
              </a:rPr>
              <a:t>​</a:t>
            </a:r>
            <a:endParaRPr lang="en-IN" sz="1600" dirty="0"/>
          </a:p>
        </p:txBody>
      </p:sp>
      <p:pic>
        <p:nvPicPr>
          <p:cNvPr id="21" name="Picture 20" descr="A bottle of liquid with a red lid&#10;&#10;AI-generated content may be incorrect.">
            <a:extLst>
              <a:ext uri="{FF2B5EF4-FFF2-40B4-BE49-F238E27FC236}">
                <a16:creationId xmlns:a16="http://schemas.microsoft.com/office/drawing/2014/main" id="{3647B090-D1E9-E5E2-D84F-5BA8D3A0510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621000" y="407473"/>
            <a:ext cx="4193144" cy="9417147"/>
          </a:xfrm>
          <a:prstGeom prst="rect">
            <a:avLst/>
          </a:prstGeom>
          <a:ln>
            <a:noFill/>
          </a:ln>
          <a:effectLst>
            <a:softEdge rad="112500"/>
          </a:effectLst>
        </p:spPr>
      </p:pic>
      <p:sp>
        <p:nvSpPr>
          <p:cNvPr id="22" name="TextBox 10">
            <a:extLst>
              <a:ext uri="{FF2B5EF4-FFF2-40B4-BE49-F238E27FC236}">
                <a16:creationId xmlns:a16="http://schemas.microsoft.com/office/drawing/2014/main" id="{603477E5-A115-2CA4-6CE0-AC33AAFAFEDF}"/>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
        <p:nvSpPr>
          <p:cNvPr id="23" name="TextBox 9">
            <a:extLst>
              <a:ext uri="{FF2B5EF4-FFF2-40B4-BE49-F238E27FC236}">
                <a16:creationId xmlns:a16="http://schemas.microsoft.com/office/drawing/2014/main" id="{95CB6932-B42C-B96C-6C33-8097D3F36631}"/>
              </a:ext>
            </a:extLst>
          </p:cNvPr>
          <p:cNvSpPr txBox="1"/>
          <p:nvPr/>
        </p:nvSpPr>
        <p:spPr>
          <a:xfrm rot="16200000">
            <a:off x="-1848088" y="7586207"/>
            <a:ext cx="4498668" cy="282129"/>
          </a:xfrm>
          <a:prstGeom prst="rect">
            <a:avLst/>
          </a:prstGeom>
        </p:spPr>
        <p:txBody>
          <a:bodyPr lIns="0" tIns="0" rIns="0" bIns="0" rtlCol="0" anchor="t">
            <a:spAutoFit/>
          </a:bodyPr>
          <a:lstStyle/>
          <a:p>
            <a:pPr>
              <a:lnSpc>
                <a:spcPts val="2160"/>
              </a:lnSpc>
            </a:pPr>
            <a:r>
              <a:rPr lang="en-US" sz="2000" dirty="0">
                <a:solidFill>
                  <a:schemeClr val="tx2"/>
                </a:solidFill>
                <a:latin typeface="Georgia Pro" panose="02040502050405020303" pitchFamily="18" charset="0"/>
              </a:rPr>
              <a:t>POM+ Singapore </a:t>
            </a:r>
            <a:endParaRPr lang="en-US" sz="2000" spc="-53" dirty="0">
              <a:solidFill>
                <a:schemeClr val="tx2"/>
              </a:solidFill>
              <a:latin typeface="Georgia Pro" panose="02040502050405020303" pitchFamily="18" charset="0"/>
              <a:ea typeface="Nunito Sans"/>
              <a:cs typeface="Nunito Sans"/>
              <a:sym typeface="Nunito Sans"/>
            </a:endParaRPr>
          </a:p>
        </p:txBody>
      </p:sp>
    </p:spTree>
    <p:extLst>
      <p:ext uri="{BB962C8B-B14F-4D97-AF65-F5344CB8AC3E}">
        <p14:creationId xmlns:p14="http://schemas.microsoft.com/office/powerpoint/2010/main" val="37144077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45ABF-D842-1490-7F7F-3DFCB259EFE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D20CBA78-2BC2-C262-7A1D-93932CA0414C}"/>
              </a:ext>
            </a:extLst>
          </p:cNvPr>
          <p:cNvGrpSpPr/>
          <p:nvPr/>
        </p:nvGrpSpPr>
        <p:grpSpPr>
          <a:xfrm>
            <a:off x="0" y="-1687016"/>
            <a:ext cx="27584990" cy="11974016"/>
            <a:chOff x="0" y="0"/>
            <a:chExt cx="7265182" cy="3153650"/>
          </a:xfrm>
          <a:gradFill>
            <a:gsLst>
              <a:gs pos="0">
                <a:schemeClr val="accent6">
                  <a:lumMod val="20000"/>
                  <a:lumOff val="80000"/>
                </a:schemeClr>
              </a:gs>
              <a:gs pos="100000">
                <a:srgbClr val="FFFFFF">
                  <a:alpha val="100000"/>
                </a:srgbClr>
              </a:gs>
            </a:gsLst>
            <a:lin ang="0" scaled="0"/>
          </a:gradFill>
        </p:grpSpPr>
        <p:sp>
          <p:nvSpPr>
            <p:cNvPr id="3" name="Freeform 3">
              <a:extLst>
                <a:ext uri="{FF2B5EF4-FFF2-40B4-BE49-F238E27FC236}">
                  <a16:creationId xmlns:a16="http://schemas.microsoft.com/office/drawing/2014/main" id="{6E8059F1-E33F-6215-1443-EFFCA70C98E2}"/>
                </a:ext>
              </a:extLst>
            </p:cNvPr>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a:ln cap="sq">
              <a:noFill/>
              <a:prstDash val="solid"/>
              <a:miter/>
            </a:ln>
          </p:spPr>
          <p:txBody>
            <a:bodyPr/>
            <a:lstStyle/>
            <a:p>
              <a:endParaRPr lang="en-IN"/>
            </a:p>
          </p:txBody>
        </p:sp>
        <p:sp>
          <p:nvSpPr>
            <p:cNvPr id="4" name="TextBox 4">
              <a:extLst>
                <a:ext uri="{FF2B5EF4-FFF2-40B4-BE49-F238E27FC236}">
                  <a16:creationId xmlns:a16="http://schemas.microsoft.com/office/drawing/2014/main" id="{AC38558D-8A7A-D41C-ADE0-A7AD882002F1}"/>
                </a:ext>
              </a:extLst>
            </p:cNvPr>
            <p:cNvSpPr txBox="1"/>
            <p:nvPr/>
          </p:nvSpPr>
          <p:spPr>
            <a:xfrm>
              <a:off x="0" y="-19050"/>
              <a:ext cx="7265182" cy="3172700"/>
            </a:xfrm>
            <a:prstGeom prst="rect">
              <a:avLst/>
            </a:prstGeom>
            <a:grpFill/>
          </p:spPr>
          <p:txBody>
            <a:bodyPr lIns="50800" tIns="50800" rIns="50800" bIns="50800" rtlCol="0" anchor="ctr"/>
            <a:lstStyle/>
            <a:p>
              <a:pPr marL="0" lvl="0" indent="0" algn="ctr">
                <a:lnSpc>
                  <a:spcPts val="2730"/>
                </a:lnSpc>
                <a:spcBef>
                  <a:spcPct val="0"/>
                </a:spcBef>
              </a:pPr>
              <a:endParaRPr/>
            </a:p>
          </p:txBody>
        </p:sp>
      </p:grpSp>
      <p:sp>
        <p:nvSpPr>
          <p:cNvPr id="5" name="TextBox 5">
            <a:extLst>
              <a:ext uri="{FF2B5EF4-FFF2-40B4-BE49-F238E27FC236}">
                <a16:creationId xmlns:a16="http://schemas.microsoft.com/office/drawing/2014/main" id="{E5AB8E8C-9046-C295-DD42-3482D73853E3}"/>
              </a:ext>
            </a:extLst>
          </p:cNvPr>
          <p:cNvSpPr txBox="1"/>
          <p:nvPr/>
        </p:nvSpPr>
        <p:spPr>
          <a:xfrm>
            <a:off x="7540838" y="1576938"/>
            <a:ext cx="9101955" cy="923925"/>
          </a:xfrm>
          <a:prstGeom prst="rect">
            <a:avLst/>
          </a:prstGeom>
        </p:spPr>
        <p:txBody>
          <a:bodyPr lIns="0" tIns="0" rIns="0" bIns="0" rtlCol="0" anchor="t">
            <a:spAutoFit/>
          </a:bodyPr>
          <a:lstStyle/>
          <a:p>
            <a:pPr marL="0" lvl="0" indent="0" algn="l">
              <a:lnSpc>
                <a:spcPts val="7200"/>
              </a:lnSpc>
              <a:spcBef>
                <a:spcPct val="0"/>
              </a:spcBef>
            </a:pPr>
            <a:r>
              <a:rPr lang="en-US" sz="6000" u="none" strike="noStrike" spc="-252" dirty="0">
                <a:solidFill>
                  <a:srgbClr val="03286A"/>
                </a:solidFill>
                <a:latin typeface="Georgia Pro"/>
                <a:ea typeface="Georgia Pro"/>
                <a:cs typeface="Georgia Pro"/>
                <a:sym typeface="Georgia Pro"/>
              </a:rPr>
              <a:t> </a:t>
            </a:r>
          </a:p>
        </p:txBody>
      </p:sp>
      <p:sp>
        <p:nvSpPr>
          <p:cNvPr id="9" name="AutoShape 9">
            <a:extLst>
              <a:ext uri="{FF2B5EF4-FFF2-40B4-BE49-F238E27FC236}">
                <a16:creationId xmlns:a16="http://schemas.microsoft.com/office/drawing/2014/main" id="{84043F26-D61E-1783-95F1-CD6487C79616}"/>
              </a:ext>
            </a:extLst>
          </p:cNvPr>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6" name="TextBox 15">
            <a:extLst>
              <a:ext uri="{FF2B5EF4-FFF2-40B4-BE49-F238E27FC236}">
                <a16:creationId xmlns:a16="http://schemas.microsoft.com/office/drawing/2014/main" id="{CDCAD9FE-91A1-BB56-9FC5-1A7004313A92}"/>
              </a:ext>
            </a:extLst>
          </p:cNvPr>
          <p:cNvSpPr txBox="1"/>
          <p:nvPr/>
        </p:nvSpPr>
        <p:spPr>
          <a:xfrm>
            <a:off x="1607341" y="190500"/>
            <a:ext cx="7010400" cy="769441"/>
          </a:xfrm>
          <a:prstGeom prst="rect">
            <a:avLst/>
          </a:prstGeom>
          <a:noFill/>
        </p:spPr>
        <p:txBody>
          <a:bodyPr wrap="square" rtlCol="0">
            <a:spAutoFit/>
          </a:bodyPr>
          <a:lstStyle/>
          <a:p>
            <a:r>
              <a:rPr lang="en-IN" sz="4400" dirty="0">
                <a:solidFill>
                  <a:schemeClr val="tx2"/>
                </a:solidFill>
                <a:latin typeface="Georgia Pro" panose="02040502050405020303" pitchFamily="18" charset="0"/>
              </a:rPr>
              <a:t>PROJECT SCOPE</a:t>
            </a:r>
          </a:p>
        </p:txBody>
      </p:sp>
      <p:pic>
        <p:nvPicPr>
          <p:cNvPr id="21" name="Picture 20" descr="A bottle of liquid with a red lid&#10;&#10;AI-generated content may be incorrect.">
            <a:extLst>
              <a:ext uri="{FF2B5EF4-FFF2-40B4-BE49-F238E27FC236}">
                <a16:creationId xmlns:a16="http://schemas.microsoft.com/office/drawing/2014/main" id="{024A7E3C-260B-8E27-06BC-06B8FA3F6A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621000" y="407473"/>
            <a:ext cx="4193144" cy="9417147"/>
          </a:xfrm>
          <a:prstGeom prst="rect">
            <a:avLst/>
          </a:prstGeom>
          <a:ln>
            <a:noFill/>
          </a:ln>
          <a:effectLst>
            <a:softEdge rad="112500"/>
          </a:effectLst>
        </p:spPr>
      </p:pic>
      <p:sp>
        <p:nvSpPr>
          <p:cNvPr id="22" name="TextBox 10">
            <a:extLst>
              <a:ext uri="{FF2B5EF4-FFF2-40B4-BE49-F238E27FC236}">
                <a16:creationId xmlns:a16="http://schemas.microsoft.com/office/drawing/2014/main" id="{F7796857-D272-55AB-9CE4-5B4C1EE60945}"/>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
        <p:nvSpPr>
          <p:cNvPr id="23" name="TextBox 9">
            <a:extLst>
              <a:ext uri="{FF2B5EF4-FFF2-40B4-BE49-F238E27FC236}">
                <a16:creationId xmlns:a16="http://schemas.microsoft.com/office/drawing/2014/main" id="{A750DFDD-0381-4556-2550-2ED446F0F9DC}"/>
              </a:ext>
            </a:extLst>
          </p:cNvPr>
          <p:cNvSpPr txBox="1"/>
          <p:nvPr/>
        </p:nvSpPr>
        <p:spPr>
          <a:xfrm rot="16200000">
            <a:off x="-1848088" y="7586207"/>
            <a:ext cx="4498668" cy="282129"/>
          </a:xfrm>
          <a:prstGeom prst="rect">
            <a:avLst/>
          </a:prstGeom>
        </p:spPr>
        <p:txBody>
          <a:bodyPr lIns="0" tIns="0" rIns="0" bIns="0" rtlCol="0" anchor="t">
            <a:spAutoFit/>
          </a:bodyPr>
          <a:lstStyle/>
          <a:p>
            <a:pPr>
              <a:lnSpc>
                <a:spcPts val="2160"/>
              </a:lnSpc>
            </a:pPr>
            <a:r>
              <a:rPr lang="en-US" sz="2000" dirty="0">
                <a:solidFill>
                  <a:schemeClr val="tx2"/>
                </a:solidFill>
                <a:latin typeface="Georgia Pro" panose="02040502050405020303" pitchFamily="18" charset="0"/>
              </a:rPr>
              <a:t>POM+ Singapore </a:t>
            </a:r>
            <a:endParaRPr lang="en-US" sz="2000" spc="-53" dirty="0">
              <a:solidFill>
                <a:schemeClr val="tx2"/>
              </a:solidFill>
              <a:latin typeface="Georgia Pro" panose="02040502050405020303" pitchFamily="18" charset="0"/>
              <a:ea typeface="Nunito Sans"/>
              <a:cs typeface="Nunito Sans"/>
              <a:sym typeface="Nunito Sans"/>
            </a:endParaRPr>
          </a:p>
        </p:txBody>
      </p:sp>
      <p:sp>
        <p:nvSpPr>
          <p:cNvPr id="6" name="TextBox 5">
            <a:extLst>
              <a:ext uri="{FF2B5EF4-FFF2-40B4-BE49-F238E27FC236}">
                <a16:creationId xmlns:a16="http://schemas.microsoft.com/office/drawing/2014/main" id="{070607C2-AB6F-9385-CEC8-2B54EFA303C6}"/>
              </a:ext>
            </a:extLst>
          </p:cNvPr>
          <p:cNvSpPr txBox="1"/>
          <p:nvPr/>
        </p:nvSpPr>
        <p:spPr>
          <a:xfrm>
            <a:off x="911871" y="1409700"/>
            <a:ext cx="15166330" cy="6309420"/>
          </a:xfrm>
          <a:prstGeom prst="rect">
            <a:avLst/>
          </a:prstGeom>
          <a:noFill/>
        </p:spPr>
        <p:txBody>
          <a:bodyPr wrap="square" rtlCol="0">
            <a:spAutoFit/>
          </a:bodyPr>
          <a:lstStyle/>
          <a:p>
            <a:pPr fontAlgn="base"/>
            <a:r>
              <a:rPr lang="en-US" sz="2400" b="1" dirty="0">
                <a:latin typeface="Nunito Sans" pitchFamily="2" charset="0"/>
              </a:rPr>
              <a:t>7. Limits and Exclusions​</a:t>
            </a:r>
          </a:p>
          <a:p>
            <a:pPr fontAlgn="base"/>
            <a:r>
              <a:rPr lang="en-US" sz="2400" dirty="0">
                <a:latin typeface="Nunito Sans" pitchFamily="2" charset="0"/>
              </a:rPr>
              <a:t>This project excludes a full APAC or global launch of the POM+ product, as well as any activities associated​</a:t>
            </a:r>
          </a:p>
          <a:p>
            <a:pPr fontAlgn="base"/>
            <a:r>
              <a:rPr lang="en-US" sz="2400" dirty="0">
                <a:latin typeface="Nunito Sans" pitchFamily="2" charset="0"/>
              </a:rPr>
              <a:t>with long‑term commercialization or national advertising campaigns. Reformulation of flavors beyond the Red​ and Blue variants is not included, nor are enhancements to IT infrastructure, global supply‑chain systems, or​ production facilities outside of routine adjustments covered in the approved budget. Post‑pilot branding, APAC​ pricing strategies, market expansion planning, and large‑scale promotional activities are also outside the scope​ and will require separate project approval if the product moves forward.​</a:t>
            </a:r>
            <a:br>
              <a:rPr lang="en-US" sz="2400" dirty="0">
                <a:latin typeface="Nunito Sans" pitchFamily="2" charset="0"/>
              </a:rPr>
            </a:br>
            <a:r>
              <a:rPr lang="en-US" sz="2400" dirty="0">
                <a:latin typeface="Nunito Sans" pitchFamily="2" charset="0"/>
              </a:rPr>
              <a:t>​</a:t>
            </a:r>
          </a:p>
          <a:p>
            <a:pPr fontAlgn="base"/>
            <a:r>
              <a:rPr lang="en-US" sz="2400" b="1" dirty="0">
                <a:latin typeface="Nunito Sans" pitchFamily="2" charset="0"/>
              </a:rPr>
              <a:t>8. Acceptance Criteria</a:t>
            </a:r>
            <a:r>
              <a:rPr lang="en-US" sz="2400" dirty="0">
                <a:latin typeface="Nunito Sans" pitchFamily="2" charset="0"/>
              </a:rPr>
              <a:t>​</a:t>
            </a:r>
          </a:p>
          <a:p>
            <a:pPr fontAlgn="base"/>
            <a:r>
              <a:rPr lang="en-US" sz="2400" dirty="0">
                <a:latin typeface="Nunito Sans" pitchFamily="2" charset="0"/>
              </a:rPr>
              <a:t>The project will be accepted when both POM+ variants achieve nutritional compliance, demonstrate consistent​ taste profiles  and pass antitoxin and safety validation by the Technion Institute. Packaging must be verified as​ fully recyclable and compliant with Singapore Food Agency standards. The 60‑day pilot must be executed in full,​ with accurate and complete collection of consumer taste‑test ratings, purchase indicators, and feedback data.​ The average consumer taste‑test rating for each variant must be at least 4.0 out of 5. The final integrated report,​ which includes NPV results, sustainability findings, and a detailed Go / No-Go recommendation, must be​ reviewed and approved by the Executive Steering Committee.</a:t>
            </a:r>
          </a:p>
          <a:p>
            <a:endParaRPr lang="en-IN" sz="2000" dirty="0"/>
          </a:p>
        </p:txBody>
      </p:sp>
    </p:spTree>
    <p:extLst>
      <p:ext uri="{BB962C8B-B14F-4D97-AF65-F5344CB8AC3E}">
        <p14:creationId xmlns:p14="http://schemas.microsoft.com/office/powerpoint/2010/main" val="15652788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8288" y="-1485900"/>
            <a:ext cx="27584990" cy="11974016"/>
            <a:chOff x="0" y="0"/>
            <a:chExt cx="7265182" cy="3153650"/>
          </a:xfrm>
          <a:gradFill>
            <a:gsLst>
              <a:gs pos="0">
                <a:schemeClr val="accent3">
                  <a:lumMod val="40000"/>
                  <a:lumOff val="60000"/>
                </a:schemeClr>
              </a:gs>
              <a:gs pos="100000">
                <a:srgbClr val="FFFFFF">
                  <a:alpha val="100000"/>
                </a:srgbClr>
              </a:gs>
            </a:gsLst>
            <a:lin ang="0" scaled="0"/>
          </a:gradFill>
        </p:grpSpPr>
        <p:sp>
          <p:nvSpPr>
            <p:cNvPr id="3" name="Freeform 3"/>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p:spPr>
          <p:txBody>
            <a:bodyPr/>
            <a:lstStyle/>
            <a:p>
              <a:endParaRPr lang="en-IN"/>
            </a:p>
          </p:txBody>
        </p:sp>
        <p:sp>
          <p:nvSpPr>
            <p:cNvPr id="4" name="TextBox 4"/>
            <p:cNvSpPr txBox="1"/>
            <p:nvPr/>
          </p:nvSpPr>
          <p:spPr>
            <a:xfrm>
              <a:off x="0" y="-38100"/>
              <a:ext cx="7265182" cy="3191750"/>
            </a:xfrm>
            <a:prstGeom prst="rect">
              <a:avLst/>
            </a:prstGeom>
            <a:grpFill/>
          </p:spPr>
          <p:txBody>
            <a:bodyPr lIns="50800" tIns="50800" rIns="50800" bIns="50800" rtlCol="0" anchor="ctr"/>
            <a:lstStyle/>
            <a:p>
              <a:pPr algn="ctr">
                <a:lnSpc>
                  <a:spcPts val="3359"/>
                </a:lnSpc>
              </a:pPr>
              <a:endParaRPr/>
            </a:p>
          </p:txBody>
        </p:sp>
      </p:grpSp>
      <p:sp>
        <p:nvSpPr>
          <p:cNvPr id="7" name="AutoShape 7"/>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1" name="TextBox 11"/>
          <p:cNvSpPr txBox="1"/>
          <p:nvPr/>
        </p:nvSpPr>
        <p:spPr>
          <a:xfrm rot="-5400000">
            <a:off x="-1686896" y="7498874"/>
            <a:ext cx="4498668" cy="564257"/>
          </a:xfrm>
          <a:prstGeom prst="rect">
            <a:avLst/>
          </a:prstGeom>
        </p:spPr>
        <p:txBody>
          <a:bodyPr lIns="0" tIns="0" rIns="0" bIns="0" rtlCol="0" anchor="t">
            <a:spAutoFit/>
          </a:bodyPr>
          <a:lstStyle/>
          <a:p>
            <a:pPr>
              <a:lnSpc>
                <a:spcPts val="2160"/>
              </a:lnSpc>
            </a:pPr>
            <a:r>
              <a:rPr lang="en-US" dirty="0">
                <a:solidFill>
                  <a:schemeClr val="tx2"/>
                </a:solidFill>
                <a:latin typeface="Georgia Pro" panose="02040502050405020303" pitchFamily="18" charset="0"/>
              </a:rPr>
              <a:t>POM+ Singapore </a:t>
            </a:r>
            <a:endParaRPr lang="en-US" spc="-53" dirty="0">
              <a:solidFill>
                <a:schemeClr val="tx2"/>
              </a:solidFill>
              <a:latin typeface="Georgia Pro" panose="02040502050405020303" pitchFamily="18" charset="0"/>
              <a:ea typeface="Nunito Sans"/>
              <a:cs typeface="Nunito Sans"/>
              <a:sym typeface="Nunito Sans"/>
            </a:endParaRPr>
          </a:p>
          <a:p>
            <a:pPr algn="l">
              <a:lnSpc>
                <a:spcPts val="2160"/>
              </a:lnSpc>
            </a:pPr>
            <a:endParaRPr lang="en-US" sz="1800" spc="-53" dirty="0">
              <a:solidFill>
                <a:srgbClr val="03286A"/>
              </a:solidFill>
              <a:latin typeface="Nunito Sans"/>
              <a:ea typeface="Nunito Sans"/>
              <a:cs typeface="Nunito Sans"/>
              <a:sym typeface="Nunito Sans"/>
            </a:endParaRPr>
          </a:p>
        </p:txBody>
      </p:sp>
      <p:sp>
        <p:nvSpPr>
          <p:cNvPr id="24" name="TextBox 24"/>
          <p:cNvSpPr txBox="1"/>
          <p:nvPr/>
        </p:nvSpPr>
        <p:spPr>
          <a:xfrm>
            <a:off x="9258527" y="8777753"/>
            <a:ext cx="8000773" cy="356235"/>
          </a:xfrm>
          <a:prstGeom prst="rect">
            <a:avLst/>
          </a:prstGeom>
        </p:spPr>
        <p:txBody>
          <a:bodyPr lIns="0" tIns="0" rIns="0" bIns="0" rtlCol="0" anchor="t">
            <a:spAutoFit/>
          </a:bodyPr>
          <a:lstStyle/>
          <a:p>
            <a:pPr marL="0" lvl="0" indent="0" algn="l">
              <a:lnSpc>
                <a:spcPts val="2940"/>
              </a:lnSpc>
              <a:spcBef>
                <a:spcPct val="0"/>
              </a:spcBef>
            </a:pPr>
            <a:r>
              <a:rPr lang="en-US" sz="2100" dirty="0">
                <a:solidFill>
                  <a:srgbClr val="03286A"/>
                </a:solidFill>
                <a:latin typeface="Nunito Sans Light"/>
                <a:ea typeface="Nunito Sans Light"/>
                <a:cs typeface="Nunito Sans Light"/>
                <a:sym typeface="Nunito Sans Light"/>
              </a:rPr>
              <a:t>. </a:t>
            </a:r>
          </a:p>
        </p:txBody>
      </p:sp>
      <p:sp>
        <p:nvSpPr>
          <p:cNvPr id="27" name="TextBox 10">
            <a:extLst>
              <a:ext uri="{FF2B5EF4-FFF2-40B4-BE49-F238E27FC236}">
                <a16:creationId xmlns:a16="http://schemas.microsoft.com/office/drawing/2014/main" id="{8BAF4392-08C0-EBD7-EEAC-659BB2F72B66}"/>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
        <p:nvSpPr>
          <p:cNvPr id="28" name="TextBox 27">
            <a:extLst>
              <a:ext uri="{FF2B5EF4-FFF2-40B4-BE49-F238E27FC236}">
                <a16:creationId xmlns:a16="http://schemas.microsoft.com/office/drawing/2014/main" id="{200F5887-89A5-9AF7-2185-DDD27223A4F3}"/>
              </a:ext>
            </a:extLst>
          </p:cNvPr>
          <p:cNvSpPr txBox="1"/>
          <p:nvPr/>
        </p:nvSpPr>
        <p:spPr>
          <a:xfrm>
            <a:off x="2209800" y="575220"/>
            <a:ext cx="8458198" cy="646331"/>
          </a:xfrm>
          <a:prstGeom prst="rect">
            <a:avLst/>
          </a:prstGeom>
          <a:noFill/>
        </p:spPr>
        <p:txBody>
          <a:bodyPr wrap="square" rtlCol="0">
            <a:spAutoFit/>
          </a:bodyPr>
          <a:lstStyle/>
          <a:p>
            <a:r>
              <a:rPr lang="en-IN" sz="3600" dirty="0">
                <a:latin typeface="Georgia Pro" panose="02040502050405020303" pitchFamily="18" charset="0"/>
              </a:rPr>
              <a:t>PROJECT COST</a:t>
            </a:r>
          </a:p>
        </p:txBody>
      </p:sp>
      <p:pic>
        <p:nvPicPr>
          <p:cNvPr id="1028" name="Picture 4" descr="A screenshot of a table&#10;&#10;AI-generated content may be incorrect.">
            <a:extLst>
              <a:ext uri="{FF2B5EF4-FFF2-40B4-BE49-F238E27FC236}">
                <a16:creationId xmlns:a16="http://schemas.microsoft.com/office/drawing/2014/main" id="{B8B6347C-34EC-896D-889D-2791E57757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36847" y="1728811"/>
            <a:ext cx="6629400" cy="7605713"/>
          </a:xfrm>
          <a:prstGeom prst="rect">
            <a:avLst/>
          </a:prstGeom>
          <a:ln w="88900" cap="sq" cmpd="thickThin">
            <a:solidFill>
              <a:srgbClr val="000000"/>
            </a:solidFill>
            <a:prstDash val="solid"/>
            <a:miter lim="800000"/>
          </a:ln>
          <a:effectLst>
            <a:innerShdw blurRad="76200">
              <a:srgbClr val="000000"/>
            </a:innerShdw>
          </a:effectLst>
          <a:extLst>
            <a:ext uri="{909E8E84-426E-40DD-AFC4-6F175D3DCCD1}">
              <a14:hiddenFill xmlns:a14="http://schemas.microsoft.com/office/drawing/2010/main">
                <a:solidFill>
                  <a:srgbClr val="FFFFFF"/>
                </a:solidFill>
              </a14:hiddenFill>
            </a:ext>
          </a:extLst>
        </p:spPr>
      </p:pic>
      <p:sp>
        <p:nvSpPr>
          <p:cNvPr id="29" name="Content Placeholder 5">
            <a:extLst>
              <a:ext uri="{FF2B5EF4-FFF2-40B4-BE49-F238E27FC236}">
                <a16:creationId xmlns:a16="http://schemas.microsoft.com/office/drawing/2014/main" id="{ABCFA4EC-96DB-B1F9-ED37-0C8BD7A5BF5C}"/>
              </a:ext>
            </a:extLst>
          </p:cNvPr>
          <p:cNvSpPr>
            <a:spLocks noGrp="1"/>
          </p:cNvSpPr>
          <p:nvPr/>
        </p:nvSpPr>
        <p:spPr>
          <a:xfrm>
            <a:off x="9299423" y="2866046"/>
            <a:ext cx="7085362" cy="3270124"/>
          </a:xfrm>
          <a:prstGeom prst="rect">
            <a:avLst/>
          </a:prstGeom>
          <a:ln>
            <a:solidFill>
              <a:schemeClr val="tx1"/>
            </a:solidFill>
          </a:ln>
        </p:spPr>
        <p:txBody>
          <a:bodyPr vert="horz" lIns="45720" tIns="45720" rIns="45720" bIns="45720" rtlCol="0" anchor="t">
            <a:normAutofit lnSpcReduction="10000"/>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lnSpc>
                <a:spcPct val="100000"/>
              </a:lnSpc>
              <a:spcBef>
                <a:spcPts val="0"/>
              </a:spcBef>
              <a:spcAft>
                <a:spcPts val="0"/>
              </a:spcAft>
            </a:pPr>
            <a:r>
              <a:rPr lang="en-US" b="1">
                <a:latin typeface="TW Cen MT"/>
                <a:ea typeface="+mn-lt"/>
                <a:cs typeface="+mn-lt"/>
              </a:rPr>
              <a:t>Total Cost without Overhead (Sum of all costs) </a:t>
            </a:r>
            <a:endParaRPr lang="en-US">
              <a:latin typeface="TW Cen MT"/>
              <a:ea typeface="+mn-lt"/>
              <a:cs typeface="+mn-lt"/>
            </a:endParaRPr>
          </a:p>
          <a:p>
            <a:pPr>
              <a:lnSpc>
                <a:spcPct val="100000"/>
              </a:lnSpc>
              <a:spcBef>
                <a:spcPts val="0"/>
              </a:spcBef>
              <a:spcAft>
                <a:spcPts val="0"/>
              </a:spcAft>
            </a:pPr>
            <a:r>
              <a:rPr lang="en-US">
                <a:latin typeface="TW Cen MT"/>
                <a:ea typeface="+mn-lt"/>
                <a:cs typeface="+mn-lt"/>
              </a:rPr>
              <a:t>= $ 1,750,800</a:t>
            </a:r>
            <a:endParaRPr lang="en-US">
              <a:latin typeface="TW Cen MT"/>
            </a:endParaRPr>
          </a:p>
          <a:p>
            <a:pPr>
              <a:lnSpc>
                <a:spcPct val="100000"/>
              </a:lnSpc>
              <a:spcBef>
                <a:spcPts val="0"/>
              </a:spcBef>
              <a:spcAft>
                <a:spcPts val="0"/>
              </a:spcAft>
            </a:pPr>
            <a:r>
              <a:rPr lang="en-US">
                <a:latin typeface="TW Cen MT"/>
                <a:ea typeface="+mn-lt"/>
                <a:cs typeface="+mn-lt"/>
              </a:rPr>
              <a:t>Overhead = 20%</a:t>
            </a:r>
          </a:p>
          <a:p>
            <a:pPr>
              <a:lnSpc>
                <a:spcPct val="100000"/>
              </a:lnSpc>
              <a:spcBef>
                <a:spcPts val="0"/>
              </a:spcBef>
              <a:spcAft>
                <a:spcPts val="0"/>
              </a:spcAft>
            </a:pPr>
            <a:endParaRPr lang="en-US">
              <a:latin typeface="TW Cen MT"/>
              <a:ea typeface="+mn-lt"/>
              <a:cs typeface="+mn-lt"/>
            </a:endParaRPr>
          </a:p>
          <a:p>
            <a:pPr>
              <a:lnSpc>
                <a:spcPct val="100000"/>
              </a:lnSpc>
              <a:spcBef>
                <a:spcPts val="0"/>
              </a:spcBef>
              <a:spcAft>
                <a:spcPts val="0"/>
              </a:spcAft>
            </a:pPr>
            <a:r>
              <a:rPr lang="en-US" b="1">
                <a:latin typeface="TW Cen MT"/>
                <a:ea typeface="+mn-lt"/>
                <a:cs typeface="+mn-lt"/>
              </a:rPr>
              <a:t>Overhead Cost = 20% of Total Cost without Overhead </a:t>
            </a:r>
          </a:p>
          <a:p>
            <a:pPr>
              <a:lnSpc>
                <a:spcPct val="100000"/>
              </a:lnSpc>
              <a:spcBef>
                <a:spcPts val="0"/>
              </a:spcBef>
              <a:spcAft>
                <a:spcPts val="0"/>
              </a:spcAft>
            </a:pPr>
            <a:r>
              <a:rPr lang="en-US">
                <a:latin typeface="TW Cen MT"/>
                <a:ea typeface="+mn-lt"/>
                <a:cs typeface="+mn-lt"/>
              </a:rPr>
              <a:t>20% of $1,750,800 = $ 350,160</a:t>
            </a:r>
            <a:endParaRPr lang="en-US">
              <a:latin typeface="TW Cen MT"/>
            </a:endParaRPr>
          </a:p>
          <a:p>
            <a:pPr>
              <a:lnSpc>
                <a:spcPct val="100000"/>
              </a:lnSpc>
              <a:spcBef>
                <a:spcPts val="0"/>
              </a:spcBef>
              <a:spcAft>
                <a:spcPts val="0"/>
              </a:spcAft>
            </a:pPr>
            <a:endParaRPr lang="en-US">
              <a:latin typeface="TW Cen MT"/>
              <a:ea typeface="+mn-lt"/>
              <a:cs typeface="+mn-lt"/>
            </a:endParaRPr>
          </a:p>
          <a:p>
            <a:pPr>
              <a:lnSpc>
                <a:spcPct val="100000"/>
              </a:lnSpc>
              <a:spcBef>
                <a:spcPts val="0"/>
              </a:spcBef>
              <a:spcAft>
                <a:spcPts val="0"/>
              </a:spcAft>
            </a:pPr>
            <a:r>
              <a:rPr lang="en-US" b="1">
                <a:latin typeface="TW Cen MT"/>
                <a:ea typeface="+mn-lt"/>
                <a:cs typeface="+mn-lt"/>
              </a:rPr>
              <a:t>Total Cost with Overhead = Total Cost without Overhead + Overhead Cost </a:t>
            </a:r>
            <a:endParaRPr lang="en-US" b="1">
              <a:latin typeface="TW Cen MT"/>
            </a:endParaRPr>
          </a:p>
          <a:p>
            <a:pPr>
              <a:lnSpc>
                <a:spcPct val="100000"/>
              </a:lnSpc>
              <a:spcBef>
                <a:spcPts val="0"/>
              </a:spcBef>
              <a:spcAft>
                <a:spcPts val="0"/>
              </a:spcAft>
            </a:pPr>
            <a:r>
              <a:rPr lang="en-US">
                <a:latin typeface="TW Cen MT"/>
                <a:ea typeface="+mn-lt"/>
                <a:cs typeface="+mn-lt"/>
              </a:rPr>
              <a:t>$1,750,800+ $350,160  = $2,100,960</a:t>
            </a:r>
          </a:p>
          <a:p>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0">
              <a:schemeClr val="bg2">
                <a:lumMod val="50000"/>
              </a:schemeClr>
            </a:gs>
            <a:gs pos="100000">
              <a:srgbClr val="FFFFFF">
                <a:alpha val="100000"/>
              </a:srgbClr>
            </a:gs>
          </a:gsLst>
          <a:lin ang="0" scaled="0"/>
        </a:gradFill>
        <a:effectLst/>
      </p:bgPr>
    </p:bg>
    <p:spTree>
      <p:nvGrpSpPr>
        <p:cNvPr id="1" name="">
          <a:extLst>
            <a:ext uri="{FF2B5EF4-FFF2-40B4-BE49-F238E27FC236}">
              <a16:creationId xmlns:a16="http://schemas.microsoft.com/office/drawing/2014/main" id="{C6F34FE3-0F3D-927A-3063-0A846EB89AB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55149A51-E0AA-3A47-735E-3617675BD710}"/>
              </a:ext>
            </a:extLst>
          </p:cNvPr>
          <p:cNvGrpSpPr/>
          <p:nvPr/>
        </p:nvGrpSpPr>
        <p:grpSpPr>
          <a:xfrm>
            <a:off x="-18288" y="-1485900"/>
            <a:ext cx="27584990" cy="11974016"/>
            <a:chOff x="0" y="0"/>
            <a:chExt cx="7265182" cy="3153650"/>
          </a:xfrm>
          <a:gradFill>
            <a:gsLst>
              <a:gs pos="0">
                <a:schemeClr val="accent6">
                  <a:lumMod val="40000"/>
                  <a:lumOff val="60000"/>
                </a:schemeClr>
              </a:gs>
              <a:gs pos="100000">
                <a:srgbClr val="FFFFFF">
                  <a:alpha val="100000"/>
                </a:srgbClr>
              </a:gs>
            </a:gsLst>
            <a:lin ang="0" scaled="0"/>
          </a:gradFill>
        </p:grpSpPr>
        <p:sp>
          <p:nvSpPr>
            <p:cNvPr id="3" name="Freeform 3">
              <a:extLst>
                <a:ext uri="{FF2B5EF4-FFF2-40B4-BE49-F238E27FC236}">
                  <a16:creationId xmlns:a16="http://schemas.microsoft.com/office/drawing/2014/main" id="{2BE3521F-2EB3-42E7-5A8A-78B5160DB783}"/>
                </a:ext>
              </a:extLst>
            </p:cNvPr>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p:spPr>
          <p:txBody>
            <a:bodyPr/>
            <a:lstStyle/>
            <a:p>
              <a:endParaRPr lang="en-IN"/>
            </a:p>
          </p:txBody>
        </p:sp>
        <p:sp>
          <p:nvSpPr>
            <p:cNvPr id="4" name="TextBox 4">
              <a:extLst>
                <a:ext uri="{FF2B5EF4-FFF2-40B4-BE49-F238E27FC236}">
                  <a16:creationId xmlns:a16="http://schemas.microsoft.com/office/drawing/2014/main" id="{D88EE9B7-3FC6-FD0C-B9F0-5BB324AC74DE}"/>
                </a:ext>
              </a:extLst>
            </p:cNvPr>
            <p:cNvSpPr txBox="1"/>
            <p:nvPr/>
          </p:nvSpPr>
          <p:spPr>
            <a:xfrm>
              <a:off x="0" y="-38100"/>
              <a:ext cx="7265182" cy="3191750"/>
            </a:xfrm>
            <a:prstGeom prst="rect">
              <a:avLst/>
            </a:prstGeom>
            <a:grpFill/>
          </p:spPr>
          <p:txBody>
            <a:bodyPr lIns="50800" tIns="50800" rIns="50800" bIns="50800" rtlCol="0" anchor="ctr"/>
            <a:lstStyle/>
            <a:p>
              <a:pPr algn="ctr">
                <a:lnSpc>
                  <a:spcPts val="3359"/>
                </a:lnSpc>
              </a:pPr>
              <a:endParaRPr/>
            </a:p>
          </p:txBody>
        </p:sp>
      </p:grpSp>
      <p:sp>
        <p:nvSpPr>
          <p:cNvPr id="7" name="AutoShape 7">
            <a:extLst>
              <a:ext uri="{FF2B5EF4-FFF2-40B4-BE49-F238E27FC236}">
                <a16:creationId xmlns:a16="http://schemas.microsoft.com/office/drawing/2014/main" id="{E188C40D-973B-1D78-5280-8F74B49C225F}"/>
              </a:ext>
            </a:extLst>
          </p:cNvPr>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1" name="TextBox 11">
            <a:extLst>
              <a:ext uri="{FF2B5EF4-FFF2-40B4-BE49-F238E27FC236}">
                <a16:creationId xmlns:a16="http://schemas.microsoft.com/office/drawing/2014/main" id="{FEE19AE9-6262-C7B3-18EB-62977C49539F}"/>
              </a:ext>
            </a:extLst>
          </p:cNvPr>
          <p:cNvSpPr txBox="1"/>
          <p:nvPr/>
        </p:nvSpPr>
        <p:spPr>
          <a:xfrm rot="-5400000">
            <a:off x="-1686896" y="7498874"/>
            <a:ext cx="4498668" cy="564257"/>
          </a:xfrm>
          <a:prstGeom prst="rect">
            <a:avLst/>
          </a:prstGeom>
        </p:spPr>
        <p:txBody>
          <a:bodyPr lIns="0" tIns="0" rIns="0" bIns="0" rtlCol="0" anchor="t">
            <a:spAutoFit/>
          </a:bodyPr>
          <a:lstStyle/>
          <a:p>
            <a:pPr>
              <a:lnSpc>
                <a:spcPts val="2160"/>
              </a:lnSpc>
            </a:pPr>
            <a:r>
              <a:rPr lang="en-US" dirty="0">
                <a:solidFill>
                  <a:schemeClr val="tx2"/>
                </a:solidFill>
                <a:latin typeface="Georgia Pro" panose="02040502050405020303" pitchFamily="18" charset="0"/>
              </a:rPr>
              <a:t>POM+ Singapore </a:t>
            </a:r>
            <a:endParaRPr lang="en-US" spc="-53" dirty="0">
              <a:solidFill>
                <a:schemeClr val="tx2"/>
              </a:solidFill>
              <a:latin typeface="Georgia Pro" panose="02040502050405020303" pitchFamily="18" charset="0"/>
              <a:ea typeface="Nunito Sans"/>
              <a:cs typeface="Nunito Sans"/>
              <a:sym typeface="Nunito Sans"/>
            </a:endParaRPr>
          </a:p>
          <a:p>
            <a:pPr algn="l">
              <a:lnSpc>
                <a:spcPts val="2160"/>
              </a:lnSpc>
            </a:pPr>
            <a:endParaRPr lang="en-US" sz="1800" spc="-53" dirty="0">
              <a:solidFill>
                <a:srgbClr val="03286A"/>
              </a:solidFill>
              <a:latin typeface="Nunito Sans"/>
              <a:ea typeface="Nunito Sans"/>
              <a:cs typeface="Nunito Sans"/>
              <a:sym typeface="Nunito Sans"/>
            </a:endParaRPr>
          </a:p>
        </p:txBody>
      </p:sp>
      <p:sp>
        <p:nvSpPr>
          <p:cNvPr id="24" name="TextBox 24">
            <a:extLst>
              <a:ext uri="{FF2B5EF4-FFF2-40B4-BE49-F238E27FC236}">
                <a16:creationId xmlns:a16="http://schemas.microsoft.com/office/drawing/2014/main" id="{814F14EA-0CF1-9B30-18E0-4CC1C3D7D4FF}"/>
              </a:ext>
            </a:extLst>
          </p:cNvPr>
          <p:cNvSpPr txBox="1"/>
          <p:nvPr/>
        </p:nvSpPr>
        <p:spPr>
          <a:xfrm>
            <a:off x="9258527" y="8777753"/>
            <a:ext cx="8000773" cy="356235"/>
          </a:xfrm>
          <a:prstGeom prst="rect">
            <a:avLst/>
          </a:prstGeom>
        </p:spPr>
        <p:txBody>
          <a:bodyPr lIns="0" tIns="0" rIns="0" bIns="0" rtlCol="0" anchor="t">
            <a:spAutoFit/>
          </a:bodyPr>
          <a:lstStyle/>
          <a:p>
            <a:pPr marL="0" lvl="0" indent="0" algn="l">
              <a:lnSpc>
                <a:spcPts val="2940"/>
              </a:lnSpc>
              <a:spcBef>
                <a:spcPct val="0"/>
              </a:spcBef>
            </a:pPr>
            <a:r>
              <a:rPr lang="en-US" sz="2100" dirty="0">
                <a:solidFill>
                  <a:srgbClr val="03286A"/>
                </a:solidFill>
                <a:latin typeface="Nunito Sans Light"/>
                <a:ea typeface="Nunito Sans Light"/>
                <a:cs typeface="Nunito Sans Light"/>
                <a:sym typeface="Nunito Sans Light"/>
              </a:rPr>
              <a:t>. </a:t>
            </a:r>
          </a:p>
        </p:txBody>
      </p:sp>
      <p:sp>
        <p:nvSpPr>
          <p:cNvPr id="27" name="TextBox 10">
            <a:extLst>
              <a:ext uri="{FF2B5EF4-FFF2-40B4-BE49-F238E27FC236}">
                <a16:creationId xmlns:a16="http://schemas.microsoft.com/office/drawing/2014/main" id="{1361FF9A-2B97-9530-19A0-5591FC2B0A49}"/>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
        <p:nvSpPr>
          <p:cNvPr id="28" name="TextBox 27">
            <a:extLst>
              <a:ext uri="{FF2B5EF4-FFF2-40B4-BE49-F238E27FC236}">
                <a16:creationId xmlns:a16="http://schemas.microsoft.com/office/drawing/2014/main" id="{88F6E234-04B3-BF3E-9785-61C094B4A112}"/>
              </a:ext>
            </a:extLst>
          </p:cNvPr>
          <p:cNvSpPr txBox="1"/>
          <p:nvPr/>
        </p:nvSpPr>
        <p:spPr>
          <a:xfrm>
            <a:off x="2209800" y="575220"/>
            <a:ext cx="8458198" cy="646331"/>
          </a:xfrm>
          <a:prstGeom prst="rect">
            <a:avLst/>
          </a:prstGeom>
          <a:noFill/>
        </p:spPr>
        <p:txBody>
          <a:bodyPr wrap="square" rtlCol="0">
            <a:spAutoFit/>
          </a:bodyPr>
          <a:lstStyle/>
          <a:p>
            <a:r>
              <a:rPr lang="en-IN" sz="3600" dirty="0">
                <a:latin typeface="Georgia Pro" panose="02040502050405020303" pitchFamily="18" charset="0"/>
              </a:rPr>
              <a:t>Project NPV (Without Overhead)​</a:t>
            </a:r>
          </a:p>
        </p:txBody>
      </p:sp>
      <p:pic>
        <p:nvPicPr>
          <p:cNvPr id="2050" name="Picture 2" descr="A screenshot of a computer screen&#10;&#10;AI-generated content may be incorrect.">
            <a:extLst>
              <a:ext uri="{FF2B5EF4-FFF2-40B4-BE49-F238E27FC236}">
                <a16:creationId xmlns:a16="http://schemas.microsoft.com/office/drawing/2014/main" id="{9FAB7A65-928D-4B74-300C-C0DA58FB62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24326" y="2542374"/>
            <a:ext cx="6464806" cy="6801664"/>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pic>
        <p:nvPicPr>
          <p:cNvPr id="2052" name="Picture 4" descr="A screenshot of a calculator&#10;&#10;AI-generated content may be incorrect.">
            <a:extLst>
              <a:ext uri="{FF2B5EF4-FFF2-40B4-BE49-F238E27FC236}">
                <a16:creationId xmlns:a16="http://schemas.microsoft.com/office/drawing/2014/main" id="{4625236A-1CE8-A07F-D30D-7D9CB24E42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3499633"/>
            <a:ext cx="6653605" cy="4207613"/>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13504490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a:gsLst>
            <a:gs pos="0">
              <a:schemeClr val="bg2">
                <a:lumMod val="50000"/>
              </a:schemeClr>
            </a:gs>
            <a:gs pos="100000">
              <a:srgbClr val="FFFFFF">
                <a:alpha val="100000"/>
              </a:srgbClr>
            </a:gs>
          </a:gsLst>
          <a:lin ang="0" scaled="0"/>
        </a:gradFill>
        <a:effectLst/>
      </p:bgPr>
    </p:bg>
    <p:spTree>
      <p:nvGrpSpPr>
        <p:cNvPr id="1" name="">
          <a:extLst>
            <a:ext uri="{FF2B5EF4-FFF2-40B4-BE49-F238E27FC236}">
              <a16:creationId xmlns:a16="http://schemas.microsoft.com/office/drawing/2014/main" id="{AC0A2501-C2FE-6186-2399-38EA0F564F18}"/>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DB52716-7189-4E53-E257-04454B2491F0}"/>
              </a:ext>
            </a:extLst>
          </p:cNvPr>
          <p:cNvGrpSpPr/>
          <p:nvPr/>
        </p:nvGrpSpPr>
        <p:grpSpPr>
          <a:xfrm>
            <a:off x="-18288" y="-1485900"/>
            <a:ext cx="27584990" cy="11974016"/>
            <a:chOff x="0" y="0"/>
            <a:chExt cx="7265182" cy="3153650"/>
          </a:xfrm>
          <a:gradFill>
            <a:gsLst>
              <a:gs pos="0">
                <a:schemeClr val="accent6">
                  <a:lumMod val="40000"/>
                  <a:lumOff val="60000"/>
                </a:schemeClr>
              </a:gs>
              <a:gs pos="100000">
                <a:srgbClr val="FFFFFF">
                  <a:alpha val="100000"/>
                </a:srgbClr>
              </a:gs>
            </a:gsLst>
            <a:lin ang="0" scaled="0"/>
          </a:gradFill>
        </p:grpSpPr>
        <p:sp>
          <p:nvSpPr>
            <p:cNvPr id="3" name="Freeform 3">
              <a:extLst>
                <a:ext uri="{FF2B5EF4-FFF2-40B4-BE49-F238E27FC236}">
                  <a16:creationId xmlns:a16="http://schemas.microsoft.com/office/drawing/2014/main" id="{397153E3-F733-11CD-31E8-033159C5C2E5}"/>
                </a:ext>
              </a:extLst>
            </p:cNvPr>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p:spPr>
          <p:txBody>
            <a:bodyPr/>
            <a:lstStyle/>
            <a:p>
              <a:endParaRPr lang="en-IN"/>
            </a:p>
          </p:txBody>
        </p:sp>
        <p:sp>
          <p:nvSpPr>
            <p:cNvPr id="4" name="TextBox 4">
              <a:extLst>
                <a:ext uri="{FF2B5EF4-FFF2-40B4-BE49-F238E27FC236}">
                  <a16:creationId xmlns:a16="http://schemas.microsoft.com/office/drawing/2014/main" id="{72B71BF1-2C89-F986-5D52-7BBF54566E48}"/>
                </a:ext>
              </a:extLst>
            </p:cNvPr>
            <p:cNvSpPr txBox="1"/>
            <p:nvPr/>
          </p:nvSpPr>
          <p:spPr>
            <a:xfrm>
              <a:off x="0" y="-38100"/>
              <a:ext cx="7265182" cy="3191750"/>
            </a:xfrm>
            <a:prstGeom prst="rect">
              <a:avLst/>
            </a:prstGeom>
            <a:grpFill/>
          </p:spPr>
          <p:txBody>
            <a:bodyPr lIns="50800" tIns="50800" rIns="50800" bIns="50800" rtlCol="0" anchor="ctr"/>
            <a:lstStyle/>
            <a:p>
              <a:pPr algn="ctr">
                <a:lnSpc>
                  <a:spcPts val="3359"/>
                </a:lnSpc>
              </a:pPr>
              <a:endParaRPr/>
            </a:p>
          </p:txBody>
        </p:sp>
      </p:grpSp>
      <p:sp>
        <p:nvSpPr>
          <p:cNvPr id="7" name="AutoShape 7">
            <a:extLst>
              <a:ext uri="{FF2B5EF4-FFF2-40B4-BE49-F238E27FC236}">
                <a16:creationId xmlns:a16="http://schemas.microsoft.com/office/drawing/2014/main" id="{7F184ED1-7C01-3656-B3F0-22617858BCD0}"/>
              </a:ext>
            </a:extLst>
          </p:cNvPr>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1" name="TextBox 11">
            <a:extLst>
              <a:ext uri="{FF2B5EF4-FFF2-40B4-BE49-F238E27FC236}">
                <a16:creationId xmlns:a16="http://schemas.microsoft.com/office/drawing/2014/main" id="{24838F60-2443-B977-D163-5EC7949E0D0E}"/>
              </a:ext>
            </a:extLst>
          </p:cNvPr>
          <p:cNvSpPr txBox="1"/>
          <p:nvPr/>
        </p:nvSpPr>
        <p:spPr>
          <a:xfrm rot="-5400000">
            <a:off x="-1686896" y="7498874"/>
            <a:ext cx="4498668" cy="564257"/>
          </a:xfrm>
          <a:prstGeom prst="rect">
            <a:avLst/>
          </a:prstGeom>
        </p:spPr>
        <p:txBody>
          <a:bodyPr lIns="0" tIns="0" rIns="0" bIns="0" rtlCol="0" anchor="t">
            <a:spAutoFit/>
          </a:bodyPr>
          <a:lstStyle/>
          <a:p>
            <a:pPr>
              <a:lnSpc>
                <a:spcPts val="2160"/>
              </a:lnSpc>
            </a:pPr>
            <a:r>
              <a:rPr lang="en-US" dirty="0">
                <a:solidFill>
                  <a:schemeClr val="tx2"/>
                </a:solidFill>
                <a:latin typeface="Georgia Pro" panose="02040502050405020303" pitchFamily="18" charset="0"/>
              </a:rPr>
              <a:t>POM+ Singapore </a:t>
            </a:r>
            <a:endParaRPr lang="en-US" spc="-53" dirty="0">
              <a:solidFill>
                <a:schemeClr val="tx2"/>
              </a:solidFill>
              <a:latin typeface="Georgia Pro" panose="02040502050405020303" pitchFamily="18" charset="0"/>
              <a:ea typeface="Nunito Sans"/>
              <a:cs typeface="Nunito Sans"/>
              <a:sym typeface="Nunito Sans"/>
            </a:endParaRPr>
          </a:p>
          <a:p>
            <a:pPr algn="l">
              <a:lnSpc>
                <a:spcPts val="2160"/>
              </a:lnSpc>
            </a:pPr>
            <a:endParaRPr lang="en-US" sz="1800" spc="-53" dirty="0">
              <a:solidFill>
                <a:srgbClr val="03286A"/>
              </a:solidFill>
              <a:latin typeface="Nunito Sans"/>
              <a:ea typeface="Nunito Sans"/>
              <a:cs typeface="Nunito Sans"/>
              <a:sym typeface="Nunito Sans"/>
            </a:endParaRPr>
          </a:p>
        </p:txBody>
      </p:sp>
      <p:sp>
        <p:nvSpPr>
          <p:cNvPr id="24" name="TextBox 24">
            <a:extLst>
              <a:ext uri="{FF2B5EF4-FFF2-40B4-BE49-F238E27FC236}">
                <a16:creationId xmlns:a16="http://schemas.microsoft.com/office/drawing/2014/main" id="{9201C086-ECEF-4DE3-A98C-64F1DBB19C40}"/>
              </a:ext>
            </a:extLst>
          </p:cNvPr>
          <p:cNvSpPr txBox="1"/>
          <p:nvPr/>
        </p:nvSpPr>
        <p:spPr>
          <a:xfrm>
            <a:off x="9258527" y="8777753"/>
            <a:ext cx="8000773" cy="356235"/>
          </a:xfrm>
          <a:prstGeom prst="rect">
            <a:avLst/>
          </a:prstGeom>
        </p:spPr>
        <p:txBody>
          <a:bodyPr lIns="0" tIns="0" rIns="0" bIns="0" rtlCol="0" anchor="t">
            <a:spAutoFit/>
          </a:bodyPr>
          <a:lstStyle/>
          <a:p>
            <a:pPr marL="0" lvl="0" indent="0" algn="l">
              <a:lnSpc>
                <a:spcPts val="2940"/>
              </a:lnSpc>
              <a:spcBef>
                <a:spcPct val="0"/>
              </a:spcBef>
            </a:pPr>
            <a:r>
              <a:rPr lang="en-US" sz="2100" dirty="0">
                <a:solidFill>
                  <a:srgbClr val="03286A"/>
                </a:solidFill>
                <a:latin typeface="Nunito Sans Light"/>
                <a:ea typeface="Nunito Sans Light"/>
                <a:cs typeface="Nunito Sans Light"/>
                <a:sym typeface="Nunito Sans Light"/>
              </a:rPr>
              <a:t>. </a:t>
            </a:r>
          </a:p>
        </p:txBody>
      </p:sp>
      <p:sp>
        <p:nvSpPr>
          <p:cNvPr id="27" name="TextBox 10">
            <a:extLst>
              <a:ext uri="{FF2B5EF4-FFF2-40B4-BE49-F238E27FC236}">
                <a16:creationId xmlns:a16="http://schemas.microsoft.com/office/drawing/2014/main" id="{D4704E4A-D15F-08EC-16A4-99C64B3A41AA}"/>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
        <p:nvSpPr>
          <p:cNvPr id="28" name="TextBox 27">
            <a:extLst>
              <a:ext uri="{FF2B5EF4-FFF2-40B4-BE49-F238E27FC236}">
                <a16:creationId xmlns:a16="http://schemas.microsoft.com/office/drawing/2014/main" id="{63F115D7-C3BC-62DB-48A8-A9F4B03C518B}"/>
              </a:ext>
            </a:extLst>
          </p:cNvPr>
          <p:cNvSpPr txBox="1"/>
          <p:nvPr/>
        </p:nvSpPr>
        <p:spPr>
          <a:xfrm>
            <a:off x="2209800" y="575220"/>
            <a:ext cx="8458198" cy="646331"/>
          </a:xfrm>
          <a:prstGeom prst="rect">
            <a:avLst/>
          </a:prstGeom>
          <a:noFill/>
        </p:spPr>
        <p:txBody>
          <a:bodyPr wrap="square" rtlCol="0">
            <a:spAutoFit/>
          </a:bodyPr>
          <a:lstStyle/>
          <a:p>
            <a:r>
              <a:rPr lang="en-IN" sz="3600" dirty="0">
                <a:latin typeface="Georgia Pro" panose="02040502050405020303" pitchFamily="18" charset="0"/>
              </a:rPr>
              <a:t>Project NPV (With Overhead)​</a:t>
            </a:r>
          </a:p>
        </p:txBody>
      </p:sp>
      <p:pic>
        <p:nvPicPr>
          <p:cNvPr id="3074" name="Picture 2" descr="A screenshot of a computer screen&#10;&#10;AI-generated content may be incorrect.">
            <a:extLst>
              <a:ext uri="{FF2B5EF4-FFF2-40B4-BE49-F238E27FC236}">
                <a16:creationId xmlns:a16="http://schemas.microsoft.com/office/drawing/2014/main" id="{FE7A27E5-E899-27C6-0653-A6F618E7E6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3583" y="2171700"/>
            <a:ext cx="7393817" cy="6781800"/>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pic>
        <p:nvPicPr>
          <p:cNvPr id="3076" name="Picture 4" descr="A screenshot of a calculator&#10;&#10;AI-generated content may be incorrect.">
            <a:extLst>
              <a:ext uri="{FF2B5EF4-FFF2-40B4-BE49-F238E27FC236}">
                <a16:creationId xmlns:a16="http://schemas.microsoft.com/office/drawing/2014/main" id="{245E7715-ED29-79E2-C84B-AA480AF1E0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88278" y="2957947"/>
            <a:ext cx="7393817" cy="5014367"/>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8164889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0">
              <a:schemeClr val="bg2">
                <a:lumMod val="50000"/>
              </a:schemeClr>
            </a:gs>
            <a:gs pos="100000">
              <a:srgbClr val="FFFFFF">
                <a:alpha val="100000"/>
              </a:srgbClr>
            </a:gs>
          </a:gsLst>
          <a:lin ang="0" scaled="0"/>
        </a:gradFill>
        <a:effectLst/>
      </p:bgPr>
    </p:bg>
    <p:spTree>
      <p:nvGrpSpPr>
        <p:cNvPr id="1" name="">
          <a:extLst>
            <a:ext uri="{FF2B5EF4-FFF2-40B4-BE49-F238E27FC236}">
              <a16:creationId xmlns:a16="http://schemas.microsoft.com/office/drawing/2014/main" id="{1D1B4661-03B0-3F45-C5DC-F3A44656BD8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1B7D8DF-FFFF-9F36-9FCC-C13F94442C5F}"/>
              </a:ext>
            </a:extLst>
          </p:cNvPr>
          <p:cNvGrpSpPr/>
          <p:nvPr/>
        </p:nvGrpSpPr>
        <p:grpSpPr>
          <a:xfrm>
            <a:off x="-18288" y="-1485900"/>
            <a:ext cx="27584990" cy="11974016"/>
            <a:chOff x="0" y="0"/>
            <a:chExt cx="7265182" cy="3153650"/>
          </a:xfrm>
          <a:gradFill>
            <a:gsLst>
              <a:gs pos="0">
                <a:schemeClr val="accent6">
                  <a:lumMod val="40000"/>
                  <a:lumOff val="60000"/>
                </a:schemeClr>
              </a:gs>
              <a:gs pos="100000">
                <a:srgbClr val="FFFFFF">
                  <a:alpha val="100000"/>
                </a:srgbClr>
              </a:gs>
            </a:gsLst>
            <a:lin ang="0" scaled="0"/>
          </a:gradFill>
        </p:grpSpPr>
        <p:sp>
          <p:nvSpPr>
            <p:cNvPr id="3" name="Freeform 3">
              <a:extLst>
                <a:ext uri="{FF2B5EF4-FFF2-40B4-BE49-F238E27FC236}">
                  <a16:creationId xmlns:a16="http://schemas.microsoft.com/office/drawing/2014/main" id="{E0B234B2-2E98-1EF7-97E7-4661996A76B8}"/>
                </a:ext>
              </a:extLst>
            </p:cNvPr>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p:spPr>
          <p:txBody>
            <a:bodyPr/>
            <a:lstStyle/>
            <a:p>
              <a:endParaRPr lang="en-IN"/>
            </a:p>
          </p:txBody>
        </p:sp>
        <p:sp>
          <p:nvSpPr>
            <p:cNvPr id="4" name="TextBox 4">
              <a:extLst>
                <a:ext uri="{FF2B5EF4-FFF2-40B4-BE49-F238E27FC236}">
                  <a16:creationId xmlns:a16="http://schemas.microsoft.com/office/drawing/2014/main" id="{BC6097E3-291D-BAA7-5F1A-7119A9D1B454}"/>
                </a:ext>
              </a:extLst>
            </p:cNvPr>
            <p:cNvSpPr txBox="1"/>
            <p:nvPr/>
          </p:nvSpPr>
          <p:spPr>
            <a:xfrm>
              <a:off x="0" y="-38100"/>
              <a:ext cx="7265182" cy="3191750"/>
            </a:xfrm>
            <a:prstGeom prst="rect">
              <a:avLst/>
            </a:prstGeom>
            <a:grpFill/>
          </p:spPr>
          <p:txBody>
            <a:bodyPr lIns="50800" tIns="50800" rIns="50800" bIns="50800" rtlCol="0" anchor="ctr"/>
            <a:lstStyle/>
            <a:p>
              <a:pPr algn="ctr">
                <a:lnSpc>
                  <a:spcPts val="3359"/>
                </a:lnSpc>
              </a:pPr>
              <a:endParaRPr/>
            </a:p>
          </p:txBody>
        </p:sp>
      </p:grpSp>
      <p:sp>
        <p:nvSpPr>
          <p:cNvPr id="7" name="AutoShape 7">
            <a:extLst>
              <a:ext uri="{FF2B5EF4-FFF2-40B4-BE49-F238E27FC236}">
                <a16:creationId xmlns:a16="http://schemas.microsoft.com/office/drawing/2014/main" id="{18CD4BC5-DD42-51CE-8B1F-10F77278E182}"/>
              </a:ext>
            </a:extLst>
          </p:cNvPr>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1" name="TextBox 11">
            <a:extLst>
              <a:ext uri="{FF2B5EF4-FFF2-40B4-BE49-F238E27FC236}">
                <a16:creationId xmlns:a16="http://schemas.microsoft.com/office/drawing/2014/main" id="{8DE38471-26F0-265C-9C5C-4AD27A4CFD59}"/>
              </a:ext>
            </a:extLst>
          </p:cNvPr>
          <p:cNvSpPr txBox="1"/>
          <p:nvPr/>
        </p:nvSpPr>
        <p:spPr>
          <a:xfrm rot="-5400000">
            <a:off x="-1686896" y="7498874"/>
            <a:ext cx="4498668" cy="564257"/>
          </a:xfrm>
          <a:prstGeom prst="rect">
            <a:avLst/>
          </a:prstGeom>
        </p:spPr>
        <p:txBody>
          <a:bodyPr lIns="0" tIns="0" rIns="0" bIns="0" rtlCol="0" anchor="t">
            <a:spAutoFit/>
          </a:bodyPr>
          <a:lstStyle/>
          <a:p>
            <a:pPr>
              <a:lnSpc>
                <a:spcPts val="2160"/>
              </a:lnSpc>
            </a:pPr>
            <a:r>
              <a:rPr lang="en-US" dirty="0">
                <a:solidFill>
                  <a:schemeClr val="tx2"/>
                </a:solidFill>
                <a:latin typeface="Georgia Pro" panose="02040502050405020303" pitchFamily="18" charset="0"/>
              </a:rPr>
              <a:t>POM+ Singapore </a:t>
            </a:r>
            <a:endParaRPr lang="en-US" spc="-53" dirty="0">
              <a:solidFill>
                <a:schemeClr val="tx2"/>
              </a:solidFill>
              <a:latin typeface="Georgia Pro" panose="02040502050405020303" pitchFamily="18" charset="0"/>
              <a:ea typeface="Nunito Sans"/>
              <a:cs typeface="Nunito Sans"/>
              <a:sym typeface="Nunito Sans"/>
            </a:endParaRPr>
          </a:p>
          <a:p>
            <a:pPr algn="l">
              <a:lnSpc>
                <a:spcPts val="2160"/>
              </a:lnSpc>
            </a:pPr>
            <a:endParaRPr lang="en-US" sz="1800" spc="-53" dirty="0">
              <a:solidFill>
                <a:srgbClr val="03286A"/>
              </a:solidFill>
              <a:latin typeface="Nunito Sans"/>
              <a:ea typeface="Nunito Sans"/>
              <a:cs typeface="Nunito Sans"/>
              <a:sym typeface="Nunito Sans"/>
            </a:endParaRPr>
          </a:p>
        </p:txBody>
      </p:sp>
      <p:sp>
        <p:nvSpPr>
          <p:cNvPr id="24" name="TextBox 24">
            <a:extLst>
              <a:ext uri="{FF2B5EF4-FFF2-40B4-BE49-F238E27FC236}">
                <a16:creationId xmlns:a16="http://schemas.microsoft.com/office/drawing/2014/main" id="{117D445F-865A-7AE9-8942-1B88ED5942BC}"/>
              </a:ext>
            </a:extLst>
          </p:cNvPr>
          <p:cNvSpPr txBox="1"/>
          <p:nvPr/>
        </p:nvSpPr>
        <p:spPr>
          <a:xfrm>
            <a:off x="9258527" y="8777753"/>
            <a:ext cx="8000773" cy="356235"/>
          </a:xfrm>
          <a:prstGeom prst="rect">
            <a:avLst/>
          </a:prstGeom>
        </p:spPr>
        <p:txBody>
          <a:bodyPr lIns="0" tIns="0" rIns="0" bIns="0" rtlCol="0" anchor="t">
            <a:spAutoFit/>
          </a:bodyPr>
          <a:lstStyle/>
          <a:p>
            <a:pPr marL="0" lvl="0" indent="0" algn="l">
              <a:lnSpc>
                <a:spcPts val="2940"/>
              </a:lnSpc>
              <a:spcBef>
                <a:spcPct val="0"/>
              </a:spcBef>
            </a:pPr>
            <a:r>
              <a:rPr lang="en-US" sz="2100" dirty="0">
                <a:solidFill>
                  <a:srgbClr val="03286A"/>
                </a:solidFill>
                <a:latin typeface="Nunito Sans Light"/>
                <a:ea typeface="Nunito Sans Light"/>
                <a:cs typeface="Nunito Sans Light"/>
                <a:sym typeface="Nunito Sans Light"/>
              </a:rPr>
              <a:t>. </a:t>
            </a:r>
          </a:p>
        </p:txBody>
      </p:sp>
      <p:sp>
        <p:nvSpPr>
          <p:cNvPr id="27" name="TextBox 10">
            <a:extLst>
              <a:ext uri="{FF2B5EF4-FFF2-40B4-BE49-F238E27FC236}">
                <a16:creationId xmlns:a16="http://schemas.microsoft.com/office/drawing/2014/main" id="{57195176-9EFC-E443-B9AD-741DADBE2F86}"/>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
        <p:nvSpPr>
          <p:cNvPr id="28" name="TextBox 27">
            <a:extLst>
              <a:ext uri="{FF2B5EF4-FFF2-40B4-BE49-F238E27FC236}">
                <a16:creationId xmlns:a16="http://schemas.microsoft.com/office/drawing/2014/main" id="{9DA92651-503E-44F6-B566-693B21E93CE2}"/>
              </a:ext>
            </a:extLst>
          </p:cNvPr>
          <p:cNvSpPr txBox="1"/>
          <p:nvPr/>
        </p:nvSpPr>
        <p:spPr>
          <a:xfrm>
            <a:off x="2209800" y="575220"/>
            <a:ext cx="8458198" cy="646331"/>
          </a:xfrm>
          <a:prstGeom prst="rect">
            <a:avLst/>
          </a:prstGeom>
          <a:noFill/>
        </p:spPr>
        <p:txBody>
          <a:bodyPr wrap="square" rtlCol="0">
            <a:spAutoFit/>
          </a:bodyPr>
          <a:lstStyle/>
          <a:p>
            <a:r>
              <a:rPr lang="en-IN" sz="3600" dirty="0">
                <a:latin typeface="Georgia Pro" panose="02040502050405020303" pitchFamily="18" charset="0"/>
              </a:rPr>
              <a:t>Project NPV (With Overhead)​</a:t>
            </a:r>
          </a:p>
        </p:txBody>
      </p:sp>
      <p:graphicFrame>
        <p:nvGraphicFramePr>
          <p:cNvPr id="5" name="Table 4">
            <a:extLst>
              <a:ext uri="{FF2B5EF4-FFF2-40B4-BE49-F238E27FC236}">
                <a16:creationId xmlns:a16="http://schemas.microsoft.com/office/drawing/2014/main" id="{2F7572A4-3AC4-F3DB-9C66-DB442FA93900}"/>
              </a:ext>
            </a:extLst>
          </p:cNvPr>
          <p:cNvGraphicFramePr>
            <a:graphicFrameLocks noGrp="1"/>
          </p:cNvGraphicFramePr>
          <p:nvPr>
            <p:extLst>
              <p:ext uri="{D42A27DB-BD31-4B8C-83A1-F6EECF244321}">
                <p14:modId xmlns:p14="http://schemas.microsoft.com/office/powerpoint/2010/main" val="3960265379"/>
              </p:ext>
            </p:extLst>
          </p:nvPr>
        </p:nvGraphicFramePr>
        <p:xfrm>
          <a:off x="1847849" y="1862930"/>
          <a:ext cx="7410677" cy="6561931"/>
        </p:xfrm>
        <a:graphic>
          <a:graphicData uri="http://schemas.openxmlformats.org/drawingml/2006/table">
            <a:tbl>
              <a:tblPr/>
              <a:tblGrid>
                <a:gridCol w="984635">
                  <a:extLst>
                    <a:ext uri="{9D8B030D-6E8A-4147-A177-3AD203B41FA5}">
                      <a16:colId xmlns:a16="http://schemas.microsoft.com/office/drawing/2014/main" val="3036743950"/>
                    </a:ext>
                  </a:extLst>
                </a:gridCol>
                <a:gridCol w="1878581">
                  <a:extLst>
                    <a:ext uri="{9D8B030D-6E8A-4147-A177-3AD203B41FA5}">
                      <a16:colId xmlns:a16="http://schemas.microsoft.com/office/drawing/2014/main" val="1152438872"/>
                    </a:ext>
                  </a:extLst>
                </a:gridCol>
                <a:gridCol w="1774935">
                  <a:extLst>
                    <a:ext uri="{9D8B030D-6E8A-4147-A177-3AD203B41FA5}">
                      <a16:colId xmlns:a16="http://schemas.microsoft.com/office/drawing/2014/main" val="3000525486"/>
                    </a:ext>
                  </a:extLst>
                </a:gridCol>
                <a:gridCol w="2772526">
                  <a:extLst>
                    <a:ext uri="{9D8B030D-6E8A-4147-A177-3AD203B41FA5}">
                      <a16:colId xmlns:a16="http://schemas.microsoft.com/office/drawing/2014/main" val="3856294422"/>
                    </a:ext>
                  </a:extLst>
                </a:gridCol>
              </a:tblGrid>
              <a:tr h="734311">
                <a:tc gridSpan="4">
                  <a:txBody>
                    <a:bodyPr/>
                    <a:lstStyle/>
                    <a:p>
                      <a:pPr algn="ctr" fontAlgn="base">
                        <a:lnSpc>
                          <a:spcPts val="2400"/>
                        </a:lnSpc>
                        <a:buNone/>
                      </a:pPr>
                      <a:r>
                        <a:rPr lang="en-US" sz="2000" b="1" i="0">
                          <a:solidFill>
                            <a:srgbClr val="FFFFFF"/>
                          </a:solidFill>
                          <a:effectLst/>
                          <a:latin typeface="Tw Cen MT" panose="020B0602020104020603" pitchFamily="34" charset="0"/>
                        </a:rPr>
                        <a:t>NPV Calculation​</a:t>
                      </a:r>
                      <a:endParaRPr lang="en-US" b="1" i="0">
                        <a:solidFill>
                          <a:srgbClr val="FFFFFF"/>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1CADE4"/>
                    </a:solidFill>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4057643876"/>
                  </a:ext>
                </a:extLst>
              </a:tr>
              <a:tr h="1328010">
                <a:tc>
                  <a:txBody>
                    <a:bodyPr/>
                    <a:lstStyle/>
                    <a:p>
                      <a:pPr algn="l" fontAlgn="base">
                        <a:lnSpc>
                          <a:spcPts val="2400"/>
                        </a:lnSpc>
                        <a:buNone/>
                      </a:pPr>
                      <a:r>
                        <a:rPr lang="en-US" sz="2000" b="1" i="0">
                          <a:solidFill>
                            <a:srgbClr val="000000"/>
                          </a:solidFill>
                          <a:effectLst/>
                          <a:latin typeface="Tw Cen MT" panose="020B0602020104020603" pitchFamily="34" charset="0"/>
                        </a:rPr>
                        <a:t>Year</a:t>
                      </a:r>
                      <a:r>
                        <a:rPr lang="en-US" sz="2000" b="0" i="0">
                          <a:solidFill>
                            <a:srgbClr val="000000"/>
                          </a:solidFill>
                          <a:effectLst/>
                          <a:latin typeface="Tw Cen MT" panose="020B0602020104020603" pitchFamily="34" charset="0"/>
                        </a:rPr>
                        <a:t>​</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E7E7E7"/>
                    </a:solidFill>
                  </a:tcPr>
                </a:tc>
                <a:tc>
                  <a:txBody>
                    <a:bodyPr/>
                    <a:lstStyle/>
                    <a:p>
                      <a:pPr algn="l" fontAlgn="base">
                        <a:lnSpc>
                          <a:spcPts val="2400"/>
                        </a:lnSpc>
                        <a:buNone/>
                      </a:pPr>
                      <a:r>
                        <a:rPr lang="en-US" sz="2000" b="1" i="0">
                          <a:solidFill>
                            <a:srgbClr val="000000"/>
                          </a:solidFill>
                          <a:effectLst/>
                          <a:latin typeface="Tw Cen MT" panose="020B0602020104020603" pitchFamily="34" charset="0"/>
                        </a:rPr>
                        <a:t>Cash flow</a:t>
                      </a:r>
                      <a:r>
                        <a:rPr lang="en-US" sz="2000" b="0" i="0">
                          <a:solidFill>
                            <a:srgbClr val="000000"/>
                          </a:solidFill>
                          <a:effectLst/>
                          <a:latin typeface="Tw Cen MT" panose="020B0602020104020603" pitchFamily="34" charset="0"/>
                        </a:rPr>
                        <a:t>​</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E7E7E7"/>
                    </a:solidFill>
                  </a:tcPr>
                </a:tc>
                <a:tc>
                  <a:txBody>
                    <a:bodyPr/>
                    <a:lstStyle/>
                    <a:p>
                      <a:pPr algn="l" fontAlgn="base">
                        <a:lnSpc>
                          <a:spcPts val="2400"/>
                        </a:lnSpc>
                        <a:buNone/>
                      </a:pPr>
                      <a:r>
                        <a:rPr lang="en-US" sz="2000" b="1" i="0">
                          <a:solidFill>
                            <a:srgbClr val="000000"/>
                          </a:solidFill>
                          <a:effectLst/>
                          <a:latin typeface="Tw Cen MT" panose="020B0602020104020603" pitchFamily="34" charset="0"/>
                        </a:rPr>
                        <a:t>Discount Rate</a:t>
                      </a:r>
                      <a:r>
                        <a:rPr lang="en-US" sz="2000" b="0" i="0">
                          <a:solidFill>
                            <a:srgbClr val="000000"/>
                          </a:solidFill>
                          <a:effectLst/>
                          <a:latin typeface="Tw Cen MT" panose="020B0602020104020603" pitchFamily="34" charset="0"/>
                        </a:rPr>
                        <a:t>​</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E7E7E7"/>
                    </a:solidFill>
                  </a:tcPr>
                </a:tc>
                <a:tc>
                  <a:txBody>
                    <a:bodyPr/>
                    <a:lstStyle/>
                    <a:p>
                      <a:pPr algn="l" fontAlgn="base">
                        <a:lnSpc>
                          <a:spcPts val="2400"/>
                        </a:lnSpc>
                        <a:buNone/>
                      </a:pPr>
                      <a:r>
                        <a:rPr lang="pt-BR" sz="2000" b="1" i="0">
                          <a:solidFill>
                            <a:srgbClr val="000000"/>
                          </a:solidFill>
                          <a:effectLst/>
                          <a:latin typeface="Tw Cen MT" panose="020B0602020104020603" pitchFamily="34" charset="0"/>
                        </a:rPr>
                        <a:t>PV= CF/(1+r)^t</a:t>
                      </a:r>
                      <a:r>
                        <a:rPr lang="pt-BR" sz="2000" b="0" i="0">
                          <a:solidFill>
                            <a:srgbClr val="000000"/>
                          </a:solidFill>
                          <a:effectLst/>
                          <a:latin typeface="Tw Cen MT" panose="020B0602020104020603" pitchFamily="34" charset="0"/>
                        </a:rPr>
                        <a:t>​</a:t>
                      </a:r>
                      <a:endParaRPr lang="pt-BR"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1045658938"/>
                  </a:ext>
                </a:extLst>
              </a:tr>
              <a:tr h="749935">
                <a:tc>
                  <a:txBody>
                    <a:bodyPr/>
                    <a:lstStyle/>
                    <a:p>
                      <a:pPr algn="l" fontAlgn="base">
                        <a:lnSpc>
                          <a:spcPts val="2400"/>
                        </a:lnSpc>
                        <a:buNone/>
                      </a:pPr>
                      <a:r>
                        <a:rPr lang="en-US" sz="2000" b="0" i="0">
                          <a:solidFill>
                            <a:srgbClr val="000000"/>
                          </a:solidFill>
                          <a:effectLst/>
                          <a:latin typeface="Tw Cen MT" panose="020B0602020104020603" pitchFamily="34" charset="0"/>
                        </a:rPr>
                        <a:t>1​</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FFFFFF"/>
                    </a:solidFill>
                  </a:tcPr>
                </a:tc>
                <a:tc>
                  <a:txBody>
                    <a:bodyPr/>
                    <a:lstStyle/>
                    <a:p>
                      <a:pPr algn="l" fontAlgn="base">
                        <a:lnSpc>
                          <a:spcPts val="2400"/>
                        </a:lnSpc>
                        <a:buNone/>
                      </a:pPr>
                      <a:r>
                        <a:rPr lang="en-US" sz="2000" b="0" i="0">
                          <a:solidFill>
                            <a:srgbClr val="000000"/>
                          </a:solidFill>
                          <a:effectLst/>
                          <a:latin typeface="Tw Cen MT" panose="020B0602020104020603" pitchFamily="34" charset="0"/>
                        </a:rPr>
                        <a:t>$400000​</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FFFFFF"/>
                    </a:solidFill>
                  </a:tcPr>
                </a:tc>
                <a:tc>
                  <a:txBody>
                    <a:bodyPr/>
                    <a:lstStyle/>
                    <a:p>
                      <a:pPr algn="l" fontAlgn="base">
                        <a:lnSpc>
                          <a:spcPts val="2400"/>
                        </a:lnSpc>
                        <a:buNone/>
                      </a:pPr>
                      <a:r>
                        <a:rPr lang="en-US" sz="2000" b="0" i="0">
                          <a:solidFill>
                            <a:srgbClr val="000000"/>
                          </a:solidFill>
                          <a:effectLst/>
                          <a:latin typeface="Tw Cen MT" panose="020B0602020104020603" pitchFamily="34" charset="0"/>
                        </a:rPr>
                        <a:t>7%​</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FFFFFF"/>
                    </a:solidFill>
                  </a:tcPr>
                </a:tc>
                <a:tc>
                  <a:txBody>
                    <a:bodyPr/>
                    <a:lstStyle/>
                    <a:p>
                      <a:pPr algn="l" fontAlgn="base">
                        <a:lnSpc>
                          <a:spcPts val="2400"/>
                        </a:lnSpc>
                        <a:buNone/>
                      </a:pPr>
                      <a:r>
                        <a:rPr lang="en-US" sz="2000" b="0" i="0">
                          <a:solidFill>
                            <a:srgbClr val="000000"/>
                          </a:solidFill>
                          <a:effectLst/>
                          <a:latin typeface="Tw Cen MT" panose="020B0602020104020603" pitchFamily="34" charset="0"/>
                        </a:rPr>
                        <a:t>$373,831.78​</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517024816"/>
                  </a:ext>
                </a:extLst>
              </a:tr>
              <a:tr h="749935">
                <a:tc>
                  <a:txBody>
                    <a:bodyPr/>
                    <a:lstStyle/>
                    <a:p>
                      <a:pPr algn="l" fontAlgn="base">
                        <a:lnSpc>
                          <a:spcPts val="2400"/>
                        </a:lnSpc>
                        <a:buNone/>
                      </a:pPr>
                      <a:r>
                        <a:rPr lang="en-US" sz="2000" b="0" i="0">
                          <a:solidFill>
                            <a:srgbClr val="000000"/>
                          </a:solidFill>
                          <a:effectLst/>
                          <a:latin typeface="Tw Cen MT" panose="020B0602020104020603" pitchFamily="34" charset="0"/>
                        </a:rPr>
                        <a:t>2​</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E7E7E7"/>
                    </a:solidFill>
                  </a:tcPr>
                </a:tc>
                <a:tc>
                  <a:txBody>
                    <a:bodyPr/>
                    <a:lstStyle/>
                    <a:p>
                      <a:pPr algn="l" fontAlgn="base">
                        <a:lnSpc>
                          <a:spcPts val="2400"/>
                        </a:lnSpc>
                        <a:buNone/>
                      </a:pPr>
                      <a:r>
                        <a:rPr lang="en-US" sz="2000" b="0" i="0" u="none" strike="noStrike">
                          <a:solidFill>
                            <a:srgbClr val="000000"/>
                          </a:solidFill>
                          <a:effectLst/>
                          <a:latin typeface="Tw Cen MT" panose="020B0602020104020603" pitchFamily="34" charset="0"/>
                        </a:rPr>
                        <a:t>$400000</a:t>
                      </a:r>
                      <a:r>
                        <a:rPr lang="en-US" sz="2000" b="0" i="0">
                          <a:solidFill>
                            <a:srgbClr val="000000"/>
                          </a:solidFill>
                          <a:effectLst/>
                          <a:latin typeface="Tw Cen MT" panose="020B0602020104020603" pitchFamily="34" charset="0"/>
                        </a:rPr>
                        <a:t>​</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E7E7E7"/>
                    </a:solidFill>
                  </a:tcPr>
                </a:tc>
                <a:tc>
                  <a:txBody>
                    <a:bodyPr/>
                    <a:lstStyle/>
                    <a:p>
                      <a:pPr algn="l" fontAlgn="base">
                        <a:lnSpc>
                          <a:spcPts val="2400"/>
                        </a:lnSpc>
                        <a:buNone/>
                      </a:pPr>
                      <a:r>
                        <a:rPr lang="en-US" sz="2000" b="0" i="0" u="none" strike="noStrike">
                          <a:solidFill>
                            <a:srgbClr val="000000"/>
                          </a:solidFill>
                          <a:effectLst/>
                          <a:latin typeface="Tw Cen MT" panose="020B0602020104020603" pitchFamily="34" charset="0"/>
                        </a:rPr>
                        <a:t>7%</a:t>
                      </a:r>
                      <a:r>
                        <a:rPr lang="en-US" sz="2000" b="0" i="0">
                          <a:solidFill>
                            <a:srgbClr val="000000"/>
                          </a:solidFill>
                          <a:effectLst/>
                          <a:latin typeface="Tw Cen MT" panose="020B0602020104020603" pitchFamily="34" charset="0"/>
                        </a:rPr>
                        <a:t>​</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E7E7E7"/>
                    </a:solidFill>
                  </a:tcPr>
                </a:tc>
                <a:tc>
                  <a:txBody>
                    <a:bodyPr/>
                    <a:lstStyle/>
                    <a:p>
                      <a:pPr algn="l" fontAlgn="base">
                        <a:lnSpc>
                          <a:spcPts val="2400"/>
                        </a:lnSpc>
                        <a:buNone/>
                      </a:pPr>
                      <a:r>
                        <a:rPr lang="en-US" sz="2000" b="0" i="0">
                          <a:solidFill>
                            <a:srgbClr val="000000"/>
                          </a:solidFill>
                          <a:effectLst/>
                          <a:latin typeface="Tw Cen MT" panose="020B0602020104020603" pitchFamily="34" charset="0"/>
                        </a:rPr>
                        <a:t>$349,375.49​</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626947760"/>
                  </a:ext>
                </a:extLst>
              </a:tr>
              <a:tr h="749935">
                <a:tc>
                  <a:txBody>
                    <a:bodyPr/>
                    <a:lstStyle/>
                    <a:p>
                      <a:pPr algn="l" fontAlgn="base">
                        <a:lnSpc>
                          <a:spcPts val="2400"/>
                        </a:lnSpc>
                        <a:buNone/>
                      </a:pPr>
                      <a:r>
                        <a:rPr lang="en-US" sz="2000" b="0" i="0">
                          <a:solidFill>
                            <a:srgbClr val="000000"/>
                          </a:solidFill>
                          <a:effectLst/>
                          <a:latin typeface="Tw Cen MT" panose="020B0602020104020603" pitchFamily="34" charset="0"/>
                        </a:rPr>
                        <a:t>3​</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FFFFFF"/>
                    </a:solidFill>
                  </a:tcPr>
                </a:tc>
                <a:tc>
                  <a:txBody>
                    <a:bodyPr/>
                    <a:lstStyle/>
                    <a:p>
                      <a:pPr algn="l" fontAlgn="base">
                        <a:lnSpc>
                          <a:spcPts val="2400"/>
                        </a:lnSpc>
                        <a:buNone/>
                      </a:pPr>
                      <a:r>
                        <a:rPr lang="en-US" sz="2000" b="0" i="0" u="none" strike="noStrike">
                          <a:solidFill>
                            <a:srgbClr val="000000"/>
                          </a:solidFill>
                          <a:effectLst/>
                          <a:latin typeface="Tw Cen MT" panose="020B0602020104020603" pitchFamily="34" charset="0"/>
                        </a:rPr>
                        <a:t>$400000</a:t>
                      </a:r>
                      <a:r>
                        <a:rPr lang="en-US" sz="2000" b="0" i="0">
                          <a:solidFill>
                            <a:srgbClr val="000000"/>
                          </a:solidFill>
                          <a:effectLst/>
                          <a:latin typeface="Tw Cen MT" panose="020B0602020104020603" pitchFamily="34" charset="0"/>
                        </a:rPr>
                        <a:t>​</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FFFFFF"/>
                    </a:solidFill>
                  </a:tcPr>
                </a:tc>
                <a:tc>
                  <a:txBody>
                    <a:bodyPr/>
                    <a:lstStyle/>
                    <a:p>
                      <a:pPr algn="l" fontAlgn="base">
                        <a:lnSpc>
                          <a:spcPts val="2400"/>
                        </a:lnSpc>
                        <a:buNone/>
                      </a:pPr>
                      <a:r>
                        <a:rPr lang="en-US" sz="2000" b="0" i="0" u="none" strike="noStrike">
                          <a:solidFill>
                            <a:srgbClr val="000000"/>
                          </a:solidFill>
                          <a:effectLst/>
                          <a:latin typeface="Tw Cen MT" panose="020B0602020104020603" pitchFamily="34" charset="0"/>
                        </a:rPr>
                        <a:t>7%</a:t>
                      </a:r>
                      <a:r>
                        <a:rPr lang="en-US" sz="2000" b="0" i="0">
                          <a:solidFill>
                            <a:srgbClr val="000000"/>
                          </a:solidFill>
                          <a:effectLst/>
                          <a:latin typeface="Tw Cen MT" panose="020B0602020104020603" pitchFamily="34" charset="0"/>
                        </a:rPr>
                        <a:t>​</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FFFFFF"/>
                    </a:solidFill>
                  </a:tcPr>
                </a:tc>
                <a:tc>
                  <a:txBody>
                    <a:bodyPr/>
                    <a:lstStyle/>
                    <a:p>
                      <a:pPr algn="l" fontAlgn="base">
                        <a:lnSpc>
                          <a:spcPts val="2400"/>
                        </a:lnSpc>
                        <a:buNone/>
                      </a:pPr>
                      <a:r>
                        <a:rPr lang="en-US" sz="2000" b="0" i="0">
                          <a:solidFill>
                            <a:srgbClr val="000000"/>
                          </a:solidFill>
                          <a:effectLst/>
                          <a:latin typeface="Tw Cen MT" panose="020B0602020104020603" pitchFamily="34" charset="0"/>
                        </a:rPr>
                        <a:t>$326,519.15​</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244330018"/>
                  </a:ext>
                </a:extLst>
              </a:tr>
              <a:tr h="749935">
                <a:tc>
                  <a:txBody>
                    <a:bodyPr/>
                    <a:lstStyle/>
                    <a:p>
                      <a:pPr algn="l" fontAlgn="base">
                        <a:lnSpc>
                          <a:spcPts val="2400"/>
                        </a:lnSpc>
                        <a:buNone/>
                      </a:pPr>
                      <a:r>
                        <a:rPr lang="en-US" sz="2000" b="0" i="0">
                          <a:solidFill>
                            <a:srgbClr val="000000"/>
                          </a:solidFill>
                          <a:effectLst/>
                          <a:latin typeface="Tw Cen MT" panose="020B0602020104020603" pitchFamily="34" charset="0"/>
                        </a:rPr>
                        <a:t>4​</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E7E7E7"/>
                    </a:solidFill>
                  </a:tcPr>
                </a:tc>
                <a:tc>
                  <a:txBody>
                    <a:bodyPr/>
                    <a:lstStyle/>
                    <a:p>
                      <a:pPr algn="l" fontAlgn="base">
                        <a:lnSpc>
                          <a:spcPts val="2400"/>
                        </a:lnSpc>
                        <a:buNone/>
                      </a:pPr>
                      <a:r>
                        <a:rPr lang="en-US" sz="2000" b="0" i="0" u="none" strike="noStrike">
                          <a:solidFill>
                            <a:srgbClr val="000000"/>
                          </a:solidFill>
                          <a:effectLst/>
                          <a:latin typeface="Tw Cen MT" panose="020B0602020104020603" pitchFamily="34" charset="0"/>
                        </a:rPr>
                        <a:t>$600000</a:t>
                      </a:r>
                      <a:r>
                        <a:rPr lang="en-US" sz="2000" b="0" i="0">
                          <a:solidFill>
                            <a:srgbClr val="000000"/>
                          </a:solidFill>
                          <a:effectLst/>
                          <a:latin typeface="Tw Cen MT" panose="020B0602020104020603" pitchFamily="34" charset="0"/>
                        </a:rPr>
                        <a:t>​</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E7E7E7"/>
                    </a:solidFill>
                  </a:tcPr>
                </a:tc>
                <a:tc>
                  <a:txBody>
                    <a:bodyPr/>
                    <a:lstStyle/>
                    <a:p>
                      <a:pPr algn="l" fontAlgn="base">
                        <a:lnSpc>
                          <a:spcPts val="2400"/>
                        </a:lnSpc>
                        <a:buNone/>
                      </a:pPr>
                      <a:r>
                        <a:rPr lang="en-US" sz="2000" b="0" i="0" u="none" strike="noStrike">
                          <a:solidFill>
                            <a:srgbClr val="000000"/>
                          </a:solidFill>
                          <a:effectLst/>
                          <a:latin typeface="Tw Cen MT" panose="020B0602020104020603" pitchFamily="34" charset="0"/>
                        </a:rPr>
                        <a:t>7%</a:t>
                      </a:r>
                      <a:r>
                        <a:rPr lang="en-US" sz="2000" b="0" i="0">
                          <a:solidFill>
                            <a:srgbClr val="000000"/>
                          </a:solidFill>
                          <a:effectLst/>
                          <a:latin typeface="Tw Cen MT" panose="020B0602020104020603" pitchFamily="34" charset="0"/>
                        </a:rPr>
                        <a:t>​</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E7E7E7"/>
                    </a:solidFill>
                  </a:tcPr>
                </a:tc>
                <a:tc>
                  <a:txBody>
                    <a:bodyPr/>
                    <a:lstStyle/>
                    <a:p>
                      <a:pPr algn="l" fontAlgn="base">
                        <a:lnSpc>
                          <a:spcPts val="2400"/>
                        </a:lnSpc>
                        <a:buNone/>
                      </a:pPr>
                      <a:r>
                        <a:rPr lang="en-US" sz="2000" b="0" i="0">
                          <a:solidFill>
                            <a:srgbClr val="000000"/>
                          </a:solidFill>
                          <a:effectLst/>
                          <a:latin typeface="Tw Cen MT" panose="020B0602020104020603" pitchFamily="34" charset="0"/>
                        </a:rPr>
                        <a:t>$457,737.13​</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220212834"/>
                  </a:ext>
                </a:extLst>
              </a:tr>
              <a:tr h="749935">
                <a:tc>
                  <a:txBody>
                    <a:bodyPr/>
                    <a:lstStyle/>
                    <a:p>
                      <a:pPr algn="l" fontAlgn="base">
                        <a:lnSpc>
                          <a:spcPts val="2400"/>
                        </a:lnSpc>
                        <a:buNone/>
                      </a:pPr>
                      <a:r>
                        <a:rPr lang="en-US" sz="2000" b="0" i="0">
                          <a:solidFill>
                            <a:srgbClr val="000000"/>
                          </a:solidFill>
                          <a:effectLst/>
                          <a:latin typeface="Tw Cen MT" panose="020B0602020104020603" pitchFamily="34" charset="0"/>
                        </a:rPr>
                        <a:t>5​</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FFFFFF"/>
                    </a:solidFill>
                  </a:tcPr>
                </a:tc>
                <a:tc>
                  <a:txBody>
                    <a:bodyPr/>
                    <a:lstStyle/>
                    <a:p>
                      <a:pPr algn="l" fontAlgn="base">
                        <a:lnSpc>
                          <a:spcPts val="2400"/>
                        </a:lnSpc>
                        <a:buNone/>
                      </a:pPr>
                      <a:r>
                        <a:rPr lang="en-US" sz="2000" b="0" i="0" u="none" strike="noStrike">
                          <a:solidFill>
                            <a:srgbClr val="000000"/>
                          </a:solidFill>
                          <a:effectLst/>
                          <a:latin typeface="Tw Cen MT" panose="020B0602020104020603" pitchFamily="34" charset="0"/>
                        </a:rPr>
                        <a:t>$600000</a:t>
                      </a:r>
                      <a:r>
                        <a:rPr lang="en-US" sz="2000" b="0" i="0">
                          <a:solidFill>
                            <a:srgbClr val="000000"/>
                          </a:solidFill>
                          <a:effectLst/>
                          <a:latin typeface="Tw Cen MT" panose="020B0602020104020603" pitchFamily="34" charset="0"/>
                        </a:rPr>
                        <a:t>​</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FFFFFF"/>
                    </a:solidFill>
                  </a:tcPr>
                </a:tc>
                <a:tc>
                  <a:txBody>
                    <a:bodyPr/>
                    <a:lstStyle/>
                    <a:p>
                      <a:pPr algn="l" fontAlgn="base">
                        <a:lnSpc>
                          <a:spcPts val="2400"/>
                        </a:lnSpc>
                        <a:buNone/>
                      </a:pPr>
                      <a:r>
                        <a:rPr lang="en-US" sz="2000" b="0" i="0" u="none" strike="noStrike">
                          <a:solidFill>
                            <a:srgbClr val="000000"/>
                          </a:solidFill>
                          <a:effectLst/>
                          <a:latin typeface="Tw Cen MT" panose="020B0602020104020603" pitchFamily="34" charset="0"/>
                        </a:rPr>
                        <a:t>7%</a:t>
                      </a:r>
                      <a:r>
                        <a:rPr lang="en-US" sz="2000" b="0" i="0">
                          <a:solidFill>
                            <a:srgbClr val="000000"/>
                          </a:solidFill>
                          <a:effectLst/>
                          <a:latin typeface="Tw Cen MT" panose="020B0602020104020603" pitchFamily="34" charset="0"/>
                        </a:rPr>
                        <a:t>​</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FFFFFF"/>
                    </a:solidFill>
                  </a:tcPr>
                </a:tc>
                <a:tc>
                  <a:txBody>
                    <a:bodyPr/>
                    <a:lstStyle/>
                    <a:p>
                      <a:pPr algn="l" fontAlgn="base">
                        <a:lnSpc>
                          <a:spcPts val="2400"/>
                        </a:lnSpc>
                        <a:buNone/>
                      </a:pPr>
                      <a:r>
                        <a:rPr lang="en-US" sz="2000" b="0" i="0" dirty="0">
                          <a:solidFill>
                            <a:srgbClr val="000000"/>
                          </a:solidFill>
                          <a:effectLst/>
                          <a:latin typeface="Tw Cen MT" panose="020B0602020104020603" pitchFamily="34" charset="0"/>
                        </a:rPr>
                        <a:t>$427,791.71​</a:t>
                      </a:r>
                      <a:endParaRPr lang="en-US" b="0" i="0" dirty="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538489672"/>
                  </a:ext>
                </a:extLst>
              </a:tr>
              <a:tr h="749935">
                <a:tc gridSpan="3">
                  <a:txBody>
                    <a:bodyPr/>
                    <a:lstStyle/>
                    <a:p>
                      <a:pPr algn="l" fontAlgn="base">
                        <a:lnSpc>
                          <a:spcPts val="2400"/>
                        </a:lnSpc>
                        <a:buNone/>
                      </a:pPr>
                      <a:r>
                        <a:rPr lang="en-US" sz="2000" b="1" i="0">
                          <a:solidFill>
                            <a:srgbClr val="000000"/>
                          </a:solidFill>
                          <a:effectLst/>
                          <a:latin typeface="Tw Cen MT" panose="020B0602020104020603" pitchFamily="34" charset="0"/>
                        </a:rPr>
                        <a:t>Total Present Value</a:t>
                      </a:r>
                      <a:r>
                        <a:rPr lang="en-US" sz="2000" b="0" i="0">
                          <a:solidFill>
                            <a:srgbClr val="000000"/>
                          </a:solidFill>
                          <a:effectLst/>
                          <a:latin typeface="Tw Cen MT" panose="020B0602020104020603" pitchFamily="34" charset="0"/>
                        </a:rPr>
                        <a:t>​</a:t>
                      </a:r>
                      <a:endParaRPr lang="en-US" b="0" i="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E7E7E7"/>
                    </a:solidFill>
                  </a:tcPr>
                </a:tc>
                <a:tc hMerge="1">
                  <a:txBody>
                    <a:bodyPr/>
                    <a:lstStyle/>
                    <a:p>
                      <a:endParaRPr lang="en-IN"/>
                    </a:p>
                  </a:txBody>
                  <a:tcPr/>
                </a:tc>
                <a:tc hMerge="1">
                  <a:txBody>
                    <a:bodyPr/>
                    <a:lstStyle/>
                    <a:p>
                      <a:endParaRPr lang="en-IN"/>
                    </a:p>
                  </a:txBody>
                  <a:tcPr/>
                </a:tc>
                <a:tc>
                  <a:txBody>
                    <a:bodyPr/>
                    <a:lstStyle/>
                    <a:p>
                      <a:pPr algn="l" fontAlgn="base">
                        <a:lnSpc>
                          <a:spcPts val="2400"/>
                        </a:lnSpc>
                        <a:buNone/>
                      </a:pPr>
                      <a:r>
                        <a:rPr lang="en-US" sz="2000" b="0" i="0" dirty="0">
                          <a:solidFill>
                            <a:srgbClr val="000000"/>
                          </a:solidFill>
                          <a:effectLst/>
                          <a:latin typeface="Tw Cen MT" panose="020B0602020104020603" pitchFamily="34" charset="0"/>
                        </a:rPr>
                        <a:t>$1,935,255.25​</a:t>
                      </a:r>
                      <a:endParaRPr lang="en-US" b="0" i="0" dirty="0">
                        <a:solidFill>
                          <a:srgbClr val="000000"/>
                        </a:solidFill>
                        <a:effectLst/>
                      </a:endParaRPr>
                    </a:p>
                  </a:txBody>
                  <a:tcPr>
                    <a:lnL w="11906" cap="flat" cmpd="sng" algn="ctr">
                      <a:solidFill>
                        <a:srgbClr val="000000"/>
                      </a:solidFill>
                      <a:prstDash val="solid"/>
                      <a:round/>
                      <a:headEnd type="none" w="med" len="med"/>
                      <a:tailEnd type="none" w="med" len="med"/>
                    </a:lnL>
                    <a:lnR w="11906" cap="flat" cmpd="sng" algn="ctr">
                      <a:solidFill>
                        <a:srgbClr val="000000"/>
                      </a:solidFill>
                      <a:prstDash val="solid"/>
                      <a:round/>
                      <a:headEnd type="none" w="med" len="med"/>
                      <a:tailEnd type="none" w="med" len="med"/>
                    </a:lnR>
                    <a:lnT w="11906" cap="flat" cmpd="sng" algn="ctr">
                      <a:solidFill>
                        <a:srgbClr val="000000"/>
                      </a:solidFill>
                      <a:prstDash val="solid"/>
                      <a:round/>
                      <a:headEnd type="none" w="med" len="med"/>
                      <a:tailEnd type="none" w="med" len="med"/>
                    </a:lnT>
                    <a:lnB w="11906"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706175970"/>
                  </a:ext>
                </a:extLst>
              </a:tr>
            </a:tbl>
          </a:graphicData>
        </a:graphic>
      </p:graphicFrame>
      <p:sp>
        <p:nvSpPr>
          <p:cNvPr id="6" name="Rectangle 1">
            <a:extLst>
              <a:ext uri="{FF2B5EF4-FFF2-40B4-BE49-F238E27FC236}">
                <a16:creationId xmlns:a16="http://schemas.microsoft.com/office/drawing/2014/main" id="{0C4806DC-C0AA-E56F-C0C1-DD7C071D4D3F}"/>
              </a:ext>
            </a:extLst>
          </p:cNvPr>
          <p:cNvSpPr>
            <a:spLocks noChangeArrowheads="1"/>
          </p:cNvSpPr>
          <p:nvPr/>
        </p:nvSpPr>
        <p:spPr bwMode="auto">
          <a:xfrm>
            <a:off x="1847850" y="1862138"/>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8">
            <a:extLst>
              <a:ext uri="{FF2B5EF4-FFF2-40B4-BE49-F238E27FC236}">
                <a16:creationId xmlns:a16="http://schemas.microsoft.com/office/drawing/2014/main" id="{5D1E51E4-EE49-3C12-5203-B621C23FAE0E}"/>
              </a:ext>
            </a:extLst>
          </p:cNvPr>
          <p:cNvSpPr txBox="1"/>
          <p:nvPr/>
        </p:nvSpPr>
        <p:spPr>
          <a:xfrm>
            <a:off x="10692382" y="2502726"/>
            <a:ext cx="6300218" cy="2062103"/>
          </a:xfrm>
          <a:prstGeom prst="rect">
            <a:avLst/>
          </a:prstGeom>
          <a:noFill/>
          <a:ln>
            <a:solidFill>
              <a:schemeClr val="tx1"/>
            </a:solidFill>
          </a:ln>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3200" b="1" dirty="0">
                <a:latin typeface="TW Cen MT"/>
              </a:rPr>
              <a:t>Total Cost Without Overhead</a:t>
            </a:r>
          </a:p>
          <a:p>
            <a:r>
              <a:rPr lang="en-US" sz="3200" b="1" dirty="0">
                <a:latin typeface="TW Cen MT"/>
              </a:rPr>
              <a:t>Project Cost = </a:t>
            </a:r>
            <a:r>
              <a:rPr lang="en-US" sz="3200" b="1" dirty="0">
                <a:latin typeface="TW Cen MT"/>
                <a:ea typeface="+mn-lt"/>
                <a:cs typeface="+mn-lt"/>
              </a:rPr>
              <a:t> $ 1,750,800</a:t>
            </a:r>
            <a:endParaRPr lang="en-US" sz="3200" b="1" dirty="0">
              <a:latin typeface="TW Cen MT"/>
            </a:endParaRPr>
          </a:p>
          <a:p>
            <a:r>
              <a:rPr lang="en-US" sz="3200" b="1" dirty="0">
                <a:latin typeface="TW Cen MT"/>
                <a:ea typeface="+mn-lt"/>
                <a:cs typeface="+mn-lt"/>
              </a:rPr>
              <a:t>Total PV = $1,935,255.25</a:t>
            </a:r>
          </a:p>
          <a:p>
            <a:r>
              <a:rPr lang="en-US" sz="3200" b="1" dirty="0">
                <a:latin typeface="TW Cen MT"/>
                <a:ea typeface="+mn-lt"/>
                <a:cs typeface="+mn-lt"/>
              </a:rPr>
              <a:t>NPV = </a:t>
            </a:r>
            <a:r>
              <a:rPr lang="en-US" sz="3200" b="1" dirty="0">
                <a:solidFill>
                  <a:schemeClr val="accent3"/>
                </a:solidFill>
                <a:latin typeface="TW Cen MT"/>
                <a:ea typeface="+mn-lt"/>
                <a:cs typeface="+mn-lt"/>
              </a:rPr>
              <a:t>$184,455.25</a:t>
            </a:r>
          </a:p>
        </p:txBody>
      </p:sp>
      <p:sp>
        <p:nvSpPr>
          <p:cNvPr id="9" name="TextBox 11">
            <a:extLst>
              <a:ext uri="{FF2B5EF4-FFF2-40B4-BE49-F238E27FC236}">
                <a16:creationId xmlns:a16="http://schemas.microsoft.com/office/drawing/2014/main" id="{6686AE1F-C3E5-C39A-9A84-79A4633966F0}"/>
              </a:ext>
            </a:extLst>
          </p:cNvPr>
          <p:cNvSpPr txBox="1"/>
          <p:nvPr/>
        </p:nvSpPr>
        <p:spPr>
          <a:xfrm>
            <a:off x="10692382" y="5413343"/>
            <a:ext cx="6300218" cy="2062103"/>
          </a:xfrm>
          <a:prstGeom prst="rect">
            <a:avLst/>
          </a:prstGeom>
          <a:noFill/>
          <a:ln>
            <a:solidFill>
              <a:schemeClr val="tx1"/>
            </a:solidFill>
          </a:ln>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3200" b="1" dirty="0">
                <a:latin typeface="TW Cen MT"/>
              </a:rPr>
              <a:t>Total Cost With Overhead </a:t>
            </a:r>
          </a:p>
          <a:p>
            <a:r>
              <a:rPr lang="en-US" sz="3200" b="1" dirty="0">
                <a:latin typeface="TW Cen MT"/>
              </a:rPr>
              <a:t>Project Cost = </a:t>
            </a:r>
            <a:r>
              <a:rPr lang="en-US" sz="3200" b="1" dirty="0">
                <a:latin typeface="TW Cen MT"/>
                <a:ea typeface="+mn-lt"/>
                <a:cs typeface="+mn-lt"/>
              </a:rPr>
              <a:t> $ 2,100,960</a:t>
            </a:r>
          </a:p>
          <a:p>
            <a:r>
              <a:rPr lang="en-US" sz="3200" b="1" dirty="0">
                <a:latin typeface="TW Cen MT"/>
                <a:ea typeface="+mn-lt"/>
                <a:cs typeface="+mn-lt"/>
              </a:rPr>
              <a:t>Total PV = $ 1,935,255.25</a:t>
            </a:r>
          </a:p>
          <a:p>
            <a:r>
              <a:rPr lang="en-US" sz="3200" b="1" dirty="0">
                <a:latin typeface="TW Cen MT"/>
                <a:ea typeface="+mn-lt"/>
                <a:cs typeface="+mn-lt"/>
              </a:rPr>
              <a:t>NPV = </a:t>
            </a:r>
            <a:r>
              <a:rPr lang="en-US" sz="3200" b="1" dirty="0">
                <a:solidFill>
                  <a:srgbClr val="FF0000"/>
                </a:solidFill>
                <a:latin typeface="TW Cen MT"/>
                <a:ea typeface="+mn-lt"/>
                <a:cs typeface="+mn-lt"/>
              </a:rPr>
              <a:t>$ (165,704.75)</a:t>
            </a:r>
          </a:p>
        </p:txBody>
      </p:sp>
    </p:spTree>
    <p:extLst>
      <p:ext uri="{BB962C8B-B14F-4D97-AF65-F5344CB8AC3E}">
        <p14:creationId xmlns:p14="http://schemas.microsoft.com/office/powerpoint/2010/main" val="33776707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chemeClr val="bg2">
                <a:lumMod val="50000"/>
              </a:schemeClr>
            </a:gs>
            <a:gs pos="100000">
              <a:srgbClr val="FFFFFF">
                <a:alpha val="100000"/>
              </a:srgbClr>
            </a:gs>
          </a:gsLst>
          <a:lin ang="0" scaled="0"/>
        </a:gradFill>
        <a:effectLst/>
      </p:bgPr>
    </p:bg>
    <p:spTree>
      <p:nvGrpSpPr>
        <p:cNvPr id="1" name="">
          <a:extLst>
            <a:ext uri="{FF2B5EF4-FFF2-40B4-BE49-F238E27FC236}">
              <a16:creationId xmlns:a16="http://schemas.microsoft.com/office/drawing/2014/main" id="{419F6605-FB1A-5C85-ABFD-AB3435DF34E5}"/>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DB50C29D-0C85-2638-2F8B-7025446732D9}"/>
              </a:ext>
            </a:extLst>
          </p:cNvPr>
          <p:cNvGrpSpPr/>
          <p:nvPr/>
        </p:nvGrpSpPr>
        <p:grpSpPr>
          <a:xfrm>
            <a:off x="-18288" y="-1485900"/>
            <a:ext cx="27584990" cy="11974016"/>
            <a:chOff x="0" y="0"/>
            <a:chExt cx="7265182" cy="3153650"/>
          </a:xfrm>
          <a:gradFill>
            <a:gsLst>
              <a:gs pos="0">
                <a:schemeClr val="accent6">
                  <a:lumMod val="40000"/>
                  <a:lumOff val="60000"/>
                </a:schemeClr>
              </a:gs>
              <a:gs pos="100000">
                <a:srgbClr val="FFFFFF">
                  <a:alpha val="100000"/>
                </a:srgbClr>
              </a:gs>
            </a:gsLst>
            <a:lin ang="0" scaled="0"/>
          </a:gradFill>
        </p:grpSpPr>
        <p:sp>
          <p:nvSpPr>
            <p:cNvPr id="3" name="Freeform 3">
              <a:extLst>
                <a:ext uri="{FF2B5EF4-FFF2-40B4-BE49-F238E27FC236}">
                  <a16:creationId xmlns:a16="http://schemas.microsoft.com/office/drawing/2014/main" id="{F6FA82D5-6A58-D2C5-9E91-B19748362D68}"/>
                </a:ext>
              </a:extLst>
            </p:cNvPr>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p:spPr>
          <p:txBody>
            <a:bodyPr/>
            <a:lstStyle/>
            <a:p>
              <a:endParaRPr lang="en-IN"/>
            </a:p>
          </p:txBody>
        </p:sp>
        <p:sp>
          <p:nvSpPr>
            <p:cNvPr id="4" name="TextBox 4">
              <a:extLst>
                <a:ext uri="{FF2B5EF4-FFF2-40B4-BE49-F238E27FC236}">
                  <a16:creationId xmlns:a16="http://schemas.microsoft.com/office/drawing/2014/main" id="{49269552-7303-9B7E-9DB3-D8CC2AAA0A94}"/>
                </a:ext>
              </a:extLst>
            </p:cNvPr>
            <p:cNvSpPr txBox="1"/>
            <p:nvPr/>
          </p:nvSpPr>
          <p:spPr>
            <a:xfrm>
              <a:off x="0" y="-38100"/>
              <a:ext cx="7265182" cy="3191750"/>
            </a:xfrm>
            <a:prstGeom prst="rect">
              <a:avLst/>
            </a:prstGeom>
            <a:grpFill/>
          </p:spPr>
          <p:txBody>
            <a:bodyPr lIns="50800" tIns="50800" rIns="50800" bIns="50800" rtlCol="0" anchor="ctr"/>
            <a:lstStyle/>
            <a:p>
              <a:pPr algn="ctr">
                <a:lnSpc>
                  <a:spcPts val="3359"/>
                </a:lnSpc>
              </a:pPr>
              <a:endParaRPr/>
            </a:p>
          </p:txBody>
        </p:sp>
      </p:grpSp>
      <p:sp>
        <p:nvSpPr>
          <p:cNvPr id="7" name="AutoShape 7">
            <a:extLst>
              <a:ext uri="{FF2B5EF4-FFF2-40B4-BE49-F238E27FC236}">
                <a16:creationId xmlns:a16="http://schemas.microsoft.com/office/drawing/2014/main" id="{A111E9BA-B4A3-10EB-F834-C7A78C7E8326}"/>
              </a:ext>
            </a:extLst>
          </p:cNvPr>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1" name="TextBox 11">
            <a:extLst>
              <a:ext uri="{FF2B5EF4-FFF2-40B4-BE49-F238E27FC236}">
                <a16:creationId xmlns:a16="http://schemas.microsoft.com/office/drawing/2014/main" id="{0D3B2F70-A733-A288-7B36-6A914C127C69}"/>
              </a:ext>
            </a:extLst>
          </p:cNvPr>
          <p:cNvSpPr txBox="1"/>
          <p:nvPr/>
        </p:nvSpPr>
        <p:spPr>
          <a:xfrm rot="-5400000">
            <a:off x="-1686896" y="7498874"/>
            <a:ext cx="4498668" cy="564257"/>
          </a:xfrm>
          <a:prstGeom prst="rect">
            <a:avLst/>
          </a:prstGeom>
        </p:spPr>
        <p:txBody>
          <a:bodyPr lIns="0" tIns="0" rIns="0" bIns="0" rtlCol="0" anchor="t">
            <a:spAutoFit/>
          </a:bodyPr>
          <a:lstStyle/>
          <a:p>
            <a:pPr>
              <a:lnSpc>
                <a:spcPts val="2160"/>
              </a:lnSpc>
            </a:pPr>
            <a:r>
              <a:rPr lang="en-US" dirty="0">
                <a:solidFill>
                  <a:schemeClr val="tx2"/>
                </a:solidFill>
                <a:latin typeface="Georgia Pro" panose="02040502050405020303" pitchFamily="18" charset="0"/>
              </a:rPr>
              <a:t>POM+ Singapore </a:t>
            </a:r>
            <a:endParaRPr lang="en-US" spc="-53" dirty="0">
              <a:solidFill>
                <a:schemeClr val="tx2"/>
              </a:solidFill>
              <a:latin typeface="Georgia Pro" panose="02040502050405020303" pitchFamily="18" charset="0"/>
              <a:ea typeface="Nunito Sans"/>
              <a:cs typeface="Nunito Sans"/>
              <a:sym typeface="Nunito Sans"/>
            </a:endParaRPr>
          </a:p>
          <a:p>
            <a:pPr algn="l">
              <a:lnSpc>
                <a:spcPts val="2160"/>
              </a:lnSpc>
            </a:pPr>
            <a:endParaRPr lang="en-US" sz="1800" spc="-53" dirty="0">
              <a:solidFill>
                <a:srgbClr val="03286A"/>
              </a:solidFill>
              <a:latin typeface="Nunito Sans"/>
              <a:ea typeface="Nunito Sans"/>
              <a:cs typeface="Nunito Sans"/>
              <a:sym typeface="Nunito Sans"/>
            </a:endParaRPr>
          </a:p>
        </p:txBody>
      </p:sp>
      <p:sp>
        <p:nvSpPr>
          <p:cNvPr id="24" name="TextBox 24">
            <a:extLst>
              <a:ext uri="{FF2B5EF4-FFF2-40B4-BE49-F238E27FC236}">
                <a16:creationId xmlns:a16="http://schemas.microsoft.com/office/drawing/2014/main" id="{18482395-AAFA-3888-EB37-140B3235B9EC}"/>
              </a:ext>
            </a:extLst>
          </p:cNvPr>
          <p:cNvSpPr txBox="1"/>
          <p:nvPr/>
        </p:nvSpPr>
        <p:spPr>
          <a:xfrm>
            <a:off x="9258527" y="8777753"/>
            <a:ext cx="8000773" cy="356235"/>
          </a:xfrm>
          <a:prstGeom prst="rect">
            <a:avLst/>
          </a:prstGeom>
        </p:spPr>
        <p:txBody>
          <a:bodyPr lIns="0" tIns="0" rIns="0" bIns="0" rtlCol="0" anchor="t">
            <a:spAutoFit/>
          </a:bodyPr>
          <a:lstStyle/>
          <a:p>
            <a:pPr marL="0" lvl="0" indent="0" algn="l">
              <a:lnSpc>
                <a:spcPts val="2940"/>
              </a:lnSpc>
              <a:spcBef>
                <a:spcPct val="0"/>
              </a:spcBef>
            </a:pPr>
            <a:r>
              <a:rPr lang="en-US" sz="2100" dirty="0">
                <a:solidFill>
                  <a:srgbClr val="03286A"/>
                </a:solidFill>
                <a:latin typeface="Nunito Sans Light"/>
                <a:ea typeface="Nunito Sans Light"/>
                <a:cs typeface="Nunito Sans Light"/>
                <a:sym typeface="Nunito Sans Light"/>
              </a:rPr>
              <a:t>. </a:t>
            </a:r>
          </a:p>
        </p:txBody>
      </p:sp>
      <p:sp>
        <p:nvSpPr>
          <p:cNvPr id="27" name="TextBox 10">
            <a:extLst>
              <a:ext uri="{FF2B5EF4-FFF2-40B4-BE49-F238E27FC236}">
                <a16:creationId xmlns:a16="http://schemas.microsoft.com/office/drawing/2014/main" id="{A6849E69-E7D0-8D5F-BE62-46BBB52B2FA5}"/>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
        <p:nvSpPr>
          <p:cNvPr id="28" name="TextBox 27">
            <a:extLst>
              <a:ext uri="{FF2B5EF4-FFF2-40B4-BE49-F238E27FC236}">
                <a16:creationId xmlns:a16="http://schemas.microsoft.com/office/drawing/2014/main" id="{F465D446-5DB8-20CA-7635-AD65E56D883A}"/>
              </a:ext>
            </a:extLst>
          </p:cNvPr>
          <p:cNvSpPr txBox="1"/>
          <p:nvPr/>
        </p:nvSpPr>
        <p:spPr>
          <a:xfrm>
            <a:off x="2209800" y="575220"/>
            <a:ext cx="8458198" cy="646331"/>
          </a:xfrm>
          <a:prstGeom prst="rect">
            <a:avLst/>
          </a:prstGeom>
          <a:noFill/>
        </p:spPr>
        <p:txBody>
          <a:bodyPr wrap="square" rtlCol="0">
            <a:spAutoFit/>
          </a:bodyPr>
          <a:lstStyle/>
          <a:p>
            <a:r>
              <a:rPr lang="en-IN" sz="3600" dirty="0">
                <a:latin typeface="Georgia Pro" panose="02040502050405020303" pitchFamily="18" charset="0"/>
              </a:rPr>
              <a:t>Project NPV (With Overhead)​</a:t>
            </a:r>
          </a:p>
        </p:txBody>
      </p:sp>
      <p:sp>
        <p:nvSpPr>
          <p:cNvPr id="6" name="Rectangle 1">
            <a:extLst>
              <a:ext uri="{FF2B5EF4-FFF2-40B4-BE49-F238E27FC236}">
                <a16:creationId xmlns:a16="http://schemas.microsoft.com/office/drawing/2014/main" id="{DC187E02-4F27-4B52-CBAC-7904008D60A2}"/>
              </a:ext>
            </a:extLst>
          </p:cNvPr>
          <p:cNvSpPr>
            <a:spLocks noChangeArrowheads="1"/>
          </p:cNvSpPr>
          <p:nvPr/>
        </p:nvSpPr>
        <p:spPr bwMode="auto">
          <a:xfrm>
            <a:off x="1847850" y="1862138"/>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0" name="TextBox 9">
            <a:extLst>
              <a:ext uri="{FF2B5EF4-FFF2-40B4-BE49-F238E27FC236}">
                <a16:creationId xmlns:a16="http://schemas.microsoft.com/office/drawing/2014/main" id="{2CBE01CB-409F-6E14-9585-887FEF46A4E9}"/>
              </a:ext>
            </a:extLst>
          </p:cNvPr>
          <p:cNvSpPr txBox="1"/>
          <p:nvPr/>
        </p:nvSpPr>
        <p:spPr>
          <a:xfrm>
            <a:off x="2209800" y="2095500"/>
            <a:ext cx="13563592" cy="7263527"/>
          </a:xfrm>
          <a:prstGeom prst="rect">
            <a:avLst/>
          </a:prstGeom>
          <a:noFill/>
        </p:spPr>
        <p:txBody>
          <a:bodyPr wrap="square" rtlCol="0">
            <a:spAutoFit/>
          </a:bodyPr>
          <a:lstStyle/>
          <a:p>
            <a:pPr fontAlgn="base"/>
            <a:r>
              <a:rPr lang="en-US" sz="2800" b="1" dirty="0">
                <a:latin typeface="Nunito Sans" pitchFamily="2" charset="0"/>
              </a:rPr>
              <a:t>Recommendation:-</a:t>
            </a:r>
            <a:r>
              <a:rPr lang="en-US" sz="2800" dirty="0">
                <a:latin typeface="Nunito Sans" pitchFamily="2" charset="0"/>
              </a:rPr>
              <a:t>​</a:t>
            </a:r>
            <a:br>
              <a:rPr lang="en-US" sz="2800" dirty="0">
                <a:latin typeface="Nunito Sans" pitchFamily="2" charset="0"/>
              </a:rPr>
            </a:br>
            <a:endParaRPr lang="en-US" sz="2800" dirty="0">
              <a:latin typeface="Nunito Sans" pitchFamily="2" charset="0"/>
            </a:endParaRPr>
          </a:p>
          <a:p>
            <a:pPr fontAlgn="base"/>
            <a:r>
              <a:rPr lang="en-US" sz="2800" dirty="0">
                <a:latin typeface="Nunito Sans" pitchFamily="2" charset="0"/>
              </a:rPr>
              <a:t>The project is financially attractive only when overhead is excluded, showing a positive NPV. When the 20% overhead is applied, the NPV becomes negative, making the project unattractive. This clearly shows that overhead costs are the main factor affecting project viability.​</a:t>
            </a:r>
          </a:p>
          <a:p>
            <a:pPr fontAlgn="base"/>
            <a:r>
              <a:rPr lang="en-US" sz="2800" dirty="0">
                <a:latin typeface="Nunito Sans" pitchFamily="2" charset="0"/>
              </a:rPr>
              <a:t>​</a:t>
            </a:r>
          </a:p>
          <a:p>
            <a:pPr fontAlgn="base"/>
            <a:r>
              <a:rPr lang="en-US" sz="2800" b="1" dirty="0">
                <a:latin typeface="Nunito Sans" pitchFamily="2" charset="0"/>
              </a:rPr>
              <a:t>Non-Financial Considerations:-</a:t>
            </a:r>
            <a:r>
              <a:rPr lang="en-US" sz="2800" dirty="0">
                <a:latin typeface="Nunito Sans" pitchFamily="2" charset="0"/>
              </a:rPr>
              <a:t>​</a:t>
            </a:r>
            <a:br>
              <a:rPr lang="en-US" sz="2800" dirty="0">
                <a:latin typeface="Nunito Sans" pitchFamily="2" charset="0"/>
              </a:rPr>
            </a:br>
            <a:endParaRPr lang="en-US" sz="2800" dirty="0">
              <a:latin typeface="Nunito Sans" pitchFamily="2" charset="0"/>
            </a:endParaRPr>
          </a:p>
          <a:p>
            <a:pPr fontAlgn="base"/>
            <a:r>
              <a:rPr lang="en-US" sz="2800" b="1" dirty="0">
                <a:latin typeface="Nunito Sans" pitchFamily="2" charset="0"/>
              </a:rPr>
              <a:t>Strategic Fit With Long-Term Direction: </a:t>
            </a:r>
            <a:r>
              <a:rPr lang="en-US" sz="2800" dirty="0">
                <a:latin typeface="Nunito Sans" pitchFamily="2" charset="0"/>
              </a:rPr>
              <a:t>The project must support where the company aims to be in the next 3–5 years. Even if financially positive, a weak strategic fit can waste resources and distract from priority growth areas.​</a:t>
            </a:r>
          </a:p>
          <a:p>
            <a:pPr fontAlgn="base"/>
            <a:r>
              <a:rPr lang="en-US" sz="2800" b="1" dirty="0">
                <a:latin typeface="Nunito Sans" pitchFamily="2" charset="0"/>
              </a:rPr>
              <a:t>Market &amp; Brand Impact:</a:t>
            </a:r>
            <a:r>
              <a:rPr lang="en-US" sz="2800" dirty="0">
                <a:latin typeface="Nunito Sans" pitchFamily="2" charset="0"/>
              </a:rPr>
              <a:t> If the market is growing, launching now lets the company gain customers early and build a strong brand image. Introducing a high-quality or innovative product helps the company stand out, attract more buyers, and stay ahead of competitors in the long run.​</a:t>
            </a:r>
          </a:p>
          <a:p>
            <a:endParaRPr lang="en-IN" dirty="0"/>
          </a:p>
        </p:txBody>
      </p:sp>
    </p:spTree>
    <p:extLst>
      <p:ext uri="{BB962C8B-B14F-4D97-AF65-F5344CB8AC3E}">
        <p14:creationId xmlns:p14="http://schemas.microsoft.com/office/powerpoint/2010/main" val="12718118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chemeClr val="bg2">
                <a:lumMod val="50000"/>
              </a:schemeClr>
            </a:gs>
            <a:gs pos="100000">
              <a:srgbClr val="FFFFFF">
                <a:alpha val="100000"/>
              </a:srgbClr>
            </a:gs>
          </a:gsLst>
          <a:lin ang="0" scaled="0"/>
        </a:gradFill>
        <a:effectLst/>
      </p:bgPr>
    </p:bg>
    <p:spTree>
      <p:nvGrpSpPr>
        <p:cNvPr id="1" name="">
          <a:extLst>
            <a:ext uri="{FF2B5EF4-FFF2-40B4-BE49-F238E27FC236}">
              <a16:creationId xmlns:a16="http://schemas.microsoft.com/office/drawing/2014/main" id="{7AD4DCA6-6FA8-4D29-F42E-B0F8D7A08DD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96A3AE6-0A3C-1D0B-8E9F-067810DE362D}"/>
              </a:ext>
            </a:extLst>
          </p:cNvPr>
          <p:cNvGrpSpPr/>
          <p:nvPr/>
        </p:nvGrpSpPr>
        <p:grpSpPr>
          <a:xfrm>
            <a:off x="-18288" y="-1485900"/>
            <a:ext cx="27584990" cy="11974016"/>
            <a:chOff x="0" y="0"/>
            <a:chExt cx="7265182" cy="3153650"/>
          </a:xfrm>
          <a:gradFill>
            <a:gsLst>
              <a:gs pos="0">
                <a:schemeClr val="accent4">
                  <a:lumMod val="60000"/>
                  <a:lumOff val="40000"/>
                </a:schemeClr>
              </a:gs>
              <a:gs pos="100000">
                <a:srgbClr val="FFFFFF">
                  <a:alpha val="100000"/>
                </a:srgbClr>
              </a:gs>
            </a:gsLst>
            <a:lin ang="0" scaled="0"/>
          </a:gradFill>
        </p:grpSpPr>
        <p:sp>
          <p:nvSpPr>
            <p:cNvPr id="3" name="Freeform 3">
              <a:extLst>
                <a:ext uri="{FF2B5EF4-FFF2-40B4-BE49-F238E27FC236}">
                  <a16:creationId xmlns:a16="http://schemas.microsoft.com/office/drawing/2014/main" id="{AB1948B3-A5F6-8C9C-DA8F-05E845E6319F}"/>
                </a:ext>
              </a:extLst>
            </p:cNvPr>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p:spPr>
          <p:txBody>
            <a:bodyPr/>
            <a:lstStyle/>
            <a:p>
              <a:endParaRPr lang="en-IN"/>
            </a:p>
          </p:txBody>
        </p:sp>
        <p:sp>
          <p:nvSpPr>
            <p:cNvPr id="4" name="TextBox 4">
              <a:extLst>
                <a:ext uri="{FF2B5EF4-FFF2-40B4-BE49-F238E27FC236}">
                  <a16:creationId xmlns:a16="http://schemas.microsoft.com/office/drawing/2014/main" id="{8CC2E1BF-7D64-169B-61A4-5BAB6CDCAD65}"/>
                </a:ext>
              </a:extLst>
            </p:cNvPr>
            <p:cNvSpPr txBox="1"/>
            <p:nvPr/>
          </p:nvSpPr>
          <p:spPr>
            <a:xfrm>
              <a:off x="0" y="-38100"/>
              <a:ext cx="7265182" cy="3191750"/>
            </a:xfrm>
            <a:prstGeom prst="rect">
              <a:avLst/>
            </a:prstGeom>
            <a:solidFill>
              <a:srgbClr val="FFFFFF"/>
            </a:solidFill>
          </p:spPr>
          <p:txBody>
            <a:bodyPr lIns="50800" tIns="50800" rIns="50800" bIns="50800" rtlCol="0" anchor="ctr"/>
            <a:lstStyle/>
            <a:p>
              <a:pPr algn="ctr">
                <a:lnSpc>
                  <a:spcPts val="3359"/>
                </a:lnSpc>
              </a:pPr>
              <a:endParaRPr/>
            </a:p>
          </p:txBody>
        </p:sp>
      </p:grpSp>
      <p:sp>
        <p:nvSpPr>
          <p:cNvPr id="7" name="AutoShape 7">
            <a:extLst>
              <a:ext uri="{FF2B5EF4-FFF2-40B4-BE49-F238E27FC236}">
                <a16:creationId xmlns:a16="http://schemas.microsoft.com/office/drawing/2014/main" id="{229B1387-9FA7-371C-F557-4C09E446E697}"/>
              </a:ext>
            </a:extLst>
          </p:cNvPr>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1" name="TextBox 11">
            <a:extLst>
              <a:ext uri="{FF2B5EF4-FFF2-40B4-BE49-F238E27FC236}">
                <a16:creationId xmlns:a16="http://schemas.microsoft.com/office/drawing/2014/main" id="{FBD368FF-AB14-5492-816B-69CC75C25A6A}"/>
              </a:ext>
            </a:extLst>
          </p:cNvPr>
          <p:cNvSpPr txBox="1"/>
          <p:nvPr/>
        </p:nvSpPr>
        <p:spPr>
          <a:xfrm rot="-5400000">
            <a:off x="-1686896" y="7498874"/>
            <a:ext cx="4498668" cy="564257"/>
          </a:xfrm>
          <a:prstGeom prst="rect">
            <a:avLst/>
          </a:prstGeom>
        </p:spPr>
        <p:txBody>
          <a:bodyPr lIns="0" tIns="0" rIns="0" bIns="0" rtlCol="0" anchor="t">
            <a:spAutoFit/>
          </a:bodyPr>
          <a:lstStyle/>
          <a:p>
            <a:pPr>
              <a:lnSpc>
                <a:spcPts val="2160"/>
              </a:lnSpc>
            </a:pPr>
            <a:r>
              <a:rPr lang="en-US" dirty="0">
                <a:solidFill>
                  <a:schemeClr val="tx2"/>
                </a:solidFill>
                <a:latin typeface="Georgia Pro" panose="02040502050405020303" pitchFamily="18" charset="0"/>
              </a:rPr>
              <a:t>POM+ Singapore </a:t>
            </a:r>
            <a:endParaRPr lang="en-US" spc="-53" dirty="0">
              <a:solidFill>
                <a:schemeClr val="tx2"/>
              </a:solidFill>
              <a:latin typeface="Georgia Pro" panose="02040502050405020303" pitchFamily="18" charset="0"/>
              <a:ea typeface="Nunito Sans"/>
              <a:cs typeface="Nunito Sans"/>
              <a:sym typeface="Nunito Sans"/>
            </a:endParaRPr>
          </a:p>
          <a:p>
            <a:pPr algn="l">
              <a:lnSpc>
                <a:spcPts val="2160"/>
              </a:lnSpc>
            </a:pPr>
            <a:endParaRPr lang="en-US" sz="1800" spc="-53" dirty="0">
              <a:solidFill>
                <a:srgbClr val="03286A"/>
              </a:solidFill>
              <a:latin typeface="Nunito Sans"/>
              <a:ea typeface="Nunito Sans"/>
              <a:cs typeface="Nunito Sans"/>
              <a:sym typeface="Nunito Sans"/>
            </a:endParaRPr>
          </a:p>
        </p:txBody>
      </p:sp>
      <p:sp>
        <p:nvSpPr>
          <p:cNvPr id="24" name="TextBox 24">
            <a:extLst>
              <a:ext uri="{FF2B5EF4-FFF2-40B4-BE49-F238E27FC236}">
                <a16:creationId xmlns:a16="http://schemas.microsoft.com/office/drawing/2014/main" id="{1536B521-D220-E6C3-B348-5A55341F132E}"/>
              </a:ext>
            </a:extLst>
          </p:cNvPr>
          <p:cNvSpPr txBox="1"/>
          <p:nvPr/>
        </p:nvSpPr>
        <p:spPr>
          <a:xfrm>
            <a:off x="9258527" y="8777753"/>
            <a:ext cx="8000773" cy="356235"/>
          </a:xfrm>
          <a:prstGeom prst="rect">
            <a:avLst/>
          </a:prstGeom>
        </p:spPr>
        <p:txBody>
          <a:bodyPr lIns="0" tIns="0" rIns="0" bIns="0" rtlCol="0" anchor="t">
            <a:spAutoFit/>
          </a:bodyPr>
          <a:lstStyle/>
          <a:p>
            <a:pPr marL="0" lvl="0" indent="0" algn="l">
              <a:lnSpc>
                <a:spcPts val="2940"/>
              </a:lnSpc>
              <a:spcBef>
                <a:spcPct val="0"/>
              </a:spcBef>
            </a:pPr>
            <a:r>
              <a:rPr lang="en-US" sz="2100" dirty="0">
                <a:solidFill>
                  <a:srgbClr val="03286A"/>
                </a:solidFill>
                <a:latin typeface="Nunito Sans Light"/>
                <a:ea typeface="Nunito Sans Light"/>
                <a:cs typeface="Nunito Sans Light"/>
                <a:sym typeface="Nunito Sans Light"/>
              </a:rPr>
              <a:t>. </a:t>
            </a:r>
          </a:p>
        </p:txBody>
      </p:sp>
      <p:sp>
        <p:nvSpPr>
          <p:cNvPr id="27" name="TextBox 10">
            <a:extLst>
              <a:ext uri="{FF2B5EF4-FFF2-40B4-BE49-F238E27FC236}">
                <a16:creationId xmlns:a16="http://schemas.microsoft.com/office/drawing/2014/main" id="{9AC86284-6866-69A5-AE21-921939600166}"/>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
        <p:nvSpPr>
          <p:cNvPr id="6" name="Rectangle 1">
            <a:extLst>
              <a:ext uri="{FF2B5EF4-FFF2-40B4-BE49-F238E27FC236}">
                <a16:creationId xmlns:a16="http://schemas.microsoft.com/office/drawing/2014/main" id="{4C725C59-ACC1-75A2-8F36-A5EA133CADB0}"/>
              </a:ext>
            </a:extLst>
          </p:cNvPr>
          <p:cNvSpPr>
            <a:spLocks noChangeArrowheads="1"/>
          </p:cNvSpPr>
          <p:nvPr/>
        </p:nvSpPr>
        <p:spPr bwMode="auto">
          <a:xfrm>
            <a:off x="1847850" y="1862138"/>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pic>
        <p:nvPicPr>
          <p:cNvPr id="5122" name="Picture 2" descr="A screenshot of a computer&#10;&#10;AI-generated content may be incorrect.">
            <a:extLst>
              <a:ext uri="{FF2B5EF4-FFF2-40B4-BE49-F238E27FC236}">
                <a16:creationId xmlns:a16="http://schemas.microsoft.com/office/drawing/2014/main" id="{20025826-6F7B-62C4-9D1B-98E91020FB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7575" y="114301"/>
            <a:ext cx="17719023" cy="10172699"/>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23155F51-5986-6DBA-D712-ABD32F6497FD}"/>
              </a:ext>
            </a:extLst>
          </p:cNvPr>
          <p:cNvSpPr txBox="1"/>
          <p:nvPr/>
        </p:nvSpPr>
        <p:spPr>
          <a:xfrm>
            <a:off x="2209800" y="575220"/>
            <a:ext cx="8458198" cy="646331"/>
          </a:xfrm>
          <a:prstGeom prst="rect">
            <a:avLst/>
          </a:prstGeom>
          <a:noFill/>
        </p:spPr>
        <p:txBody>
          <a:bodyPr wrap="square" rtlCol="0">
            <a:spAutoFit/>
          </a:bodyPr>
          <a:lstStyle/>
          <a:p>
            <a:r>
              <a:rPr lang="en-IN" sz="3600" b="1" dirty="0">
                <a:latin typeface="Georgia Pro" panose="02040502050405020303" pitchFamily="18" charset="0"/>
              </a:rPr>
              <a:t>AON</a:t>
            </a:r>
            <a:r>
              <a:rPr lang="en-IN" sz="3600" dirty="0">
                <a:latin typeface="Georgia Pro" panose="02040502050405020303" pitchFamily="18" charset="0"/>
              </a:rPr>
              <a:t>​</a:t>
            </a:r>
          </a:p>
        </p:txBody>
      </p:sp>
    </p:spTree>
    <p:extLst>
      <p:ext uri="{BB962C8B-B14F-4D97-AF65-F5344CB8AC3E}">
        <p14:creationId xmlns:p14="http://schemas.microsoft.com/office/powerpoint/2010/main" val="28636429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gradFill>
          <a:gsLst>
            <a:gs pos="0">
              <a:schemeClr val="bg2">
                <a:lumMod val="50000"/>
              </a:schemeClr>
            </a:gs>
            <a:gs pos="100000">
              <a:srgbClr val="FFFFFF">
                <a:alpha val="100000"/>
              </a:srgbClr>
            </a:gs>
          </a:gsLst>
          <a:lin ang="0" scaled="0"/>
        </a:gradFill>
        <a:effectLst/>
      </p:bgPr>
    </p:bg>
    <p:spTree>
      <p:nvGrpSpPr>
        <p:cNvPr id="1" name="">
          <a:extLst>
            <a:ext uri="{FF2B5EF4-FFF2-40B4-BE49-F238E27FC236}">
              <a16:creationId xmlns:a16="http://schemas.microsoft.com/office/drawing/2014/main" id="{E21406FE-0737-957C-566C-FF674F31F5C8}"/>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6065E84-FD0D-27E9-093F-C5D2FA62E422}"/>
              </a:ext>
            </a:extLst>
          </p:cNvPr>
          <p:cNvGrpSpPr/>
          <p:nvPr/>
        </p:nvGrpSpPr>
        <p:grpSpPr>
          <a:xfrm>
            <a:off x="-18288" y="-1485900"/>
            <a:ext cx="27584990" cy="11974016"/>
            <a:chOff x="0" y="0"/>
            <a:chExt cx="7265182" cy="3153650"/>
          </a:xfrm>
          <a:gradFill>
            <a:gsLst>
              <a:gs pos="0">
                <a:schemeClr val="accent2">
                  <a:lumMod val="60000"/>
                  <a:lumOff val="40000"/>
                </a:schemeClr>
              </a:gs>
              <a:gs pos="100000">
                <a:srgbClr val="FFFFFF">
                  <a:alpha val="100000"/>
                </a:srgbClr>
              </a:gs>
            </a:gsLst>
            <a:lin ang="0" scaled="0"/>
          </a:gradFill>
        </p:grpSpPr>
        <p:sp>
          <p:nvSpPr>
            <p:cNvPr id="3" name="Freeform 3">
              <a:extLst>
                <a:ext uri="{FF2B5EF4-FFF2-40B4-BE49-F238E27FC236}">
                  <a16:creationId xmlns:a16="http://schemas.microsoft.com/office/drawing/2014/main" id="{15C5D432-B25F-6FDA-DA1D-54EDAE33F393}"/>
                </a:ext>
              </a:extLst>
            </p:cNvPr>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p:spPr>
          <p:txBody>
            <a:bodyPr/>
            <a:lstStyle/>
            <a:p>
              <a:endParaRPr lang="en-IN"/>
            </a:p>
          </p:txBody>
        </p:sp>
        <p:sp>
          <p:nvSpPr>
            <p:cNvPr id="4" name="TextBox 4">
              <a:extLst>
                <a:ext uri="{FF2B5EF4-FFF2-40B4-BE49-F238E27FC236}">
                  <a16:creationId xmlns:a16="http://schemas.microsoft.com/office/drawing/2014/main" id="{F1A03F4D-3C8A-2C30-1D83-A6B0ED3622D3}"/>
                </a:ext>
              </a:extLst>
            </p:cNvPr>
            <p:cNvSpPr txBox="1"/>
            <p:nvPr/>
          </p:nvSpPr>
          <p:spPr>
            <a:xfrm>
              <a:off x="0" y="-38100"/>
              <a:ext cx="7265182" cy="3191750"/>
            </a:xfrm>
            <a:prstGeom prst="rect">
              <a:avLst/>
            </a:prstGeom>
            <a:grpFill/>
          </p:spPr>
          <p:txBody>
            <a:bodyPr lIns="50800" tIns="50800" rIns="50800" bIns="50800" rtlCol="0" anchor="ctr"/>
            <a:lstStyle/>
            <a:p>
              <a:pPr algn="ctr">
                <a:lnSpc>
                  <a:spcPts val="3359"/>
                </a:lnSpc>
              </a:pPr>
              <a:endParaRPr/>
            </a:p>
          </p:txBody>
        </p:sp>
      </p:grpSp>
      <p:sp>
        <p:nvSpPr>
          <p:cNvPr id="7" name="AutoShape 7">
            <a:extLst>
              <a:ext uri="{FF2B5EF4-FFF2-40B4-BE49-F238E27FC236}">
                <a16:creationId xmlns:a16="http://schemas.microsoft.com/office/drawing/2014/main" id="{B502A665-169C-50C1-7680-524519B18512}"/>
              </a:ext>
            </a:extLst>
          </p:cNvPr>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1" name="TextBox 11">
            <a:extLst>
              <a:ext uri="{FF2B5EF4-FFF2-40B4-BE49-F238E27FC236}">
                <a16:creationId xmlns:a16="http://schemas.microsoft.com/office/drawing/2014/main" id="{A1B1ACF5-F28F-BF31-1DEA-2F1670904F53}"/>
              </a:ext>
            </a:extLst>
          </p:cNvPr>
          <p:cNvSpPr txBox="1"/>
          <p:nvPr/>
        </p:nvSpPr>
        <p:spPr>
          <a:xfrm rot="-5400000">
            <a:off x="-1686896" y="7498874"/>
            <a:ext cx="4498668" cy="564257"/>
          </a:xfrm>
          <a:prstGeom prst="rect">
            <a:avLst/>
          </a:prstGeom>
        </p:spPr>
        <p:txBody>
          <a:bodyPr lIns="0" tIns="0" rIns="0" bIns="0" rtlCol="0" anchor="t">
            <a:spAutoFit/>
          </a:bodyPr>
          <a:lstStyle/>
          <a:p>
            <a:pPr>
              <a:lnSpc>
                <a:spcPts val="2160"/>
              </a:lnSpc>
            </a:pPr>
            <a:r>
              <a:rPr lang="en-US" dirty="0">
                <a:solidFill>
                  <a:schemeClr val="tx2"/>
                </a:solidFill>
                <a:latin typeface="Georgia Pro" panose="02040502050405020303" pitchFamily="18" charset="0"/>
              </a:rPr>
              <a:t>POM+ Singapore </a:t>
            </a:r>
            <a:endParaRPr lang="en-US" spc="-53" dirty="0">
              <a:solidFill>
                <a:schemeClr val="tx2"/>
              </a:solidFill>
              <a:latin typeface="Georgia Pro" panose="02040502050405020303" pitchFamily="18" charset="0"/>
              <a:ea typeface="Nunito Sans"/>
              <a:cs typeface="Nunito Sans"/>
              <a:sym typeface="Nunito Sans"/>
            </a:endParaRPr>
          </a:p>
          <a:p>
            <a:pPr algn="l">
              <a:lnSpc>
                <a:spcPts val="2160"/>
              </a:lnSpc>
            </a:pPr>
            <a:endParaRPr lang="en-US" sz="1800" spc="-53" dirty="0">
              <a:solidFill>
                <a:srgbClr val="03286A"/>
              </a:solidFill>
              <a:latin typeface="Nunito Sans"/>
              <a:ea typeface="Nunito Sans"/>
              <a:cs typeface="Nunito Sans"/>
              <a:sym typeface="Nunito Sans"/>
            </a:endParaRPr>
          </a:p>
        </p:txBody>
      </p:sp>
      <p:sp>
        <p:nvSpPr>
          <p:cNvPr id="24" name="TextBox 24">
            <a:extLst>
              <a:ext uri="{FF2B5EF4-FFF2-40B4-BE49-F238E27FC236}">
                <a16:creationId xmlns:a16="http://schemas.microsoft.com/office/drawing/2014/main" id="{AB9DF947-755C-84B7-F56A-E354B051CFE1}"/>
              </a:ext>
            </a:extLst>
          </p:cNvPr>
          <p:cNvSpPr txBox="1"/>
          <p:nvPr/>
        </p:nvSpPr>
        <p:spPr>
          <a:xfrm>
            <a:off x="9258527" y="8777753"/>
            <a:ext cx="8000773" cy="356235"/>
          </a:xfrm>
          <a:prstGeom prst="rect">
            <a:avLst/>
          </a:prstGeom>
        </p:spPr>
        <p:txBody>
          <a:bodyPr lIns="0" tIns="0" rIns="0" bIns="0" rtlCol="0" anchor="t">
            <a:spAutoFit/>
          </a:bodyPr>
          <a:lstStyle/>
          <a:p>
            <a:pPr marL="0" lvl="0" indent="0" algn="l">
              <a:lnSpc>
                <a:spcPts val="2940"/>
              </a:lnSpc>
              <a:spcBef>
                <a:spcPct val="0"/>
              </a:spcBef>
            </a:pPr>
            <a:r>
              <a:rPr lang="en-US" sz="2100" dirty="0">
                <a:solidFill>
                  <a:srgbClr val="03286A"/>
                </a:solidFill>
                <a:latin typeface="Nunito Sans Light"/>
                <a:ea typeface="Nunito Sans Light"/>
                <a:cs typeface="Nunito Sans Light"/>
                <a:sym typeface="Nunito Sans Light"/>
              </a:rPr>
              <a:t>. </a:t>
            </a:r>
          </a:p>
        </p:txBody>
      </p:sp>
      <p:sp>
        <p:nvSpPr>
          <p:cNvPr id="27" name="TextBox 10">
            <a:extLst>
              <a:ext uri="{FF2B5EF4-FFF2-40B4-BE49-F238E27FC236}">
                <a16:creationId xmlns:a16="http://schemas.microsoft.com/office/drawing/2014/main" id="{B561A50C-B685-C919-1563-4B755EF42383}"/>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
        <p:nvSpPr>
          <p:cNvPr id="28" name="TextBox 27">
            <a:extLst>
              <a:ext uri="{FF2B5EF4-FFF2-40B4-BE49-F238E27FC236}">
                <a16:creationId xmlns:a16="http://schemas.microsoft.com/office/drawing/2014/main" id="{FD908057-0EC0-E99D-580A-D2E96D43A364}"/>
              </a:ext>
            </a:extLst>
          </p:cNvPr>
          <p:cNvSpPr txBox="1"/>
          <p:nvPr/>
        </p:nvSpPr>
        <p:spPr>
          <a:xfrm>
            <a:off x="2209800" y="575220"/>
            <a:ext cx="8458198" cy="646331"/>
          </a:xfrm>
          <a:prstGeom prst="rect">
            <a:avLst/>
          </a:prstGeom>
          <a:noFill/>
        </p:spPr>
        <p:txBody>
          <a:bodyPr wrap="square" rtlCol="0">
            <a:spAutoFit/>
          </a:bodyPr>
          <a:lstStyle/>
          <a:p>
            <a:r>
              <a:rPr lang="en-IN" sz="3600" dirty="0">
                <a:latin typeface="Georgia Pro" panose="02040502050405020303" pitchFamily="18" charset="0"/>
              </a:rPr>
              <a:t>PROJECT SCHEDULE​</a:t>
            </a:r>
          </a:p>
        </p:txBody>
      </p:sp>
      <p:sp>
        <p:nvSpPr>
          <p:cNvPr id="6" name="Rectangle 1">
            <a:extLst>
              <a:ext uri="{FF2B5EF4-FFF2-40B4-BE49-F238E27FC236}">
                <a16:creationId xmlns:a16="http://schemas.microsoft.com/office/drawing/2014/main" id="{70AE74D6-3141-3D72-8419-661EA06761DC}"/>
              </a:ext>
            </a:extLst>
          </p:cNvPr>
          <p:cNvSpPr>
            <a:spLocks noChangeArrowheads="1"/>
          </p:cNvSpPr>
          <p:nvPr/>
        </p:nvSpPr>
        <p:spPr bwMode="auto">
          <a:xfrm>
            <a:off x="1847850" y="1862138"/>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0" name="TextBox 9">
            <a:extLst>
              <a:ext uri="{FF2B5EF4-FFF2-40B4-BE49-F238E27FC236}">
                <a16:creationId xmlns:a16="http://schemas.microsoft.com/office/drawing/2014/main" id="{53A8F0A8-AA69-FA45-928C-14383F15E13E}"/>
              </a:ext>
            </a:extLst>
          </p:cNvPr>
          <p:cNvSpPr txBox="1"/>
          <p:nvPr/>
        </p:nvSpPr>
        <p:spPr>
          <a:xfrm>
            <a:off x="2209800" y="2095500"/>
            <a:ext cx="13563592" cy="369332"/>
          </a:xfrm>
          <a:prstGeom prst="rect">
            <a:avLst/>
          </a:prstGeom>
          <a:noFill/>
        </p:spPr>
        <p:txBody>
          <a:bodyPr wrap="square" rtlCol="0">
            <a:spAutoFit/>
          </a:bodyPr>
          <a:lstStyle/>
          <a:p>
            <a:endParaRPr lang="en-IN" dirty="0"/>
          </a:p>
        </p:txBody>
      </p:sp>
      <p:graphicFrame>
        <p:nvGraphicFramePr>
          <p:cNvPr id="5" name="Table 4">
            <a:extLst>
              <a:ext uri="{FF2B5EF4-FFF2-40B4-BE49-F238E27FC236}">
                <a16:creationId xmlns:a16="http://schemas.microsoft.com/office/drawing/2014/main" id="{7D3B2C01-91BF-3FDB-5D03-4D55F8F0B821}"/>
              </a:ext>
            </a:extLst>
          </p:cNvPr>
          <p:cNvGraphicFramePr>
            <a:graphicFrameLocks noGrp="1"/>
          </p:cNvGraphicFramePr>
          <p:nvPr>
            <p:extLst>
              <p:ext uri="{D42A27DB-BD31-4B8C-83A1-F6EECF244321}">
                <p14:modId xmlns:p14="http://schemas.microsoft.com/office/powerpoint/2010/main" val="2514245133"/>
              </p:ext>
            </p:extLst>
          </p:nvPr>
        </p:nvGraphicFramePr>
        <p:xfrm>
          <a:off x="1028700" y="1862138"/>
          <a:ext cx="15982950" cy="7868794"/>
        </p:xfrm>
        <a:graphic>
          <a:graphicData uri="http://schemas.openxmlformats.org/drawingml/2006/table">
            <a:tbl>
              <a:tblPr>
                <a:effectLst>
                  <a:outerShdw blurRad="50800" dist="38100" dir="2700000" algn="tl" rotWithShape="0">
                    <a:prstClr val="black">
                      <a:alpha val="40000"/>
                    </a:prstClr>
                  </a:outerShdw>
                </a:effectLst>
                <a:tableStyleId>{69CF1AB2-1976-4502-BF36-3FF5EA218861}</a:tableStyleId>
              </a:tblPr>
              <a:tblGrid>
                <a:gridCol w="1972536">
                  <a:extLst>
                    <a:ext uri="{9D8B030D-6E8A-4147-A177-3AD203B41FA5}">
                      <a16:colId xmlns:a16="http://schemas.microsoft.com/office/drawing/2014/main" val="1375400444"/>
                    </a:ext>
                  </a:extLst>
                </a:gridCol>
                <a:gridCol w="3026356">
                  <a:extLst>
                    <a:ext uri="{9D8B030D-6E8A-4147-A177-3AD203B41FA5}">
                      <a16:colId xmlns:a16="http://schemas.microsoft.com/office/drawing/2014/main" val="1114904610"/>
                    </a:ext>
                  </a:extLst>
                </a:gridCol>
                <a:gridCol w="2310299">
                  <a:extLst>
                    <a:ext uri="{9D8B030D-6E8A-4147-A177-3AD203B41FA5}">
                      <a16:colId xmlns:a16="http://schemas.microsoft.com/office/drawing/2014/main" val="3323519533"/>
                    </a:ext>
                  </a:extLst>
                </a:gridCol>
                <a:gridCol w="1810411">
                  <a:extLst>
                    <a:ext uri="{9D8B030D-6E8A-4147-A177-3AD203B41FA5}">
                      <a16:colId xmlns:a16="http://schemas.microsoft.com/office/drawing/2014/main" val="2814147455"/>
                    </a:ext>
                  </a:extLst>
                </a:gridCol>
                <a:gridCol w="2364341">
                  <a:extLst>
                    <a:ext uri="{9D8B030D-6E8A-4147-A177-3AD203B41FA5}">
                      <a16:colId xmlns:a16="http://schemas.microsoft.com/office/drawing/2014/main" val="2735294994"/>
                    </a:ext>
                  </a:extLst>
                </a:gridCol>
                <a:gridCol w="2499448">
                  <a:extLst>
                    <a:ext uri="{9D8B030D-6E8A-4147-A177-3AD203B41FA5}">
                      <a16:colId xmlns:a16="http://schemas.microsoft.com/office/drawing/2014/main" val="2285059430"/>
                    </a:ext>
                  </a:extLst>
                </a:gridCol>
                <a:gridCol w="1999559">
                  <a:extLst>
                    <a:ext uri="{9D8B030D-6E8A-4147-A177-3AD203B41FA5}">
                      <a16:colId xmlns:a16="http://schemas.microsoft.com/office/drawing/2014/main" val="2869267519"/>
                    </a:ext>
                  </a:extLst>
                </a:gridCol>
              </a:tblGrid>
              <a:tr h="1028858">
                <a:tc>
                  <a:txBody>
                    <a:bodyPr/>
                    <a:lstStyle/>
                    <a:p>
                      <a:pPr algn="ctr" fontAlgn="base">
                        <a:lnSpc>
                          <a:spcPts val="2175"/>
                        </a:lnSpc>
                        <a:buNone/>
                      </a:pPr>
                      <a:r>
                        <a:rPr lang="en-US" sz="1600" b="1" dirty="0">
                          <a:solidFill>
                            <a:srgbClr val="000000"/>
                          </a:solidFill>
                          <a:effectLst/>
                          <a:latin typeface="Nunito Sans" pitchFamily="2" charset="0"/>
                        </a:rPr>
                        <a:t>WBS Task ID​</a:t>
                      </a:r>
                      <a:endParaRPr lang="en-US" sz="1600" b="1" i="0" dirty="0">
                        <a:solidFill>
                          <a:srgbClr val="000000"/>
                        </a:solidFill>
                        <a:effectLst/>
                        <a:latin typeface="Nunito Sans" pitchFamily="2" charset="0"/>
                      </a:endParaRPr>
                    </a:p>
                  </a:txBody>
                  <a:tcPr marL="66783" marR="66783" marT="33391" marB="33391" anchor="ctr"/>
                </a:tc>
                <a:tc>
                  <a:txBody>
                    <a:bodyPr/>
                    <a:lstStyle/>
                    <a:p>
                      <a:pPr algn="ctr" fontAlgn="base">
                        <a:lnSpc>
                          <a:spcPts val="2175"/>
                        </a:lnSpc>
                        <a:buNone/>
                      </a:pPr>
                      <a:r>
                        <a:rPr lang="en-US" sz="1600" b="1">
                          <a:solidFill>
                            <a:srgbClr val="000000"/>
                          </a:solidFill>
                          <a:effectLst/>
                          <a:latin typeface="Nunito Sans" pitchFamily="2" charset="0"/>
                        </a:rPr>
                        <a:t>Task Name​</a:t>
                      </a:r>
                      <a:endParaRPr lang="en-US" sz="1600" b="1" i="0">
                        <a:solidFill>
                          <a:srgbClr val="000000"/>
                        </a:solidFill>
                        <a:effectLst/>
                        <a:latin typeface="Nunito Sans" pitchFamily="2" charset="0"/>
                      </a:endParaRPr>
                    </a:p>
                  </a:txBody>
                  <a:tcPr marL="66783" marR="66783" marT="33391" marB="33391" anchor="ctr"/>
                </a:tc>
                <a:tc>
                  <a:txBody>
                    <a:bodyPr/>
                    <a:lstStyle/>
                    <a:p>
                      <a:pPr algn="ctr" fontAlgn="base">
                        <a:lnSpc>
                          <a:spcPts val="2175"/>
                        </a:lnSpc>
                        <a:buNone/>
                      </a:pPr>
                      <a:r>
                        <a:rPr lang="en-US" sz="1600" b="1">
                          <a:solidFill>
                            <a:srgbClr val="000000"/>
                          </a:solidFill>
                          <a:effectLst/>
                          <a:latin typeface="Nunito Sans" pitchFamily="2" charset="0"/>
                        </a:rPr>
                        <a:t>Start Date (ES)​</a:t>
                      </a:r>
                      <a:endParaRPr lang="en-US" sz="1600" b="1" i="0">
                        <a:solidFill>
                          <a:srgbClr val="000000"/>
                        </a:solidFill>
                        <a:effectLst/>
                        <a:latin typeface="Nunito Sans" pitchFamily="2" charset="0"/>
                      </a:endParaRPr>
                    </a:p>
                  </a:txBody>
                  <a:tcPr marL="66783" marR="66783" marT="33391" marB="33391" anchor="ctr"/>
                </a:tc>
                <a:tc>
                  <a:txBody>
                    <a:bodyPr/>
                    <a:lstStyle/>
                    <a:p>
                      <a:pPr algn="ctr" fontAlgn="base">
                        <a:lnSpc>
                          <a:spcPts val="2175"/>
                        </a:lnSpc>
                        <a:buNone/>
                      </a:pPr>
                      <a:r>
                        <a:rPr lang="en-US" sz="1600" b="1">
                          <a:solidFill>
                            <a:srgbClr val="000000"/>
                          </a:solidFill>
                          <a:effectLst/>
                          <a:latin typeface="Nunito Sans" pitchFamily="2" charset="0"/>
                        </a:rPr>
                        <a:t>Finish Date (EF)​</a:t>
                      </a:r>
                      <a:endParaRPr lang="en-US" sz="1600" b="1" i="0">
                        <a:solidFill>
                          <a:srgbClr val="000000"/>
                        </a:solidFill>
                        <a:effectLst/>
                        <a:latin typeface="Nunito Sans" pitchFamily="2" charset="0"/>
                      </a:endParaRPr>
                    </a:p>
                  </a:txBody>
                  <a:tcPr marL="66783" marR="66783" marT="33391" marB="33391" anchor="ctr"/>
                </a:tc>
                <a:tc>
                  <a:txBody>
                    <a:bodyPr/>
                    <a:lstStyle/>
                    <a:p>
                      <a:pPr algn="ctr" fontAlgn="base">
                        <a:lnSpc>
                          <a:spcPts val="2175"/>
                        </a:lnSpc>
                        <a:buNone/>
                      </a:pPr>
                      <a:r>
                        <a:rPr lang="en-US" sz="1600" b="1">
                          <a:solidFill>
                            <a:srgbClr val="000000"/>
                          </a:solidFill>
                          <a:effectLst/>
                          <a:latin typeface="Nunito Sans" pitchFamily="2" charset="0"/>
                        </a:rPr>
                        <a:t>Late Start Date (LS)​</a:t>
                      </a:r>
                      <a:endParaRPr lang="en-US" sz="1600" b="1" i="0">
                        <a:solidFill>
                          <a:srgbClr val="000000"/>
                        </a:solidFill>
                        <a:effectLst/>
                        <a:latin typeface="Nunito Sans" pitchFamily="2" charset="0"/>
                      </a:endParaRPr>
                    </a:p>
                  </a:txBody>
                  <a:tcPr marL="66783" marR="66783" marT="33391" marB="33391" anchor="ctr"/>
                </a:tc>
                <a:tc>
                  <a:txBody>
                    <a:bodyPr/>
                    <a:lstStyle/>
                    <a:p>
                      <a:pPr algn="ctr" fontAlgn="base">
                        <a:lnSpc>
                          <a:spcPts val="2175"/>
                        </a:lnSpc>
                        <a:buNone/>
                      </a:pPr>
                      <a:r>
                        <a:rPr lang="en-US" sz="1600" b="1">
                          <a:solidFill>
                            <a:srgbClr val="000000"/>
                          </a:solidFill>
                          <a:effectLst/>
                          <a:latin typeface="Nunito Sans" pitchFamily="2" charset="0"/>
                        </a:rPr>
                        <a:t>Late Finish Date (LF)​</a:t>
                      </a:r>
                      <a:endParaRPr lang="en-US" sz="1600" b="1" i="0">
                        <a:solidFill>
                          <a:srgbClr val="000000"/>
                        </a:solidFill>
                        <a:effectLst/>
                        <a:latin typeface="Nunito Sans" pitchFamily="2" charset="0"/>
                      </a:endParaRPr>
                    </a:p>
                  </a:txBody>
                  <a:tcPr marL="66783" marR="66783" marT="33391" marB="33391" anchor="ctr"/>
                </a:tc>
                <a:tc>
                  <a:txBody>
                    <a:bodyPr/>
                    <a:lstStyle/>
                    <a:p>
                      <a:pPr algn="ctr" fontAlgn="base">
                        <a:lnSpc>
                          <a:spcPts val="2175"/>
                        </a:lnSpc>
                        <a:buNone/>
                      </a:pPr>
                      <a:r>
                        <a:rPr lang="en-US" sz="1600" b="1">
                          <a:solidFill>
                            <a:srgbClr val="000000"/>
                          </a:solidFill>
                          <a:effectLst/>
                          <a:latin typeface="Nunito Sans" pitchFamily="2" charset="0"/>
                        </a:rPr>
                        <a:t>Slack / Float (days)​</a:t>
                      </a:r>
                      <a:endParaRPr lang="en-US" sz="1600" b="1" i="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2682332652"/>
                  </a:ext>
                </a:extLst>
              </a:tr>
              <a:tr h="427496">
                <a:tc>
                  <a:txBody>
                    <a:bodyPr/>
                    <a:lstStyle/>
                    <a:p>
                      <a:pPr algn="ctr" fontAlgn="base">
                        <a:lnSpc>
                          <a:spcPts val="1575"/>
                        </a:lnSpc>
                        <a:buNone/>
                      </a:pPr>
                      <a:r>
                        <a:rPr lang="en-US" sz="1200" b="1" dirty="0">
                          <a:solidFill>
                            <a:srgbClr val="000000"/>
                          </a:solidFill>
                          <a:effectLst/>
                          <a:latin typeface="Nunito Sans" pitchFamily="2" charset="0"/>
                        </a:rPr>
                        <a:t>3​</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Need survey​</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02-Jan-2025​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30-Jan-2025​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02-Jan-2025​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30-Jan-2025​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a:t>
                      </a:r>
                      <a:endParaRPr lang="en-US" sz="2000" b="1" i="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2687937082"/>
                  </a:ext>
                </a:extLst>
              </a:tr>
              <a:tr h="427496">
                <a:tc>
                  <a:txBody>
                    <a:bodyPr/>
                    <a:lstStyle/>
                    <a:p>
                      <a:pPr algn="ctr" fontAlgn="base">
                        <a:lnSpc>
                          <a:spcPts val="1575"/>
                        </a:lnSpc>
                        <a:buNone/>
                      </a:pPr>
                      <a:r>
                        <a:rPr lang="en-US" sz="1200" b="1" dirty="0">
                          <a:solidFill>
                            <a:srgbClr val="000000"/>
                          </a:solidFill>
                          <a:effectLst/>
                          <a:latin typeface="Nunito Sans" pitchFamily="2" charset="0"/>
                        </a:rPr>
                        <a:t>4​</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Set product specs​</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31-Jan-2025​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20-Feb-2025​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31-Jan-2025​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20-Feb-2025​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a:t>
                      </a:r>
                      <a:endParaRPr lang="en-US" sz="2000" b="1" i="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2933469310"/>
                  </a:ext>
                </a:extLst>
              </a:tr>
              <a:tr h="427496">
                <a:tc>
                  <a:txBody>
                    <a:bodyPr/>
                    <a:lstStyle/>
                    <a:p>
                      <a:pPr algn="ctr" fontAlgn="base">
                        <a:lnSpc>
                          <a:spcPts val="1575"/>
                        </a:lnSpc>
                        <a:buNone/>
                      </a:pPr>
                      <a:r>
                        <a:rPr lang="en-US" sz="1200" b="1">
                          <a:solidFill>
                            <a:srgbClr val="000000"/>
                          </a:solidFill>
                          <a:effectLst/>
                          <a:latin typeface="Nunito Sans" pitchFamily="2" charset="0"/>
                        </a:rPr>
                        <a:t>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Shelf life report​</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21-Feb-2025​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06-Mar-2025​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21-Feb-2025​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06-Mar-2025​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a:t>
                      </a:r>
                      <a:endParaRPr lang="en-US" sz="2000" b="1" i="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1134509138"/>
                  </a:ext>
                </a:extLst>
              </a:tr>
              <a:tr h="427496">
                <a:tc>
                  <a:txBody>
                    <a:bodyPr/>
                    <a:lstStyle/>
                    <a:p>
                      <a:pPr algn="ctr" fontAlgn="base">
                        <a:lnSpc>
                          <a:spcPts val="1575"/>
                        </a:lnSpc>
                        <a:buNone/>
                      </a:pPr>
                      <a:r>
                        <a:rPr lang="en-US" sz="1200" b="1">
                          <a:solidFill>
                            <a:srgbClr val="000000"/>
                          </a:solidFill>
                          <a:effectLst/>
                          <a:latin typeface="Nunito Sans" pitchFamily="2" charset="0"/>
                        </a:rPr>
                        <a:t>6​</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Nutrition report​</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21-Feb-2025​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27-Feb-2025​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28-Feb-2025​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06-Mar-2025​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5​</a:t>
                      </a:r>
                      <a:endParaRPr lang="en-US" sz="2000" b="1" i="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3096760094"/>
                  </a:ext>
                </a:extLst>
              </a:tr>
              <a:tr h="427496">
                <a:tc>
                  <a:txBody>
                    <a:bodyPr/>
                    <a:lstStyle/>
                    <a:p>
                      <a:pPr algn="ctr" fontAlgn="base">
                        <a:lnSpc>
                          <a:spcPts val="1575"/>
                        </a:lnSpc>
                        <a:buNone/>
                      </a:pPr>
                      <a:r>
                        <a:rPr lang="en-US" sz="1200" b="1">
                          <a:solidFill>
                            <a:srgbClr val="000000"/>
                          </a:solidFill>
                          <a:effectLst/>
                          <a:latin typeface="Nunito Sans" pitchFamily="2" charset="0"/>
                        </a:rPr>
                        <a:t>7​</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Select fruit suppliers​</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07-Mar-2025​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03-Apr-2025​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07-Mar-2025​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03-Apr-2025​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a:t>
                      </a:r>
                      <a:endParaRPr lang="en-US" sz="2000" b="1" i="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916407717"/>
                  </a:ext>
                </a:extLst>
              </a:tr>
              <a:tr h="427496">
                <a:tc>
                  <a:txBody>
                    <a:bodyPr/>
                    <a:lstStyle/>
                    <a:p>
                      <a:pPr algn="ctr" fontAlgn="base">
                        <a:lnSpc>
                          <a:spcPts val="1575"/>
                        </a:lnSpc>
                        <a:buNone/>
                      </a:pPr>
                      <a:r>
                        <a:rPr lang="en-US" sz="1200" b="1">
                          <a:solidFill>
                            <a:srgbClr val="000000"/>
                          </a:solidFill>
                          <a:effectLst/>
                          <a:latin typeface="Nunito Sans" pitchFamily="2" charset="0"/>
                        </a:rPr>
                        <a:t>9​</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Equipment rehab​</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21-Feb-2025​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03-Apr-2025​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21-Feb-2025​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03-Apr-2025​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a:t>
                      </a:r>
                      <a:endParaRPr lang="en-US" sz="2000" b="1" i="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965871262"/>
                  </a:ext>
                </a:extLst>
              </a:tr>
              <a:tr h="427496">
                <a:tc>
                  <a:txBody>
                    <a:bodyPr/>
                    <a:lstStyle/>
                    <a:p>
                      <a:pPr algn="ctr" fontAlgn="base">
                        <a:lnSpc>
                          <a:spcPts val="1575"/>
                        </a:lnSpc>
                        <a:buNone/>
                      </a:pPr>
                      <a:r>
                        <a:rPr lang="en-US" sz="1200" b="1">
                          <a:solidFill>
                            <a:srgbClr val="000000"/>
                          </a:solidFill>
                          <a:effectLst/>
                          <a:latin typeface="Nunito Sans" pitchFamily="2" charset="0"/>
                        </a:rPr>
                        <a:t>10​</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Production trials​</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04-Apr-2025​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24-Apr-2025​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04-Apr-2025​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24-Apr-2025​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a:t>
                      </a:r>
                      <a:endParaRPr lang="en-US" sz="2000" b="1" i="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3243714182"/>
                  </a:ext>
                </a:extLst>
              </a:tr>
              <a:tr h="427496">
                <a:tc>
                  <a:txBody>
                    <a:bodyPr/>
                    <a:lstStyle/>
                    <a:p>
                      <a:pPr algn="ctr" fontAlgn="base">
                        <a:lnSpc>
                          <a:spcPts val="1575"/>
                        </a:lnSpc>
                        <a:buNone/>
                      </a:pPr>
                      <a:r>
                        <a:rPr lang="en-US" sz="1200" b="1">
                          <a:solidFill>
                            <a:srgbClr val="000000"/>
                          </a:solidFill>
                          <a:effectLst/>
                          <a:latin typeface="Nunito Sans" pitchFamily="2" charset="0"/>
                        </a:rPr>
                        <a:t>11​</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Quality trials​</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25-Apr-2025​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22-May-2025​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25-Apr-2025​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22-May-2025​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a:t>
                      </a:r>
                      <a:endParaRPr lang="en-US" sz="2000" b="1" i="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3820625798"/>
                  </a:ext>
                </a:extLst>
              </a:tr>
              <a:tr h="427496">
                <a:tc>
                  <a:txBody>
                    <a:bodyPr/>
                    <a:lstStyle/>
                    <a:p>
                      <a:pPr algn="ctr" fontAlgn="base">
                        <a:lnSpc>
                          <a:spcPts val="1575"/>
                        </a:lnSpc>
                        <a:buNone/>
                      </a:pPr>
                      <a:r>
                        <a:rPr lang="en-US" sz="1200" b="1">
                          <a:solidFill>
                            <a:srgbClr val="000000"/>
                          </a:solidFill>
                          <a:effectLst/>
                          <a:latin typeface="Nunito Sans" pitchFamily="2" charset="0"/>
                        </a:rPr>
                        <a:t>12​</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Quality metrics​</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23-May-2025​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30-May-2025​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23-May-2025​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30-May-2025​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a:t>
                      </a:r>
                      <a:endParaRPr lang="en-US" sz="2000" b="1" i="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1501923863"/>
                  </a:ext>
                </a:extLst>
              </a:tr>
              <a:tr h="427496">
                <a:tc>
                  <a:txBody>
                    <a:bodyPr/>
                    <a:lstStyle/>
                    <a:p>
                      <a:pPr algn="ctr" fontAlgn="base">
                        <a:lnSpc>
                          <a:spcPts val="1575"/>
                        </a:lnSpc>
                        <a:buNone/>
                      </a:pPr>
                      <a:r>
                        <a:rPr lang="en-US" sz="1200" b="1">
                          <a:solidFill>
                            <a:srgbClr val="000000"/>
                          </a:solidFill>
                          <a:effectLst/>
                          <a:latin typeface="Nunito Sans" pitchFamily="2" charset="0"/>
                        </a:rPr>
                        <a:t>13​</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Quality training​</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02-Jun-2025​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20-Jun-2025​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02-Jun-2025​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20-Jun-2025​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a:t>
                      </a:r>
                      <a:endParaRPr lang="en-US" sz="2000" b="1" i="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4102639042"/>
                  </a:ext>
                </a:extLst>
              </a:tr>
              <a:tr h="427496">
                <a:tc>
                  <a:txBody>
                    <a:bodyPr/>
                    <a:lstStyle/>
                    <a:p>
                      <a:pPr algn="ctr" fontAlgn="base">
                        <a:lnSpc>
                          <a:spcPts val="1575"/>
                        </a:lnSpc>
                        <a:buNone/>
                      </a:pPr>
                      <a:r>
                        <a:rPr lang="en-US" sz="1200" b="1">
                          <a:solidFill>
                            <a:srgbClr val="000000"/>
                          </a:solidFill>
                          <a:effectLst/>
                          <a:latin typeface="Nunito Sans" pitchFamily="2" charset="0"/>
                        </a:rPr>
                        <a:t>15​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Market testing​</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07-Mar-2025​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17-Apr-2025​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14-Mar-2025​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24-Apr-2025​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5​</a:t>
                      </a:r>
                      <a:endParaRPr lang="en-US" sz="2000" b="1" i="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2666648923"/>
                  </a:ext>
                </a:extLst>
              </a:tr>
              <a:tr h="427496">
                <a:tc>
                  <a:txBody>
                    <a:bodyPr/>
                    <a:lstStyle/>
                    <a:p>
                      <a:pPr algn="ctr" fontAlgn="base">
                        <a:lnSpc>
                          <a:spcPts val="1575"/>
                        </a:lnSpc>
                        <a:buNone/>
                      </a:pPr>
                      <a:r>
                        <a:rPr lang="en-US" sz="1200" b="1">
                          <a:solidFill>
                            <a:srgbClr val="000000"/>
                          </a:solidFill>
                          <a:effectLst/>
                          <a:latin typeface="Nunito Sans" pitchFamily="2" charset="0"/>
                        </a:rPr>
                        <a:t>16​</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Package design​</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18-Apr-2025​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08-May-2025​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02-Jun-2025​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20-Jun-2025​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30​</a:t>
                      </a:r>
                      <a:endParaRPr lang="en-US" sz="2000" b="1" i="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1534703381"/>
                  </a:ext>
                </a:extLst>
              </a:tr>
              <a:tr h="427496">
                <a:tc>
                  <a:txBody>
                    <a:bodyPr/>
                    <a:lstStyle/>
                    <a:p>
                      <a:pPr algn="ctr" fontAlgn="base">
                        <a:lnSpc>
                          <a:spcPts val="1575"/>
                        </a:lnSpc>
                        <a:buNone/>
                      </a:pPr>
                      <a:r>
                        <a:rPr lang="en-US" sz="1200" b="1">
                          <a:solidFill>
                            <a:srgbClr val="000000"/>
                          </a:solidFill>
                          <a:effectLst/>
                          <a:latin typeface="Nunito Sans" pitchFamily="2" charset="0"/>
                        </a:rPr>
                        <a:t>17​</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Select distributors​</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07-Mar-2025​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10-Apr-2025​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16-May-2025​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20-Jun-2025​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50​</a:t>
                      </a:r>
                      <a:endParaRPr lang="en-US" sz="2000" b="1" i="0" dirty="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2265657112"/>
                  </a:ext>
                </a:extLst>
              </a:tr>
              <a:tr h="427496">
                <a:tc>
                  <a:txBody>
                    <a:bodyPr/>
                    <a:lstStyle/>
                    <a:p>
                      <a:pPr algn="ctr" fontAlgn="base">
                        <a:lnSpc>
                          <a:spcPts val="1575"/>
                        </a:lnSpc>
                        <a:buNone/>
                      </a:pPr>
                      <a:r>
                        <a:rPr lang="en-US" sz="1200" b="1">
                          <a:solidFill>
                            <a:srgbClr val="000000"/>
                          </a:solidFill>
                          <a:effectLst/>
                          <a:latin typeface="Nunito Sans" pitchFamily="2" charset="0"/>
                        </a:rPr>
                        <a:t>19​</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Complete FDA certification​</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18-Apr-2025​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08-May-2025​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25-Apr-2025​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15-May-2025​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5​</a:t>
                      </a:r>
                      <a:endParaRPr lang="en-US" sz="2000" b="1" i="0" dirty="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268081103"/>
                  </a:ext>
                </a:extLst>
              </a:tr>
              <a:tr h="427496">
                <a:tc>
                  <a:txBody>
                    <a:bodyPr/>
                    <a:lstStyle/>
                    <a:p>
                      <a:pPr algn="ctr" fontAlgn="base">
                        <a:lnSpc>
                          <a:spcPts val="1575"/>
                        </a:lnSpc>
                        <a:buNone/>
                      </a:pPr>
                      <a:r>
                        <a:rPr lang="en-US" sz="1200" b="1">
                          <a:solidFill>
                            <a:srgbClr val="000000"/>
                          </a:solidFill>
                          <a:effectLst/>
                          <a:latin typeface="Nunito Sans" pitchFamily="2" charset="0"/>
                        </a:rPr>
                        <a:t>20​</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Register trademark​</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18-Apr-2025​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24-Apr-2025​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23-May-2025​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30-May-2025​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25​</a:t>
                      </a:r>
                      <a:endParaRPr lang="en-US" sz="2000" b="1" i="0" dirty="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1782638253"/>
                  </a:ext>
                </a:extLst>
              </a:tr>
              <a:tr h="427496">
                <a:tc>
                  <a:txBody>
                    <a:bodyPr/>
                    <a:lstStyle/>
                    <a:p>
                      <a:pPr algn="ctr" fontAlgn="base">
                        <a:lnSpc>
                          <a:spcPts val="1575"/>
                        </a:lnSpc>
                        <a:buNone/>
                      </a:pPr>
                      <a:r>
                        <a:rPr lang="en-US" sz="1200" b="1">
                          <a:solidFill>
                            <a:srgbClr val="000000"/>
                          </a:solidFill>
                          <a:effectLst/>
                          <a:latin typeface="Nunito Sans" pitchFamily="2" charset="0"/>
                        </a:rPr>
                        <a:t>21​</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Prepare product launch​</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23-Jun-2025​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14-Jul-2025​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a:solidFill>
                            <a:srgbClr val="000000"/>
                          </a:solidFill>
                          <a:effectLst/>
                          <a:latin typeface="Nunito Sans" pitchFamily="2" charset="0"/>
                        </a:rPr>
                        <a:t>23-Jun-2025​</a:t>
                      </a:r>
                      <a:endParaRPr lang="en-US" sz="2000" b="1" i="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14-Jul-2025​</a:t>
                      </a:r>
                      <a:endParaRPr lang="en-US" sz="2000" b="1" i="0" dirty="0">
                        <a:solidFill>
                          <a:srgbClr val="000000"/>
                        </a:solidFill>
                        <a:effectLst/>
                        <a:latin typeface="Nunito Sans" pitchFamily="2" charset="0"/>
                      </a:endParaRPr>
                    </a:p>
                  </a:txBody>
                  <a:tcPr marL="66783" marR="66783" marT="33391" marB="33391" anchor="ctr"/>
                </a:tc>
                <a:tc>
                  <a:txBody>
                    <a:bodyPr/>
                    <a:lstStyle/>
                    <a:p>
                      <a:pPr algn="ctr" fontAlgn="base">
                        <a:lnSpc>
                          <a:spcPts val="1575"/>
                        </a:lnSpc>
                        <a:buNone/>
                      </a:pPr>
                      <a:r>
                        <a:rPr lang="en-US" sz="1200" b="1" dirty="0">
                          <a:solidFill>
                            <a:srgbClr val="000000"/>
                          </a:solidFill>
                          <a:effectLst/>
                          <a:latin typeface="Nunito Sans" pitchFamily="2" charset="0"/>
                        </a:rPr>
                        <a:t>0​</a:t>
                      </a:r>
                      <a:endParaRPr lang="en-US" sz="2000" b="1" i="0" dirty="0">
                        <a:solidFill>
                          <a:srgbClr val="000000"/>
                        </a:solidFill>
                        <a:effectLst/>
                        <a:latin typeface="Nunito Sans" pitchFamily="2" charset="0"/>
                      </a:endParaRPr>
                    </a:p>
                  </a:txBody>
                  <a:tcPr marL="66783" marR="66783" marT="33391" marB="33391" anchor="ctr"/>
                </a:tc>
                <a:extLst>
                  <a:ext uri="{0D108BD9-81ED-4DB2-BD59-A6C34878D82A}">
                    <a16:rowId xmlns:a16="http://schemas.microsoft.com/office/drawing/2014/main" val="2091606631"/>
                  </a:ext>
                </a:extLst>
              </a:tr>
            </a:tbl>
          </a:graphicData>
        </a:graphic>
      </p:graphicFrame>
      <p:sp>
        <p:nvSpPr>
          <p:cNvPr id="8" name="Rectangle 3">
            <a:extLst>
              <a:ext uri="{FF2B5EF4-FFF2-40B4-BE49-F238E27FC236}">
                <a16:creationId xmlns:a16="http://schemas.microsoft.com/office/drawing/2014/main" id="{1D6245EB-EFEE-23CC-9550-D4EA622DB425}"/>
              </a:ext>
            </a:extLst>
          </p:cNvPr>
          <p:cNvSpPr>
            <a:spLocks noChangeArrowheads="1"/>
          </p:cNvSpPr>
          <p:nvPr/>
        </p:nvSpPr>
        <p:spPr bwMode="auto">
          <a:xfrm>
            <a:off x="1847850" y="1842778"/>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223734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0">
              <a:schemeClr val="bg2">
                <a:lumMod val="50000"/>
              </a:schemeClr>
            </a:gs>
            <a:gs pos="100000">
              <a:srgbClr val="FFFFFF">
                <a:alpha val="100000"/>
              </a:srgbClr>
            </a:gs>
          </a:gsLst>
          <a:lin ang="0" scaled="0"/>
        </a:gradFill>
        <a:effectLst/>
      </p:bgPr>
    </p:bg>
    <p:spTree>
      <p:nvGrpSpPr>
        <p:cNvPr id="1" name="">
          <a:extLst>
            <a:ext uri="{FF2B5EF4-FFF2-40B4-BE49-F238E27FC236}">
              <a16:creationId xmlns:a16="http://schemas.microsoft.com/office/drawing/2014/main" id="{6DA7456E-911C-E5D6-FE6C-B469F762690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4F62FB2-9F31-658B-F6D3-FCEB0E364656}"/>
              </a:ext>
            </a:extLst>
          </p:cNvPr>
          <p:cNvGrpSpPr/>
          <p:nvPr/>
        </p:nvGrpSpPr>
        <p:grpSpPr>
          <a:xfrm>
            <a:off x="-18288" y="-1630561"/>
            <a:ext cx="27584990" cy="12118677"/>
            <a:chOff x="0" y="-38100"/>
            <a:chExt cx="7265182" cy="3191750"/>
          </a:xfrm>
          <a:gradFill>
            <a:gsLst>
              <a:gs pos="0">
                <a:schemeClr val="accent4">
                  <a:lumMod val="60000"/>
                  <a:lumOff val="40000"/>
                </a:schemeClr>
              </a:gs>
              <a:gs pos="100000">
                <a:srgbClr val="FFFFFF">
                  <a:alpha val="100000"/>
                </a:srgbClr>
              </a:gs>
            </a:gsLst>
            <a:lin ang="0" scaled="0"/>
          </a:gradFill>
        </p:grpSpPr>
        <p:sp>
          <p:nvSpPr>
            <p:cNvPr id="3" name="Freeform 3">
              <a:extLst>
                <a:ext uri="{FF2B5EF4-FFF2-40B4-BE49-F238E27FC236}">
                  <a16:creationId xmlns:a16="http://schemas.microsoft.com/office/drawing/2014/main" id="{90A67F6E-D37B-B5D6-2A8F-B6E2BF36D5D2}"/>
                </a:ext>
              </a:extLst>
            </p:cNvPr>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p:spPr>
          <p:txBody>
            <a:bodyPr/>
            <a:lstStyle/>
            <a:p>
              <a:endParaRPr lang="en-IN"/>
            </a:p>
          </p:txBody>
        </p:sp>
        <p:sp>
          <p:nvSpPr>
            <p:cNvPr id="4" name="TextBox 4">
              <a:extLst>
                <a:ext uri="{FF2B5EF4-FFF2-40B4-BE49-F238E27FC236}">
                  <a16:creationId xmlns:a16="http://schemas.microsoft.com/office/drawing/2014/main" id="{0DDDA220-A5E0-DFEB-089D-72A35FFCCDD2}"/>
                </a:ext>
              </a:extLst>
            </p:cNvPr>
            <p:cNvSpPr txBox="1"/>
            <p:nvPr/>
          </p:nvSpPr>
          <p:spPr>
            <a:xfrm>
              <a:off x="0" y="-38100"/>
              <a:ext cx="7265182" cy="3191750"/>
            </a:xfrm>
            <a:prstGeom prst="rect">
              <a:avLst/>
            </a:prstGeom>
            <a:grpFill/>
          </p:spPr>
          <p:txBody>
            <a:bodyPr lIns="50800" tIns="50800" rIns="50800" bIns="50800" rtlCol="0" anchor="ctr"/>
            <a:lstStyle/>
            <a:p>
              <a:pPr algn="ctr">
                <a:lnSpc>
                  <a:spcPts val="3359"/>
                </a:lnSpc>
              </a:pPr>
              <a:endParaRPr/>
            </a:p>
          </p:txBody>
        </p:sp>
      </p:grpSp>
      <p:sp>
        <p:nvSpPr>
          <p:cNvPr id="7" name="AutoShape 7">
            <a:extLst>
              <a:ext uri="{FF2B5EF4-FFF2-40B4-BE49-F238E27FC236}">
                <a16:creationId xmlns:a16="http://schemas.microsoft.com/office/drawing/2014/main" id="{ACF84D40-03DA-5CCC-CCFC-8E7FA9DC75C9}"/>
              </a:ext>
            </a:extLst>
          </p:cNvPr>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1" name="TextBox 11">
            <a:extLst>
              <a:ext uri="{FF2B5EF4-FFF2-40B4-BE49-F238E27FC236}">
                <a16:creationId xmlns:a16="http://schemas.microsoft.com/office/drawing/2014/main" id="{091FF83D-62C6-A8E8-F3F3-AE84BB180CCA}"/>
              </a:ext>
            </a:extLst>
          </p:cNvPr>
          <p:cNvSpPr txBox="1"/>
          <p:nvPr/>
        </p:nvSpPr>
        <p:spPr>
          <a:xfrm rot="-5400000">
            <a:off x="-1686896" y="7498874"/>
            <a:ext cx="4498668" cy="564257"/>
          </a:xfrm>
          <a:prstGeom prst="rect">
            <a:avLst/>
          </a:prstGeom>
        </p:spPr>
        <p:txBody>
          <a:bodyPr lIns="0" tIns="0" rIns="0" bIns="0" rtlCol="0" anchor="t">
            <a:spAutoFit/>
          </a:bodyPr>
          <a:lstStyle/>
          <a:p>
            <a:pPr>
              <a:lnSpc>
                <a:spcPts val="2160"/>
              </a:lnSpc>
            </a:pPr>
            <a:r>
              <a:rPr lang="en-US" dirty="0">
                <a:solidFill>
                  <a:schemeClr val="tx2"/>
                </a:solidFill>
                <a:latin typeface="Georgia Pro" panose="02040502050405020303" pitchFamily="18" charset="0"/>
              </a:rPr>
              <a:t>POM+ Singapore </a:t>
            </a:r>
            <a:endParaRPr lang="en-US" spc="-53" dirty="0">
              <a:solidFill>
                <a:schemeClr val="tx2"/>
              </a:solidFill>
              <a:latin typeface="Georgia Pro" panose="02040502050405020303" pitchFamily="18" charset="0"/>
              <a:ea typeface="Nunito Sans"/>
              <a:cs typeface="Nunito Sans"/>
              <a:sym typeface="Nunito Sans"/>
            </a:endParaRPr>
          </a:p>
          <a:p>
            <a:pPr algn="l">
              <a:lnSpc>
                <a:spcPts val="2160"/>
              </a:lnSpc>
            </a:pPr>
            <a:endParaRPr lang="en-US" sz="1800" spc="-53" dirty="0">
              <a:solidFill>
                <a:srgbClr val="03286A"/>
              </a:solidFill>
              <a:latin typeface="Nunito Sans"/>
              <a:ea typeface="Nunito Sans"/>
              <a:cs typeface="Nunito Sans"/>
              <a:sym typeface="Nunito Sans"/>
            </a:endParaRPr>
          </a:p>
        </p:txBody>
      </p:sp>
      <p:sp>
        <p:nvSpPr>
          <p:cNvPr id="24" name="TextBox 24">
            <a:extLst>
              <a:ext uri="{FF2B5EF4-FFF2-40B4-BE49-F238E27FC236}">
                <a16:creationId xmlns:a16="http://schemas.microsoft.com/office/drawing/2014/main" id="{7EC44E95-EA73-719C-D57F-5BD4933AD972}"/>
              </a:ext>
            </a:extLst>
          </p:cNvPr>
          <p:cNvSpPr txBox="1"/>
          <p:nvPr/>
        </p:nvSpPr>
        <p:spPr>
          <a:xfrm>
            <a:off x="9258527" y="8777753"/>
            <a:ext cx="8000773" cy="356235"/>
          </a:xfrm>
          <a:prstGeom prst="rect">
            <a:avLst/>
          </a:prstGeom>
        </p:spPr>
        <p:txBody>
          <a:bodyPr lIns="0" tIns="0" rIns="0" bIns="0" rtlCol="0" anchor="t">
            <a:spAutoFit/>
          </a:bodyPr>
          <a:lstStyle/>
          <a:p>
            <a:pPr marL="0" lvl="0" indent="0" algn="l">
              <a:lnSpc>
                <a:spcPts val="2940"/>
              </a:lnSpc>
              <a:spcBef>
                <a:spcPct val="0"/>
              </a:spcBef>
            </a:pPr>
            <a:r>
              <a:rPr lang="en-US" sz="2100" dirty="0">
                <a:solidFill>
                  <a:srgbClr val="03286A"/>
                </a:solidFill>
                <a:latin typeface="Nunito Sans Light"/>
                <a:ea typeface="Nunito Sans Light"/>
                <a:cs typeface="Nunito Sans Light"/>
                <a:sym typeface="Nunito Sans Light"/>
              </a:rPr>
              <a:t>. </a:t>
            </a:r>
          </a:p>
        </p:txBody>
      </p:sp>
      <p:sp>
        <p:nvSpPr>
          <p:cNvPr id="27" name="TextBox 10">
            <a:extLst>
              <a:ext uri="{FF2B5EF4-FFF2-40B4-BE49-F238E27FC236}">
                <a16:creationId xmlns:a16="http://schemas.microsoft.com/office/drawing/2014/main" id="{B817A136-8305-EA93-F047-70BC532DEC32}"/>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
        <p:nvSpPr>
          <p:cNvPr id="28" name="TextBox 27">
            <a:extLst>
              <a:ext uri="{FF2B5EF4-FFF2-40B4-BE49-F238E27FC236}">
                <a16:creationId xmlns:a16="http://schemas.microsoft.com/office/drawing/2014/main" id="{C7BD5508-1255-9059-B83F-7221D1890856}"/>
              </a:ext>
            </a:extLst>
          </p:cNvPr>
          <p:cNvSpPr txBox="1"/>
          <p:nvPr/>
        </p:nvSpPr>
        <p:spPr>
          <a:xfrm>
            <a:off x="2209800" y="408069"/>
            <a:ext cx="8458198" cy="646331"/>
          </a:xfrm>
          <a:prstGeom prst="rect">
            <a:avLst/>
          </a:prstGeom>
          <a:noFill/>
        </p:spPr>
        <p:txBody>
          <a:bodyPr wrap="square" rtlCol="0">
            <a:spAutoFit/>
          </a:bodyPr>
          <a:lstStyle/>
          <a:p>
            <a:r>
              <a:rPr lang="en-IN" sz="3600" dirty="0">
                <a:latin typeface="Georgia Pro" panose="02040502050405020303" pitchFamily="18" charset="0"/>
              </a:rPr>
              <a:t>Earned Value Management (EVM) ​​</a:t>
            </a:r>
          </a:p>
        </p:txBody>
      </p:sp>
      <p:sp>
        <p:nvSpPr>
          <p:cNvPr id="6" name="Rectangle 1">
            <a:extLst>
              <a:ext uri="{FF2B5EF4-FFF2-40B4-BE49-F238E27FC236}">
                <a16:creationId xmlns:a16="http://schemas.microsoft.com/office/drawing/2014/main" id="{DDE8BC29-3ED8-0F1D-9C8B-CB3FCCDD53E8}"/>
              </a:ext>
            </a:extLst>
          </p:cNvPr>
          <p:cNvSpPr>
            <a:spLocks noChangeArrowheads="1"/>
          </p:cNvSpPr>
          <p:nvPr/>
        </p:nvSpPr>
        <p:spPr bwMode="auto">
          <a:xfrm>
            <a:off x="1847850" y="1862138"/>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0" name="TextBox 9">
            <a:extLst>
              <a:ext uri="{FF2B5EF4-FFF2-40B4-BE49-F238E27FC236}">
                <a16:creationId xmlns:a16="http://schemas.microsoft.com/office/drawing/2014/main" id="{3760EDB7-7330-4384-461C-5D357020B34A}"/>
              </a:ext>
            </a:extLst>
          </p:cNvPr>
          <p:cNvSpPr txBox="1"/>
          <p:nvPr/>
        </p:nvSpPr>
        <p:spPr>
          <a:xfrm>
            <a:off x="2209800" y="2095500"/>
            <a:ext cx="13563592" cy="369332"/>
          </a:xfrm>
          <a:prstGeom prst="rect">
            <a:avLst/>
          </a:prstGeom>
          <a:noFill/>
        </p:spPr>
        <p:txBody>
          <a:bodyPr wrap="square" rtlCol="0">
            <a:spAutoFit/>
          </a:bodyPr>
          <a:lstStyle/>
          <a:p>
            <a:endParaRPr lang="en-IN" dirty="0"/>
          </a:p>
        </p:txBody>
      </p:sp>
      <p:sp>
        <p:nvSpPr>
          <p:cNvPr id="8" name="Rectangle 3">
            <a:extLst>
              <a:ext uri="{FF2B5EF4-FFF2-40B4-BE49-F238E27FC236}">
                <a16:creationId xmlns:a16="http://schemas.microsoft.com/office/drawing/2014/main" id="{87CB712D-9B69-F5D0-E6E9-1FBEAED1764F}"/>
              </a:ext>
            </a:extLst>
          </p:cNvPr>
          <p:cNvSpPr>
            <a:spLocks noChangeArrowheads="1"/>
          </p:cNvSpPr>
          <p:nvPr/>
        </p:nvSpPr>
        <p:spPr bwMode="auto">
          <a:xfrm>
            <a:off x="1847850" y="1842778"/>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6" name="TextBox 15">
            <a:extLst>
              <a:ext uri="{FF2B5EF4-FFF2-40B4-BE49-F238E27FC236}">
                <a16:creationId xmlns:a16="http://schemas.microsoft.com/office/drawing/2014/main" id="{E907690F-9700-72C4-FF21-F57427D2B1A2}"/>
              </a:ext>
            </a:extLst>
          </p:cNvPr>
          <p:cNvSpPr txBox="1"/>
          <p:nvPr/>
        </p:nvSpPr>
        <p:spPr>
          <a:xfrm>
            <a:off x="6876288" y="4241030"/>
            <a:ext cx="13789152" cy="369332"/>
          </a:xfrm>
          <a:prstGeom prst="rect">
            <a:avLst/>
          </a:prstGeom>
          <a:noFill/>
        </p:spPr>
        <p:txBody>
          <a:bodyPr wrap="square">
            <a:spAutoFit/>
          </a:bodyPr>
          <a:lstStyle/>
          <a:p>
            <a:r>
              <a:rPr lang="en-IN" dirty="0"/>
              <a:t> </a:t>
            </a:r>
          </a:p>
        </p:txBody>
      </p:sp>
      <p:sp>
        <p:nvSpPr>
          <p:cNvPr id="20" name="TextBox 19">
            <a:extLst>
              <a:ext uri="{FF2B5EF4-FFF2-40B4-BE49-F238E27FC236}">
                <a16:creationId xmlns:a16="http://schemas.microsoft.com/office/drawing/2014/main" id="{0ADFFC11-5217-A008-946C-BBF6CC87082E}"/>
              </a:ext>
            </a:extLst>
          </p:cNvPr>
          <p:cNvSpPr txBox="1"/>
          <p:nvPr/>
        </p:nvSpPr>
        <p:spPr>
          <a:xfrm>
            <a:off x="6876288" y="4241030"/>
            <a:ext cx="13789152" cy="369332"/>
          </a:xfrm>
          <a:prstGeom prst="rect">
            <a:avLst/>
          </a:prstGeom>
          <a:noFill/>
        </p:spPr>
        <p:txBody>
          <a:bodyPr wrap="square">
            <a:spAutoFit/>
          </a:bodyPr>
          <a:lstStyle/>
          <a:p>
            <a:r>
              <a:rPr lang="en-IN" dirty="0"/>
              <a:t> </a:t>
            </a:r>
          </a:p>
        </p:txBody>
      </p:sp>
      <p:sp>
        <p:nvSpPr>
          <p:cNvPr id="21" name="TextBox 20">
            <a:extLst>
              <a:ext uri="{FF2B5EF4-FFF2-40B4-BE49-F238E27FC236}">
                <a16:creationId xmlns:a16="http://schemas.microsoft.com/office/drawing/2014/main" id="{BCD854C7-1C3C-8CAB-692F-BB5F944FED06}"/>
              </a:ext>
            </a:extLst>
          </p:cNvPr>
          <p:cNvSpPr txBox="1"/>
          <p:nvPr/>
        </p:nvSpPr>
        <p:spPr>
          <a:xfrm>
            <a:off x="2212848" y="2047525"/>
            <a:ext cx="14969730" cy="6247864"/>
          </a:xfrm>
          <a:prstGeom prst="rect">
            <a:avLst/>
          </a:prstGeom>
          <a:noFill/>
        </p:spPr>
        <p:txBody>
          <a:bodyPr wrap="square" rtlCol="0">
            <a:spAutoFit/>
          </a:bodyPr>
          <a:lstStyle/>
          <a:p>
            <a:pPr marL="457200" indent="-457200" fontAlgn="base">
              <a:buFont typeface="Arial" panose="020B0604020202020204" pitchFamily="34" charset="0"/>
              <a:buChar char="•"/>
            </a:pPr>
            <a:endParaRPr lang="en-US" sz="2800" dirty="0">
              <a:latin typeface="Nunito Sans" pitchFamily="2" charset="0"/>
            </a:endParaRPr>
          </a:p>
          <a:p>
            <a:pPr fontAlgn="base"/>
            <a:r>
              <a:rPr lang="en-US" sz="2800" b="1" dirty="0">
                <a:latin typeface="Nunito Sans" pitchFamily="2" charset="0"/>
              </a:rPr>
              <a:t>Insight:-</a:t>
            </a:r>
          </a:p>
          <a:p>
            <a:pPr marL="457200" indent="-457200" fontAlgn="base">
              <a:buFont typeface="Arial" panose="020B0604020202020204" pitchFamily="34" charset="0"/>
              <a:buChar char="•"/>
            </a:pPr>
            <a:r>
              <a:rPr lang="en-US" sz="2800" dirty="0">
                <a:latin typeface="Nunito Sans" pitchFamily="2" charset="0"/>
              </a:rPr>
              <a:t>The project is </a:t>
            </a:r>
            <a:r>
              <a:rPr lang="en-US" sz="2800" b="1" dirty="0">
                <a:latin typeface="Nunito Sans" pitchFamily="2" charset="0"/>
              </a:rPr>
              <a:t>behind schedule</a:t>
            </a:r>
            <a:r>
              <a:rPr lang="en-US" sz="2800" dirty="0">
                <a:latin typeface="Nunito Sans" pitchFamily="2" charset="0"/>
              </a:rPr>
              <a:t> and </a:t>
            </a:r>
            <a:r>
              <a:rPr lang="en-US" sz="2800" b="1" dirty="0">
                <a:latin typeface="Nunito Sans" pitchFamily="2" charset="0"/>
              </a:rPr>
              <a:t>over budget</a:t>
            </a:r>
            <a:r>
              <a:rPr lang="en-US" sz="2800" dirty="0">
                <a:latin typeface="Nunito Sans" pitchFamily="2" charset="0"/>
              </a:rPr>
              <a:t>.​</a:t>
            </a:r>
          </a:p>
          <a:p>
            <a:pPr marL="457200" indent="-457200" fontAlgn="base">
              <a:buFont typeface="Arial" panose="020B0604020202020204" pitchFamily="34" charset="0"/>
              <a:buChar char="•"/>
            </a:pPr>
            <a:r>
              <a:rPr lang="en-US" sz="2800" dirty="0">
                <a:latin typeface="Nunito Sans" pitchFamily="2" charset="0"/>
              </a:rPr>
              <a:t>Efficiency indicators (CPI and SPI) both below 1 show </a:t>
            </a:r>
            <a:r>
              <a:rPr lang="en-US" sz="2800" b="1" dirty="0">
                <a:latin typeface="Nunito Sans" pitchFamily="2" charset="0"/>
              </a:rPr>
              <a:t>performance issues</a:t>
            </a:r>
            <a:r>
              <a:rPr lang="en-US" sz="2800" dirty="0">
                <a:latin typeface="Nunito Sans" pitchFamily="2" charset="0"/>
              </a:rPr>
              <a:t> in cost and schedule.​</a:t>
            </a:r>
          </a:p>
          <a:p>
            <a:pPr marL="457200" indent="-457200" fontAlgn="base">
              <a:buFont typeface="Arial" panose="020B0604020202020204" pitchFamily="34" charset="0"/>
              <a:buChar char="•"/>
            </a:pPr>
            <a:r>
              <a:rPr lang="en-US" sz="2800" dirty="0">
                <a:latin typeface="Nunito Sans" pitchFamily="2" charset="0"/>
              </a:rPr>
              <a:t>Immediate corrective action or reallocation of resources may be needed.​</a:t>
            </a:r>
            <a:br>
              <a:rPr lang="en-US" sz="2800" dirty="0">
                <a:latin typeface="Nunito Sans" pitchFamily="2" charset="0"/>
              </a:rPr>
            </a:br>
            <a:endParaRPr lang="en-US" sz="2800" dirty="0">
              <a:latin typeface="Nunito Sans" pitchFamily="2" charset="0"/>
            </a:endParaRPr>
          </a:p>
          <a:p>
            <a:pPr fontAlgn="base"/>
            <a:r>
              <a:rPr lang="en-US" sz="2800" b="1" dirty="0">
                <a:latin typeface="Nunito Sans" pitchFamily="2" charset="0"/>
              </a:rPr>
              <a:t>Recommendations :</a:t>
            </a:r>
            <a:br>
              <a:rPr lang="en-US" sz="2800" b="1" dirty="0">
                <a:latin typeface="Nunito Sans" pitchFamily="2" charset="0"/>
              </a:rPr>
            </a:br>
            <a:r>
              <a:rPr lang="en-US" sz="2800" dirty="0">
                <a:latin typeface="Nunito Sans" pitchFamily="2" charset="0"/>
              </a:rPr>
              <a:t>Behind schedule and over budget.​</a:t>
            </a:r>
            <a:br>
              <a:rPr lang="en-US" sz="2800" dirty="0">
                <a:latin typeface="Nunito Sans" pitchFamily="2" charset="0"/>
              </a:rPr>
            </a:br>
            <a:r>
              <a:rPr lang="en-US" sz="2800" dirty="0">
                <a:latin typeface="Nunito Sans" pitchFamily="2" charset="0"/>
              </a:rPr>
              <a:t>With an SPI of 0.72 and a CPI of 0.87, the current performance suggests we are not executing as efficiently as planned.​</a:t>
            </a:r>
            <a:br>
              <a:rPr lang="en-US" sz="2800" dirty="0">
                <a:latin typeface="Nunito Sans" pitchFamily="2" charset="0"/>
              </a:rPr>
            </a:br>
            <a:r>
              <a:rPr lang="en-US" sz="2800" dirty="0">
                <a:latin typeface="Nunito Sans" pitchFamily="2" charset="0"/>
              </a:rPr>
              <a:t>To get back on track, we should focus on identifying bottlenecks, tightening cost controls, and re-evaluating the project’s timeline and resource distribution.</a:t>
            </a:r>
            <a:br>
              <a:rPr lang="en-US" b="1" dirty="0"/>
            </a:br>
            <a:endParaRPr lang="en-US" dirty="0">
              <a:latin typeface="Nunito Sans" pitchFamily="2" charset="0"/>
            </a:endParaRPr>
          </a:p>
          <a:p>
            <a:endParaRPr lang="en-IN" dirty="0"/>
          </a:p>
        </p:txBody>
      </p:sp>
    </p:spTree>
    <p:extLst>
      <p:ext uri="{BB962C8B-B14F-4D97-AF65-F5344CB8AC3E}">
        <p14:creationId xmlns:p14="http://schemas.microsoft.com/office/powerpoint/2010/main" val="8454519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0">
              <a:srgbClr val="D5DA0E"/>
            </a:gs>
            <a:gs pos="100000">
              <a:srgbClr val="FFFFFF">
                <a:alpha val="100000"/>
              </a:srgbClr>
            </a:gs>
          </a:gsLst>
          <a:lin ang="0" scaled="0"/>
        </a:gradFill>
        <a:effectLst/>
      </p:bgPr>
    </p:bg>
    <p:spTree>
      <p:nvGrpSpPr>
        <p:cNvPr id="1" name="">
          <a:extLst>
            <a:ext uri="{FF2B5EF4-FFF2-40B4-BE49-F238E27FC236}">
              <a16:creationId xmlns:a16="http://schemas.microsoft.com/office/drawing/2014/main" id="{445DA380-4372-0D72-6391-0C649774168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62F180A-9F9A-8A69-DC64-16FE7138B252}"/>
              </a:ext>
            </a:extLst>
          </p:cNvPr>
          <p:cNvGrpSpPr/>
          <p:nvPr/>
        </p:nvGrpSpPr>
        <p:grpSpPr>
          <a:xfrm>
            <a:off x="-18288" y="-1630561"/>
            <a:ext cx="27584990" cy="12118677"/>
            <a:chOff x="0" y="-38100"/>
            <a:chExt cx="7265182" cy="3191750"/>
          </a:xfrm>
          <a:gradFill>
            <a:gsLst>
              <a:gs pos="0">
                <a:srgbClr val="D5DA0E"/>
              </a:gs>
              <a:gs pos="100000">
                <a:srgbClr val="FFFFFF">
                  <a:alpha val="100000"/>
                </a:srgbClr>
              </a:gs>
            </a:gsLst>
            <a:lin ang="0" scaled="0"/>
          </a:gradFill>
        </p:grpSpPr>
        <p:sp>
          <p:nvSpPr>
            <p:cNvPr id="3" name="Freeform 3">
              <a:extLst>
                <a:ext uri="{FF2B5EF4-FFF2-40B4-BE49-F238E27FC236}">
                  <a16:creationId xmlns:a16="http://schemas.microsoft.com/office/drawing/2014/main" id="{5E483259-607F-CAEE-559F-274F611429D1}"/>
                </a:ext>
              </a:extLst>
            </p:cNvPr>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p:spPr>
          <p:txBody>
            <a:bodyPr/>
            <a:lstStyle/>
            <a:p>
              <a:endParaRPr lang="en-IN"/>
            </a:p>
          </p:txBody>
        </p:sp>
        <p:sp>
          <p:nvSpPr>
            <p:cNvPr id="4" name="TextBox 4">
              <a:extLst>
                <a:ext uri="{FF2B5EF4-FFF2-40B4-BE49-F238E27FC236}">
                  <a16:creationId xmlns:a16="http://schemas.microsoft.com/office/drawing/2014/main" id="{DAD5B06F-8D15-BC67-70CF-2A188FAACD1F}"/>
                </a:ext>
              </a:extLst>
            </p:cNvPr>
            <p:cNvSpPr txBox="1"/>
            <p:nvPr/>
          </p:nvSpPr>
          <p:spPr>
            <a:xfrm>
              <a:off x="0" y="-38100"/>
              <a:ext cx="7265182" cy="3191750"/>
            </a:xfrm>
            <a:prstGeom prst="rect">
              <a:avLst/>
            </a:prstGeom>
            <a:grpFill/>
          </p:spPr>
          <p:txBody>
            <a:bodyPr lIns="50800" tIns="50800" rIns="50800" bIns="50800" rtlCol="0" anchor="ctr"/>
            <a:lstStyle/>
            <a:p>
              <a:pPr algn="ctr">
                <a:lnSpc>
                  <a:spcPts val="3359"/>
                </a:lnSpc>
              </a:pPr>
              <a:endParaRPr dirty="0"/>
            </a:p>
          </p:txBody>
        </p:sp>
      </p:grpSp>
      <p:sp>
        <p:nvSpPr>
          <p:cNvPr id="7" name="AutoShape 7">
            <a:extLst>
              <a:ext uri="{FF2B5EF4-FFF2-40B4-BE49-F238E27FC236}">
                <a16:creationId xmlns:a16="http://schemas.microsoft.com/office/drawing/2014/main" id="{0A5FDB71-CFB5-5CD1-2DC4-39022F6AE700}"/>
              </a:ext>
            </a:extLst>
          </p:cNvPr>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1" name="TextBox 11">
            <a:extLst>
              <a:ext uri="{FF2B5EF4-FFF2-40B4-BE49-F238E27FC236}">
                <a16:creationId xmlns:a16="http://schemas.microsoft.com/office/drawing/2014/main" id="{AF74D0B7-F5A1-A243-1266-88F3BD47C714}"/>
              </a:ext>
            </a:extLst>
          </p:cNvPr>
          <p:cNvSpPr txBox="1"/>
          <p:nvPr/>
        </p:nvSpPr>
        <p:spPr>
          <a:xfrm rot="-5400000">
            <a:off x="-1686896" y="7498874"/>
            <a:ext cx="4498668" cy="564257"/>
          </a:xfrm>
          <a:prstGeom prst="rect">
            <a:avLst/>
          </a:prstGeom>
        </p:spPr>
        <p:txBody>
          <a:bodyPr lIns="0" tIns="0" rIns="0" bIns="0" rtlCol="0" anchor="t">
            <a:spAutoFit/>
          </a:bodyPr>
          <a:lstStyle/>
          <a:p>
            <a:pPr>
              <a:lnSpc>
                <a:spcPts val="2160"/>
              </a:lnSpc>
            </a:pPr>
            <a:r>
              <a:rPr lang="en-US" dirty="0">
                <a:solidFill>
                  <a:schemeClr val="tx2"/>
                </a:solidFill>
                <a:latin typeface="Georgia Pro" panose="02040502050405020303" pitchFamily="18" charset="0"/>
              </a:rPr>
              <a:t>POM+ Singapore </a:t>
            </a:r>
            <a:endParaRPr lang="en-US" spc="-53" dirty="0">
              <a:solidFill>
                <a:schemeClr val="tx2"/>
              </a:solidFill>
              <a:latin typeface="Georgia Pro" panose="02040502050405020303" pitchFamily="18" charset="0"/>
              <a:ea typeface="Nunito Sans"/>
              <a:cs typeface="Nunito Sans"/>
              <a:sym typeface="Nunito Sans"/>
            </a:endParaRPr>
          </a:p>
          <a:p>
            <a:pPr algn="l">
              <a:lnSpc>
                <a:spcPts val="2160"/>
              </a:lnSpc>
            </a:pPr>
            <a:endParaRPr lang="en-US" sz="1800" spc="-53" dirty="0">
              <a:solidFill>
                <a:srgbClr val="03286A"/>
              </a:solidFill>
              <a:latin typeface="Nunito Sans"/>
              <a:ea typeface="Nunito Sans"/>
              <a:cs typeface="Nunito Sans"/>
              <a:sym typeface="Nunito Sans"/>
            </a:endParaRPr>
          </a:p>
        </p:txBody>
      </p:sp>
      <p:sp>
        <p:nvSpPr>
          <p:cNvPr id="24" name="TextBox 24">
            <a:extLst>
              <a:ext uri="{FF2B5EF4-FFF2-40B4-BE49-F238E27FC236}">
                <a16:creationId xmlns:a16="http://schemas.microsoft.com/office/drawing/2014/main" id="{70A2D4AD-2AF2-FF12-232B-7ECDA69ED2E4}"/>
              </a:ext>
            </a:extLst>
          </p:cNvPr>
          <p:cNvSpPr txBox="1"/>
          <p:nvPr/>
        </p:nvSpPr>
        <p:spPr>
          <a:xfrm>
            <a:off x="9258527" y="8777753"/>
            <a:ext cx="8000773" cy="356235"/>
          </a:xfrm>
          <a:prstGeom prst="rect">
            <a:avLst/>
          </a:prstGeom>
        </p:spPr>
        <p:txBody>
          <a:bodyPr lIns="0" tIns="0" rIns="0" bIns="0" rtlCol="0" anchor="t">
            <a:spAutoFit/>
          </a:bodyPr>
          <a:lstStyle/>
          <a:p>
            <a:pPr marL="0" lvl="0" indent="0" algn="l">
              <a:lnSpc>
                <a:spcPts val="2940"/>
              </a:lnSpc>
              <a:spcBef>
                <a:spcPct val="0"/>
              </a:spcBef>
            </a:pPr>
            <a:r>
              <a:rPr lang="en-US" sz="2100" dirty="0">
                <a:solidFill>
                  <a:srgbClr val="03286A"/>
                </a:solidFill>
                <a:latin typeface="Nunito Sans Light"/>
                <a:ea typeface="Nunito Sans Light"/>
                <a:cs typeface="Nunito Sans Light"/>
                <a:sym typeface="Nunito Sans Light"/>
              </a:rPr>
              <a:t>. </a:t>
            </a:r>
          </a:p>
        </p:txBody>
      </p:sp>
      <p:sp>
        <p:nvSpPr>
          <p:cNvPr id="27" name="TextBox 10">
            <a:extLst>
              <a:ext uri="{FF2B5EF4-FFF2-40B4-BE49-F238E27FC236}">
                <a16:creationId xmlns:a16="http://schemas.microsoft.com/office/drawing/2014/main" id="{9647EE53-56F3-FB10-82A1-CCAD665EA296}"/>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rgbClr val="03286A"/>
                </a:solidFill>
                <a:latin typeface="Nunito Sans"/>
                <a:ea typeface="Nunito Sans"/>
                <a:cs typeface="Nunito Sans"/>
                <a:sym typeface="Nunito Sans"/>
              </a:rPr>
              <a:t>NOV</a:t>
            </a:r>
            <a:r>
              <a:rPr lang="en-US" sz="1800" spc="-53" dirty="0">
                <a:solidFill>
                  <a:srgbClr val="03286A"/>
                </a:solidFill>
                <a:latin typeface="Nunito Sans"/>
                <a:ea typeface="Nunito Sans"/>
                <a:cs typeface="Nunito Sans"/>
                <a:sym typeface="Nunito Sans"/>
              </a:rPr>
              <a:t> 2025</a:t>
            </a:r>
          </a:p>
        </p:txBody>
      </p:sp>
      <p:sp>
        <p:nvSpPr>
          <p:cNvPr id="28" name="TextBox 27">
            <a:extLst>
              <a:ext uri="{FF2B5EF4-FFF2-40B4-BE49-F238E27FC236}">
                <a16:creationId xmlns:a16="http://schemas.microsoft.com/office/drawing/2014/main" id="{2AA271CA-D590-7DD7-FEAF-9CFBE5E00035}"/>
              </a:ext>
            </a:extLst>
          </p:cNvPr>
          <p:cNvSpPr txBox="1"/>
          <p:nvPr/>
        </p:nvSpPr>
        <p:spPr>
          <a:xfrm>
            <a:off x="2209800" y="408069"/>
            <a:ext cx="8458198" cy="646331"/>
          </a:xfrm>
          <a:prstGeom prst="rect">
            <a:avLst/>
          </a:prstGeom>
          <a:noFill/>
        </p:spPr>
        <p:txBody>
          <a:bodyPr wrap="square" rtlCol="0">
            <a:spAutoFit/>
          </a:bodyPr>
          <a:lstStyle/>
          <a:p>
            <a:r>
              <a:rPr lang="en-IN" sz="3600" dirty="0">
                <a:latin typeface="Georgia Pro" panose="02040502050405020303" pitchFamily="18" charset="0"/>
              </a:rPr>
              <a:t>Communication Plan ​​</a:t>
            </a:r>
          </a:p>
        </p:txBody>
      </p:sp>
      <p:sp>
        <p:nvSpPr>
          <p:cNvPr id="6" name="Rectangle 1">
            <a:extLst>
              <a:ext uri="{FF2B5EF4-FFF2-40B4-BE49-F238E27FC236}">
                <a16:creationId xmlns:a16="http://schemas.microsoft.com/office/drawing/2014/main" id="{F1C9881F-EECF-3545-4309-5AB08D519BF2}"/>
              </a:ext>
            </a:extLst>
          </p:cNvPr>
          <p:cNvSpPr>
            <a:spLocks noChangeArrowheads="1"/>
          </p:cNvSpPr>
          <p:nvPr/>
        </p:nvSpPr>
        <p:spPr bwMode="auto">
          <a:xfrm>
            <a:off x="1847850" y="1862138"/>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0" name="TextBox 9">
            <a:extLst>
              <a:ext uri="{FF2B5EF4-FFF2-40B4-BE49-F238E27FC236}">
                <a16:creationId xmlns:a16="http://schemas.microsoft.com/office/drawing/2014/main" id="{BE0598A5-6979-BED1-3D99-3F1731AC8021}"/>
              </a:ext>
            </a:extLst>
          </p:cNvPr>
          <p:cNvSpPr txBox="1"/>
          <p:nvPr/>
        </p:nvSpPr>
        <p:spPr>
          <a:xfrm>
            <a:off x="2209800" y="2095500"/>
            <a:ext cx="13563592" cy="369332"/>
          </a:xfrm>
          <a:prstGeom prst="rect">
            <a:avLst/>
          </a:prstGeom>
          <a:noFill/>
        </p:spPr>
        <p:txBody>
          <a:bodyPr wrap="square" rtlCol="0">
            <a:spAutoFit/>
          </a:bodyPr>
          <a:lstStyle/>
          <a:p>
            <a:endParaRPr lang="en-IN" dirty="0"/>
          </a:p>
        </p:txBody>
      </p:sp>
      <p:sp>
        <p:nvSpPr>
          <p:cNvPr id="8" name="Rectangle 3">
            <a:extLst>
              <a:ext uri="{FF2B5EF4-FFF2-40B4-BE49-F238E27FC236}">
                <a16:creationId xmlns:a16="http://schemas.microsoft.com/office/drawing/2014/main" id="{E40E78C0-C370-87C7-6A36-9C31C251E996}"/>
              </a:ext>
            </a:extLst>
          </p:cNvPr>
          <p:cNvSpPr>
            <a:spLocks noChangeArrowheads="1"/>
          </p:cNvSpPr>
          <p:nvPr/>
        </p:nvSpPr>
        <p:spPr bwMode="auto">
          <a:xfrm>
            <a:off x="1847850" y="1842778"/>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6" name="TextBox 15">
            <a:extLst>
              <a:ext uri="{FF2B5EF4-FFF2-40B4-BE49-F238E27FC236}">
                <a16:creationId xmlns:a16="http://schemas.microsoft.com/office/drawing/2014/main" id="{69593843-B0DB-C374-CF93-6EBA2837CF4F}"/>
              </a:ext>
            </a:extLst>
          </p:cNvPr>
          <p:cNvSpPr txBox="1"/>
          <p:nvPr/>
        </p:nvSpPr>
        <p:spPr>
          <a:xfrm>
            <a:off x="6876288" y="4241030"/>
            <a:ext cx="13789152" cy="369332"/>
          </a:xfrm>
          <a:prstGeom prst="rect">
            <a:avLst/>
          </a:prstGeom>
          <a:noFill/>
        </p:spPr>
        <p:txBody>
          <a:bodyPr wrap="square">
            <a:spAutoFit/>
          </a:bodyPr>
          <a:lstStyle/>
          <a:p>
            <a:r>
              <a:rPr lang="en-IN" dirty="0"/>
              <a:t> </a:t>
            </a:r>
          </a:p>
        </p:txBody>
      </p:sp>
      <p:sp>
        <p:nvSpPr>
          <p:cNvPr id="20" name="TextBox 19">
            <a:extLst>
              <a:ext uri="{FF2B5EF4-FFF2-40B4-BE49-F238E27FC236}">
                <a16:creationId xmlns:a16="http://schemas.microsoft.com/office/drawing/2014/main" id="{7EFF7F19-914C-C667-F79A-D065CABE3FC7}"/>
              </a:ext>
            </a:extLst>
          </p:cNvPr>
          <p:cNvSpPr txBox="1"/>
          <p:nvPr/>
        </p:nvSpPr>
        <p:spPr>
          <a:xfrm>
            <a:off x="6876288" y="4241030"/>
            <a:ext cx="13789152" cy="369332"/>
          </a:xfrm>
          <a:prstGeom prst="rect">
            <a:avLst/>
          </a:prstGeom>
          <a:noFill/>
        </p:spPr>
        <p:txBody>
          <a:bodyPr wrap="square">
            <a:spAutoFit/>
          </a:bodyPr>
          <a:lstStyle/>
          <a:p>
            <a:r>
              <a:rPr lang="en-IN" dirty="0"/>
              <a:t> </a:t>
            </a:r>
          </a:p>
        </p:txBody>
      </p:sp>
      <p:graphicFrame>
        <p:nvGraphicFramePr>
          <p:cNvPr id="5" name="Table 4">
            <a:extLst>
              <a:ext uri="{FF2B5EF4-FFF2-40B4-BE49-F238E27FC236}">
                <a16:creationId xmlns:a16="http://schemas.microsoft.com/office/drawing/2014/main" id="{95FC63ED-F4FA-5526-E6E8-7081E864306E}"/>
              </a:ext>
            </a:extLst>
          </p:cNvPr>
          <p:cNvGraphicFramePr>
            <a:graphicFrameLocks noGrp="1"/>
          </p:cNvGraphicFramePr>
          <p:nvPr>
            <p:extLst>
              <p:ext uri="{D42A27DB-BD31-4B8C-83A1-F6EECF244321}">
                <p14:modId xmlns:p14="http://schemas.microsoft.com/office/powerpoint/2010/main" val="3304877576"/>
              </p:ext>
            </p:extLst>
          </p:nvPr>
        </p:nvGraphicFramePr>
        <p:xfrm>
          <a:off x="1544836" y="1522377"/>
          <a:ext cx="15891357" cy="8356554"/>
        </p:xfrm>
        <a:graphic>
          <a:graphicData uri="http://schemas.openxmlformats.org/drawingml/2006/table">
            <a:tbl>
              <a:tblPr>
                <a:effectLst>
                  <a:outerShdw blurRad="50800" dist="38100" algn="l" rotWithShape="0">
                    <a:prstClr val="black">
                      <a:alpha val="40000"/>
                    </a:prstClr>
                  </a:outerShdw>
                </a:effectLst>
                <a:tableStyleId>{073A0DAA-6AF3-43AB-8588-CEC1D06C72B9}</a:tableStyleId>
              </a:tblPr>
              <a:tblGrid>
                <a:gridCol w="2960953">
                  <a:extLst>
                    <a:ext uri="{9D8B030D-6E8A-4147-A177-3AD203B41FA5}">
                      <a16:colId xmlns:a16="http://schemas.microsoft.com/office/drawing/2014/main" val="3355301324"/>
                    </a:ext>
                  </a:extLst>
                </a:gridCol>
                <a:gridCol w="3571411">
                  <a:extLst>
                    <a:ext uri="{9D8B030D-6E8A-4147-A177-3AD203B41FA5}">
                      <a16:colId xmlns:a16="http://schemas.microsoft.com/office/drawing/2014/main" val="1006724289"/>
                    </a:ext>
                  </a:extLst>
                </a:gridCol>
                <a:gridCol w="2057400">
                  <a:extLst>
                    <a:ext uri="{9D8B030D-6E8A-4147-A177-3AD203B41FA5}">
                      <a16:colId xmlns:a16="http://schemas.microsoft.com/office/drawing/2014/main" val="2936279389"/>
                    </a:ext>
                  </a:extLst>
                </a:gridCol>
                <a:gridCol w="4557956">
                  <a:extLst>
                    <a:ext uri="{9D8B030D-6E8A-4147-A177-3AD203B41FA5}">
                      <a16:colId xmlns:a16="http://schemas.microsoft.com/office/drawing/2014/main" val="2182261308"/>
                    </a:ext>
                  </a:extLst>
                </a:gridCol>
                <a:gridCol w="2743637">
                  <a:extLst>
                    <a:ext uri="{9D8B030D-6E8A-4147-A177-3AD203B41FA5}">
                      <a16:colId xmlns:a16="http://schemas.microsoft.com/office/drawing/2014/main" val="3114122953"/>
                    </a:ext>
                  </a:extLst>
                </a:gridCol>
              </a:tblGrid>
              <a:tr h="615747">
                <a:tc>
                  <a:txBody>
                    <a:bodyPr/>
                    <a:lstStyle/>
                    <a:p>
                      <a:pPr algn="l" fontAlgn="base">
                        <a:lnSpc>
                          <a:spcPts val="1425"/>
                        </a:lnSpc>
                        <a:buNone/>
                      </a:pPr>
                      <a:r>
                        <a:rPr lang="en-US" sz="1400" b="1" u="none" strike="noStrike" dirty="0">
                          <a:solidFill>
                            <a:srgbClr val="000000"/>
                          </a:solidFill>
                          <a:effectLst/>
                        </a:rPr>
                        <a:t>What Information</a:t>
                      </a:r>
                      <a:r>
                        <a:rPr lang="en-US" sz="1400" b="0" dirty="0">
                          <a:solidFill>
                            <a:srgbClr val="000000"/>
                          </a:solidFill>
                          <a:effectLst/>
                        </a:rPr>
                        <a:t>​</a:t>
                      </a:r>
                      <a:endParaRPr lang="en-US" sz="2400" b="0" i="0" dirty="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1" u="none" strike="noStrike">
                          <a:solidFill>
                            <a:srgbClr val="000000"/>
                          </a:solidFill>
                          <a:effectLst/>
                        </a:rPr>
                        <a:t>Target Audience</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1" u="none" strike="noStrike">
                          <a:solidFill>
                            <a:srgbClr val="000000"/>
                          </a:solidFill>
                          <a:effectLst/>
                        </a:rPr>
                        <a:t>When?</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1" u="none" strike="noStrike">
                          <a:solidFill>
                            <a:srgbClr val="000000"/>
                          </a:solidFill>
                          <a:effectLst/>
                        </a:rPr>
                        <a:t>Method of Communication</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1" u="none" strike="noStrike">
                          <a:solidFill>
                            <a:srgbClr val="000000"/>
                          </a:solidFill>
                          <a:effectLst/>
                        </a:rPr>
                        <a:t>Provider</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3203900293"/>
                  </a:ext>
                </a:extLst>
              </a:tr>
              <a:tr h="1290134">
                <a:tc>
                  <a:txBody>
                    <a:bodyPr/>
                    <a:lstStyle/>
                    <a:p>
                      <a:pPr algn="l" fontAlgn="base">
                        <a:lnSpc>
                          <a:spcPts val="1425"/>
                        </a:lnSpc>
                        <a:buNone/>
                      </a:pPr>
                      <a:r>
                        <a:rPr lang="en-US" sz="1400" b="1" u="none" strike="noStrike">
                          <a:solidFill>
                            <a:srgbClr val="000000"/>
                          </a:solidFill>
                          <a:effectLst/>
                        </a:rPr>
                        <a:t>Project Status Report</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CEO, PM, Project Team, VP-Manufacturing, VP-Production Design</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Monthly</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dirty="0">
                          <a:solidFill>
                            <a:srgbClr val="000000"/>
                          </a:solidFill>
                          <a:effectLst/>
                        </a:rPr>
                        <a:t>E-mail + Review Meeting</a:t>
                      </a:r>
                      <a:r>
                        <a:rPr lang="en-US" sz="1400" b="0" dirty="0">
                          <a:solidFill>
                            <a:srgbClr val="000000"/>
                          </a:solidFill>
                          <a:effectLst/>
                        </a:rPr>
                        <a:t>​</a:t>
                      </a:r>
                      <a:endParaRPr lang="en-US" sz="2400" b="0" i="0" dirty="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Project Manager</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2483975594"/>
                  </a:ext>
                </a:extLst>
              </a:tr>
              <a:tr h="952941">
                <a:tc>
                  <a:txBody>
                    <a:bodyPr/>
                    <a:lstStyle/>
                    <a:p>
                      <a:pPr algn="l" fontAlgn="base">
                        <a:lnSpc>
                          <a:spcPts val="1425"/>
                        </a:lnSpc>
                        <a:buNone/>
                      </a:pPr>
                      <a:r>
                        <a:rPr lang="en-US" sz="1400" b="1" u="none" strike="noStrike">
                          <a:solidFill>
                            <a:srgbClr val="000000"/>
                          </a:solidFill>
                          <a:effectLst/>
                        </a:rPr>
                        <a:t>Budget Status &amp; Cost Performance</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CFO, PM, Project Steering Committee</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Monthly</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dirty="0">
                          <a:solidFill>
                            <a:srgbClr val="000000"/>
                          </a:solidFill>
                          <a:effectLst/>
                        </a:rPr>
                        <a:t>E-mail + Dashboard Summary</a:t>
                      </a:r>
                      <a:r>
                        <a:rPr lang="en-US" sz="1400" b="0" dirty="0">
                          <a:solidFill>
                            <a:srgbClr val="000000"/>
                          </a:solidFill>
                          <a:effectLst/>
                        </a:rPr>
                        <a:t>​</a:t>
                      </a:r>
                      <a:endParaRPr lang="en-US" sz="2400" b="0" i="0" dirty="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Finance Lead</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1114922820"/>
                  </a:ext>
                </a:extLst>
              </a:tr>
              <a:tr h="1290134">
                <a:tc>
                  <a:txBody>
                    <a:bodyPr/>
                    <a:lstStyle/>
                    <a:p>
                      <a:pPr algn="l" fontAlgn="base">
                        <a:lnSpc>
                          <a:spcPts val="1425"/>
                        </a:lnSpc>
                        <a:buNone/>
                      </a:pPr>
                      <a:r>
                        <a:rPr lang="en-US" sz="1400" b="1" u="none" strike="noStrike">
                          <a:solidFill>
                            <a:srgbClr val="000000"/>
                          </a:solidFill>
                          <a:effectLst/>
                        </a:rPr>
                        <a:t>Change Requests</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PM, VP-Production Design, VP-Manufacturing, Project Steering Committee</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As Required</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dirty="0">
                          <a:solidFill>
                            <a:srgbClr val="000000"/>
                          </a:solidFill>
                          <a:effectLst/>
                        </a:rPr>
                        <a:t>Formal Change Log + Meeting</a:t>
                      </a:r>
                      <a:r>
                        <a:rPr lang="en-US" sz="1400" b="0" dirty="0">
                          <a:solidFill>
                            <a:srgbClr val="000000"/>
                          </a:solidFill>
                          <a:effectLst/>
                        </a:rPr>
                        <a:t>​</a:t>
                      </a:r>
                      <a:endParaRPr lang="en-US" sz="2400" b="0" i="0" dirty="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Change Control Manager</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210076421"/>
                  </a:ext>
                </a:extLst>
              </a:tr>
              <a:tr h="1290134">
                <a:tc>
                  <a:txBody>
                    <a:bodyPr/>
                    <a:lstStyle/>
                    <a:p>
                      <a:pPr algn="l" fontAlgn="base">
                        <a:lnSpc>
                          <a:spcPts val="1425"/>
                        </a:lnSpc>
                        <a:buNone/>
                      </a:pPr>
                      <a:r>
                        <a:rPr lang="en-US" sz="1400" b="1" u="none" strike="noStrike">
                          <a:solidFill>
                            <a:srgbClr val="000000"/>
                          </a:solidFill>
                          <a:effectLst/>
                        </a:rPr>
                        <a:t>Risk Assessment Report</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PM, Project Team, VP-Manufacturing, VP-Production Design</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Bi-weekly</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E-mail</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Risk Management Officer</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4150729784"/>
                  </a:ext>
                </a:extLst>
              </a:tr>
              <a:tr h="1290134">
                <a:tc>
                  <a:txBody>
                    <a:bodyPr/>
                    <a:lstStyle/>
                    <a:p>
                      <a:pPr algn="l" fontAlgn="base">
                        <a:lnSpc>
                          <a:spcPts val="1425"/>
                        </a:lnSpc>
                        <a:buNone/>
                      </a:pPr>
                      <a:r>
                        <a:rPr lang="en-US" sz="1400" b="1" u="none" strike="noStrike">
                          <a:solidFill>
                            <a:srgbClr val="000000"/>
                          </a:solidFill>
                          <a:effectLst/>
                        </a:rPr>
                        <a:t>Market Research Report</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CMO, Market Research Group, VP-Production Design, PM</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Bi-weekly</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E-mail + Briefing Call</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Lead Market Analyst</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2023036769"/>
                  </a:ext>
                </a:extLst>
              </a:tr>
              <a:tr h="1627330">
                <a:tc>
                  <a:txBody>
                    <a:bodyPr/>
                    <a:lstStyle/>
                    <a:p>
                      <a:pPr algn="l" fontAlgn="base">
                        <a:lnSpc>
                          <a:spcPts val="1425"/>
                        </a:lnSpc>
                        <a:buNone/>
                      </a:pPr>
                      <a:r>
                        <a:rPr lang="en-US" sz="1400" b="1" u="none" strike="noStrike">
                          <a:solidFill>
                            <a:srgbClr val="000000"/>
                          </a:solidFill>
                          <a:effectLst/>
                        </a:rPr>
                        <a:t>Pilot Results &amp; Antitoxin Report</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Project Steering Committee, Technion Institute of Technology, PM, Project Team</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End of Pilot</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rPr>
                        <a:t>Presentation + Technical Report</a:t>
                      </a:r>
                      <a:r>
                        <a:rPr lang="en-US" sz="1400" b="0">
                          <a:solidFill>
                            <a:srgbClr val="000000"/>
                          </a:solidFill>
                          <a:effectLst/>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dirty="0">
                          <a:solidFill>
                            <a:srgbClr val="000000"/>
                          </a:solidFill>
                          <a:effectLst/>
                        </a:rPr>
                        <a:t>Test Manager / Research Lead</a:t>
                      </a:r>
                      <a:r>
                        <a:rPr lang="en-US" sz="1400" b="0" dirty="0">
                          <a:solidFill>
                            <a:srgbClr val="000000"/>
                          </a:solidFill>
                          <a:effectLst/>
                        </a:rPr>
                        <a:t>​</a:t>
                      </a:r>
                      <a:endParaRPr lang="en-US" sz="2400" b="0" i="0" dirty="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2756366306"/>
                  </a:ext>
                </a:extLst>
              </a:tr>
            </a:tbl>
          </a:graphicData>
        </a:graphic>
      </p:graphicFrame>
      <p:sp>
        <p:nvSpPr>
          <p:cNvPr id="9" name="Rectangle 1">
            <a:extLst>
              <a:ext uri="{FF2B5EF4-FFF2-40B4-BE49-F238E27FC236}">
                <a16:creationId xmlns:a16="http://schemas.microsoft.com/office/drawing/2014/main" id="{22716F4A-CBEE-980F-2F0A-29E44ABCA2F8}"/>
              </a:ext>
            </a:extLst>
          </p:cNvPr>
          <p:cNvSpPr>
            <a:spLocks noChangeArrowheads="1"/>
          </p:cNvSpPr>
          <p:nvPr/>
        </p:nvSpPr>
        <p:spPr bwMode="auto">
          <a:xfrm>
            <a:off x="457200" y="1858963"/>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810786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gradFill>
          <a:gsLst>
            <a:gs pos="0">
              <a:srgbClr val="FFC000"/>
            </a:gs>
            <a:gs pos="100000">
              <a:srgbClr val="FFFFFF">
                <a:alpha val="100000"/>
              </a:srgbClr>
            </a:gs>
          </a:gsLst>
          <a:lin ang="0" scaled="0"/>
        </a:gradFill>
        <a:effectLst/>
      </p:bgPr>
    </p:bg>
    <p:spTree>
      <p:nvGrpSpPr>
        <p:cNvPr id="1" name="">
          <a:extLst>
            <a:ext uri="{FF2B5EF4-FFF2-40B4-BE49-F238E27FC236}">
              <a16:creationId xmlns:a16="http://schemas.microsoft.com/office/drawing/2014/main" id="{DA95F111-E8C8-5681-221D-548E485F132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3EBE4015-55DB-B515-02DA-B4DCB72A5C43}"/>
              </a:ext>
            </a:extLst>
          </p:cNvPr>
          <p:cNvGrpSpPr/>
          <p:nvPr/>
        </p:nvGrpSpPr>
        <p:grpSpPr>
          <a:xfrm>
            <a:off x="-18288" y="-1630561"/>
            <a:ext cx="27584990" cy="12118677"/>
            <a:chOff x="0" y="-38100"/>
            <a:chExt cx="7265182" cy="3191750"/>
          </a:xfrm>
          <a:gradFill>
            <a:gsLst>
              <a:gs pos="0">
                <a:srgbClr val="FF0000"/>
              </a:gs>
              <a:gs pos="100000">
                <a:srgbClr val="FFFFFF">
                  <a:alpha val="100000"/>
                </a:srgbClr>
              </a:gs>
            </a:gsLst>
            <a:lin ang="0" scaled="0"/>
          </a:gradFill>
        </p:grpSpPr>
        <p:sp>
          <p:nvSpPr>
            <p:cNvPr id="3" name="Freeform 3">
              <a:extLst>
                <a:ext uri="{FF2B5EF4-FFF2-40B4-BE49-F238E27FC236}">
                  <a16:creationId xmlns:a16="http://schemas.microsoft.com/office/drawing/2014/main" id="{AA8A322F-E5F8-FC99-06F3-5C9029A2C443}"/>
                </a:ext>
              </a:extLst>
            </p:cNvPr>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p:spPr>
          <p:txBody>
            <a:bodyPr/>
            <a:lstStyle/>
            <a:p>
              <a:endParaRPr lang="en-IN"/>
            </a:p>
          </p:txBody>
        </p:sp>
        <p:sp>
          <p:nvSpPr>
            <p:cNvPr id="4" name="TextBox 4">
              <a:extLst>
                <a:ext uri="{FF2B5EF4-FFF2-40B4-BE49-F238E27FC236}">
                  <a16:creationId xmlns:a16="http://schemas.microsoft.com/office/drawing/2014/main" id="{A3281A09-2CF1-A5DE-1F0B-2B9CF04488E2}"/>
                </a:ext>
              </a:extLst>
            </p:cNvPr>
            <p:cNvSpPr txBox="1"/>
            <p:nvPr/>
          </p:nvSpPr>
          <p:spPr>
            <a:xfrm>
              <a:off x="0" y="-38100"/>
              <a:ext cx="7265182" cy="3191750"/>
            </a:xfrm>
            <a:prstGeom prst="rect">
              <a:avLst/>
            </a:prstGeom>
            <a:grpFill/>
          </p:spPr>
          <p:txBody>
            <a:bodyPr lIns="50800" tIns="50800" rIns="50800" bIns="50800" rtlCol="0" anchor="ctr"/>
            <a:lstStyle/>
            <a:p>
              <a:pPr algn="ctr">
                <a:lnSpc>
                  <a:spcPts val="3359"/>
                </a:lnSpc>
              </a:pPr>
              <a:endParaRPr dirty="0"/>
            </a:p>
          </p:txBody>
        </p:sp>
      </p:grpSp>
      <p:sp>
        <p:nvSpPr>
          <p:cNvPr id="7" name="AutoShape 7">
            <a:extLst>
              <a:ext uri="{FF2B5EF4-FFF2-40B4-BE49-F238E27FC236}">
                <a16:creationId xmlns:a16="http://schemas.microsoft.com/office/drawing/2014/main" id="{751F7159-B394-4975-4FC3-19FA7EF63175}"/>
              </a:ext>
            </a:extLst>
          </p:cNvPr>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1" name="TextBox 11">
            <a:extLst>
              <a:ext uri="{FF2B5EF4-FFF2-40B4-BE49-F238E27FC236}">
                <a16:creationId xmlns:a16="http://schemas.microsoft.com/office/drawing/2014/main" id="{FED216A9-C019-8B84-07AE-593A0D15FB1F}"/>
              </a:ext>
            </a:extLst>
          </p:cNvPr>
          <p:cNvSpPr txBox="1"/>
          <p:nvPr/>
        </p:nvSpPr>
        <p:spPr>
          <a:xfrm rot="-5400000">
            <a:off x="-1686896" y="7498874"/>
            <a:ext cx="4498668" cy="564257"/>
          </a:xfrm>
          <a:prstGeom prst="rect">
            <a:avLst/>
          </a:prstGeom>
        </p:spPr>
        <p:txBody>
          <a:bodyPr lIns="0" tIns="0" rIns="0" bIns="0" rtlCol="0" anchor="t">
            <a:spAutoFit/>
          </a:bodyPr>
          <a:lstStyle/>
          <a:p>
            <a:pPr>
              <a:lnSpc>
                <a:spcPts val="2160"/>
              </a:lnSpc>
            </a:pPr>
            <a:r>
              <a:rPr lang="en-US" dirty="0">
                <a:solidFill>
                  <a:schemeClr val="bg1"/>
                </a:solidFill>
                <a:latin typeface="Georgia Pro" panose="02040502050405020303" pitchFamily="18" charset="0"/>
              </a:rPr>
              <a:t>POM+ Singapore </a:t>
            </a:r>
            <a:endParaRPr lang="en-US" spc="-53" dirty="0">
              <a:solidFill>
                <a:schemeClr val="bg1"/>
              </a:solidFill>
              <a:latin typeface="Georgia Pro" panose="02040502050405020303" pitchFamily="18" charset="0"/>
              <a:ea typeface="Nunito Sans"/>
              <a:cs typeface="Nunito Sans"/>
              <a:sym typeface="Nunito Sans"/>
            </a:endParaRPr>
          </a:p>
          <a:p>
            <a:pPr algn="l">
              <a:lnSpc>
                <a:spcPts val="2160"/>
              </a:lnSpc>
            </a:pPr>
            <a:endParaRPr lang="en-US" sz="1800" spc="-53" dirty="0">
              <a:solidFill>
                <a:srgbClr val="03286A"/>
              </a:solidFill>
              <a:latin typeface="Nunito Sans"/>
              <a:ea typeface="Nunito Sans"/>
              <a:cs typeface="Nunito Sans"/>
              <a:sym typeface="Nunito Sans"/>
            </a:endParaRPr>
          </a:p>
        </p:txBody>
      </p:sp>
      <p:sp>
        <p:nvSpPr>
          <p:cNvPr id="24" name="TextBox 24">
            <a:extLst>
              <a:ext uri="{FF2B5EF4-FFF2-40B4-BE49-F238E27FC236}">
                <a16:creationId xmlns:a16="http://schemas.microsoft.com/office/drawing/2014/main" id="{AF6D23E1-F756-C3AC-9891-D5DBE61D0E0C}"/>
              </a:ext>
            </a:extLst>
          </p:cNvPr>
          <p:cNvSpPr txBox="1"/>
          <p:nvPr/>
        </p:nvSpPr>
        <p:spPr>
          <a:xfrm>
            <a:off x="9258527" y="8777753"/>
            <a:ext cx="8000773" cy="356235"/>
          </a:xfrm>
          <a:prstGeom prst="rect">
            <a:avLst/>
          </a:prstGeom>
        </p:spPr>
        <p:txBody>
          <a:bodyPr lIns="0" tIns="0" rIns="0" bIns="0" rtlCol="0" anchor="t">
            <a:spAutoFit/>
          </a:bodyPr>
          <a:lstStyle/>
          <a:p>
            <a:pPr marL="0" lvl="0" indent="0" algn="l">
              <a:lnSpc>
                <a:spcPts val="2940"/>
              </a:lnSpc>
              <a:spcBef>
                <a:spcPct val="0"/>
              </a:spcBef>
            </a:pPr>
            <a:r>
              <a:rPr lang="en-US" sz="2100" dirty="0">
                <a:solidFill>
                  <a:srgbClr val="03286A"/>
                </a:solidFill>
                <a:latin typeface="Nunito Sans Light"/>
                <a:ea typeface="Nunito Sans Light"/>
                <a:cs typeface="Nunito Sans Light"/>
                <a:sym typeface="Nunito Sans Light"/>
              </a:rPr>
              <a:t>. </a:t>
            </a:r>
          </a:p>
        </p:txBody>
      </p:sp>
      <p:sp>
        <p:nvSpPr>
          <p:cNvPr id="27" name="TextBox 10">
            <a:extLst>
              <a:ext uri="{FF2B5EF4-FFF2-40B4-BE49-F238E27FC236}">
                <a16:creationId xmlns:a16="http://schemas.microsoft.com/office/drawing/2014/main" id="{D894965F-AB4B-A45A-4090-15082590FF2A}"/>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chemeClr val="bg1"/>
                </a:solidFill>
                <a:latin typeface="Nunito Sans"/>
                <a:ea typeface="Nunito Sans"/>
                <a:cs typeface="Nunito Sans"/>
                <a:sym typeface="Nunito Sans"/>
              </a:rPr>
              <a:t>NOV</a:t>
            </a:r>
            <a:r>
              <a:rPr lang="en-US" sz="1800" spc="-53" dirty="0">
                <a:solidFill>
                  <a:schemeClr val="bg1"/>
                </a:solidFill>
                <a:latin typeface="Nunito Sans"/>
                <a:ea typeface="Nunito Sans"/>
                <a:cs typeface="Nunito Sans"/>
                <a:sym typeface="Nunito Sans"/>
              </a:rPr>
              <a:t> 2025</a:t>
            </a:r>
          </a:p>
        </p:txBody>
      </p:sp>
      <p:sp>
        <p:nvSpPr>
          <p:cNvPr id="28" name="TextBox 27">
            <a:extLst>
              <a:ext uri="{FF2B5EF4-FFF2-40B4-BE49-F238E27FC236}">
                <a16:creationId xmlns:a16="http://schemas.microsoft.com/office/drawing/2014/main" id="{333BBDE8-36E6-0B9F-62F1-79C1CCCE52BE}"/>
              </a:ext>
            </a:extLst>
          </p:cNvPr>
          <p:cNvSpPr txBox="1"/>
          <p:nvPr/>
        </p:nvSpPr>
        <p:spPr>
          <a:xfrm>
            <a:off x="2209800" y="408069"/>
            <a:ext cx="8458198" cy="646331"/>
          </a:xfrm>
          <a:prstGeom prst="rect">
            <a:avLst/>
          </a:prstGeom>
          <a:noFill/>
        </p:spPr>
        <p:txBody>
          <a:bodyPr wrap="square" rtlCol="0">
            <a:spAutoFit/>
          </a:bodyPr>
          <a:lstStyle/>
          <a:p>
            <a:r>
              <a:rPr lang="en-IN" sz="3600" dirty="0">
                <a:solidFill>
                  <a:schemeClr val="bg1"/>
                </a:solidFill>
                <a:latin typeface="Georgia Pro" panose="02040502050405020303" pitchFamily="18" charset="0"/>
              </a:rPr>
              <a:t>RISK</a:t>
            </a:r>
            <a:r>
              <a:rPr lang="en-IN" sz="3600" dirty="0">
                <a:latin typeface="Georgia Pro" panose="02040502050405020303" pitchFamily="18" charset="0"/>
              </a:rPr>
              <a:t>​ </a:t>
            </a:r>
            <a:r>
              <a:rPr lang="en-IN" sz="3600" dirty="0">
                <a:solidFill>
                  <a:schemeClr val="bg1"/>
                </a:solidFill>
                <a:latin typeface="Georgia Pro" panose="02040502050405020303" pitchFamily="18" charset="0"/>
              </a:rPr>
              <a:t>ASSESSMENT PLAN</a:t>
            </a:r>
            <a:r>
              <a:rPr lang="en-IN" sz="3600" dirty="0">
                <a:latin typeface="Georgia Pro" panose="02040502050405020303" pitchFamily="18" charset="0"/>
              </a:rPr>
              <a:t>​</a:t>
            </a:r>
          </a:p>
        </p:txBody>
      </p:sp>
      <p:sp>
        <p:nvSpPr>
          <p:cNvPr id="6" name="Rectangle 1">
            <a:extLst>
              <a:ext uri="{FF2B5EF4-FFF2-40B4-BE49-F238E27FC236}">
                <a16:creationId xmlns:a16="http://schemas.microsoft.com/office/drawing/2014/main" id="{CD5B826C-DA7F-3B49-38AC-FC993F2926A1}"/>
              </a:ext>
            </a:extLst>
          </p:cNvPr>
          <p:cNvSpPr>
            <a:spLocks noChangeArrowheads="1"/>
          </p:cNvSpPr>
          <p:nvPr/>
        </p:nvSpPr>
        <p:spPr bwMode="auto">
          <a:xfrm>
            <a:off x="1847850" y="1862138"/>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0" name="TextBox 9">
            <a:extLst>
              <a:ext uri="{FF2B5EF4-FFF2-40B4-BE49-F238E27FC236}">
                <a16:creationId xmlns:a16="http://schemas.microsoft.com/office/drawing/2014/main" id="{6364E7D7-83E7-9AB5-9FF8-C43B9E1C81AE}"/>
              </a:ext>
            </a:extLst>
          </p:cNvPr>
          <p:cNvSpPr txBox="1"/>
          <p:nvPr/>
        </p:nvSpPr>
        <p:spPr>
          <a:xfrm>
            <a:off x="2209800" y="2095500"/>
            <a:ext cx="13563592" cy="369332"/>
          </a:xfrm>
          <a:prstGeom prst="rect">
            <a:avLst/>
          </a:prstGeom>
          <a:noFill/>
        </p:spPr>
        <p:txBody>
          <a:bodyPr wrap="square" rtlCol="0">
            <a:spAutoFit/>
          </a:bodyPr>
          <a:lstStyle/>
          <a:p>
            <a:endParaRPr lang="en-IN" dirty="0"/>
          </a:p>
        </p:txBody>
      </p:sp>
      <p:sp>
        <p:nvSpPr>
          <p:cNvPr id="8" name="Rectangle 3">
            <a:extLst>
              <a:ext uri="{FF2B5EF4-FFF2-40B4-BE49-F238E27FC236}">
                <a16:creationId xmlns:a16="http://schemas.microsoft.com/office/drawing/2014/main" id="{45A04EF9-7CB8-0FB6-191E-CB167914438A}"/>
              </a:ext>
            </a:extLst>
          </p:cNvPr>
          <p:cNvSpPr>
            <a:spLocks noChangeArrowheads="1"/>
          </p:cNvSpPr>
          <p:nvPr/>
        </p:nvSpPr>
        <p:spPr bwMode="auto">
          <a:xfrm>
            <a:off x="1847850" y="1842778"/>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6" name="TextBox 15">
            <a:extLst>
              <a:ext uri="{FF2B5EF4-FFF2-40B4-BE49-F238E27FC236}">
                <a16:creationId xmlns:a16="http://schemas.microsoft.com/office/drawing/2014/main" id="{F0598BD9-32F8-9819-B32B-6149E8880390}"/>
              </a:ext>
            </a:extLst>
          </p:cNvPr>
          <p:cNvSpPr txBox="1"/>
          <p:nvPr/>
        </p:nvSpPr>
        <p:spPr>
          <a:xfrm>
            <a:off x="6876288" y="4241030"/>
            <a:ext cx="13789152" cy="369332"/>
          </a:xfrm>
          <a:prstGeom prst="rect">
            <a:avLst/>
          </a:prstGeom>
          <a:noFill/>
        </p:spPr>
        <p:txBody>
          <a:bodyPr wrap="square">
            <a:spAutoFit/>
          </a:bodyPr>
          <a:lstStyle/>
          <a:p>
            <a:r>
              <a:rPr lang="en-IN" dirty="0"/>
              <a:t> </a:t>
            </a:r>
          </a:p>
        </p:txBody>
      </p:sp>
      <p:sp>
        <p:nvSpPr>
          <p:cNvPr id="20" name="TextBox 19">
            <a:extLst>
              <a:ext uri="{FF2B5EF4-FFF2-40B4-BE49-F238E27FC236}">
                <a16:creationId xmlns:a16="http://schemas.microsoft.com/office/drawing/2014/main" id="{4BB3C569-6357-E4A9-A218-3A703C939430}"/>
              </a:ext>
            </a:extLst>
          </p:cNvPr>
          <p:cNvSpPr txBox="1"/>
          <p:nvPr/>
        </p:nvSpPr>
        <p:spPr>
          <a:xfrm>
            <a:off x="6876288" y="4241030"/>
            <a:ext cx="13789152" cy="369332"/>
          </a:xfrm>
          <a:prstGeom prst="rect">
            <a:avLst/>
          </a:prstGeom>
          <a:noFill/>
        </p:spPr>
        <p:txBody>
          <a:bodyPr wrap="square">
            <a:spAutoFit/>
          </a:bodyPr>
          <a:lstStyle/>
          <a:p>
            <a:r>
              <a:rPr lang="en-IN" dirty="0"/>
              <a:t> </a:t>
            </a:r>
          </a:p>
        </p:txBody>
      </p:sp>
      <p:sp>
        <p:nvSpPr>
          <p:cNvPr id="9" name="Rectangle 1">
            <a:extLst>
              <a:ext uri="{FF2B5EF4-FFF2-40B4-BE49-F238E27FC236}">
                <a16:creationId xmlns:a16="http://schemas.microsoft.com/office/drawing/2014/main" id="{DECCD260-4D96-DE05-FDE6-9EC879D5EFF9}"/>
              </a:ext>
            </a:extLst>
          </p:cNvPr>
          <p:cNvSpPr>
            <a:spLocks noChangeArrowheads="1"/>
          </p:cNvSpPr>
          <p:nvPr/>
        </p:nvSpPr>
        <p:spPr bwMode="auto">
          <a:xfrm>
            <a:off x="457200" y="1858963"/>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graphicFrame>
        <p:nvGraphicFramePr>
          <p:cNvPr id="12" name="Table 11">
            <a:extLst>
              <a:ext uri="{FF2B5EF4-FFF2-40B4-BE49-F238E27FC236}">
                <a16:creationId xmlns:a16="http://schemas.microsoft.com/office/drawing/2014/main" id="{5A3A3EEA-864F-12EF-6CA8-34269AA56C42}"/>
              </a:ext>
            </a:extLst>
          </p:cNvPr>
          <p:cNvGraphicFramePr>
            <a:graphicFrameLocks noGrp="1"/>
          </p:cNvGraphicFramePr>
          <p:nvPr>
            <p:extLst>
              <p:ext uri="{D42A27DB-BD31-4B8C-83A1-F6EECF244321}">
                <p14:modId xmlns:p14="http://schemas.microsoft.com/office/powerpoint/2010/main" val="3095963221"/>
              </p:ext>
            </p:extLst>
          </p:nvPr>
        </p:nvGraphicFramePr>
        <p:xfrm>
          <a:off x="1143164" y="1838468"/>
          <a:ext cx="8928843" cy="7892080"/>
        </p:xfrm>
        <a:graphic>
          <a:graphicData uri="http://schemas.openxmlformats.org/drawingml/2006/table">
            <a:tbl>
              <a:tblPr>
                <a:tableStyleId>{284E427A-3D55-4303-BF80-6455036E1DE7}</a:tableStyleId>
              </a:tblPr>
              <a:tblGrid>
                <a:gridCol w="1663664">
                  <a:extLst>
                    <a:ext uri="{9D8B030D-6E8A-4147-A177-3AD203B41FA5}">
                      <a16:colId xmlns:a16="http://schemas.microsoft.com/office/drawing/2014/main" val="2826902047"/>
                    </a:ext>
                  </a:extLst>
                </a:gridCol>
                <a:gridCol w="1701823">
                  <a:extLst>
                    <a:ext uri="{9D8B030D-6E8A-4147-A177-3AD203B41FA5}">
                      <a16:colId xmlns:a16="http://schemas.microsoft.com/office/drawing/2014/main" val="1183890316"/>
                    </a:ext>
                  </a:extLst>
                </a:gridCol>
                <a:gridCol w="1167618">
                  <a:extLst>
                    <a:ext uri="{9D8B030D-6E8A-4147-A177-3AD203B41FA5}">
                      <a16:colId xmlns:a16="http://schemas.microsoft.com/office/drawing/2014/main" val="2135135335"/>
                    </a:ext>
                  </a:extLst>
                </a:gridCol>
                <a:gridCol w="2282659">
                  <a:extLst>
                    <a:ext uri="{9D8B030D-6E8A-4147-A177-3AD203B41FA5}">
                      <a16:colId xmlns:a16="http://schemas.microsoft.com/office/drawing/2014/main" val="602045245"/>
                    </a:ext>
                  </a:extLst>
                </a:gridCol>
                <a:gridCol w="2113079">
                  <a:extLst>
                    <a:ext uri="{9D8B030D-6E8A-4147-A177-3AD203B41FA5}">
                      <a16:colId xmlns:a16="http://schemas.microsoft.com/office/drawing/2014/main" val="1140173614"/>
                    </a:ext>
                  </a:extLst>
                </a:gridCol>
              </a:tblGrid>
              <a:tr h="581523">
                <a:tc>
                  <a:txBody>
                    <a:bodyPr/>
                    <a:lstStyle/>
                    <a:p>
                      <a:pPr algn="l" fontAlgn="base">
                        <a:lnSpc>
                          <a:spcPts val="1425"/>
                        </a:lnSpc>
                        <a:buNone/>
                      </a:pPr>
                      <a:r>
                        <a:rPr lang="en-US" sz="1400" b="1" u="none" strike="noStrike">
                          <a:solidFill>
                            <a:srgbClr val="000000"/>
                          </a:solidFill>
                          <a:effectLst/>
                          <a:latin typeface="Nunito Sans" pitchFamily="2" charset="0"/>
                        </a:rPr>
                        <a:t>What Information</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1" u="none" strike="noStrike">
                          <a:solidFill>
                            <a:srgbClr val="000000"/>
                          </a:solidFill>
                          <a:effectLst/>
                          <a:latin typeface="Nunito Sans" pitchFamily="2" charset="0"/>
                        </a:rPr>
                        <a:t>Target Audience</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1" u="none" strike="noStrike" dirty="0">
                          <a:solidFill>
                            <a:srgbClr val="000000"/>
                          </a:solidFill>
                          <a:effectLst/>
                          <a:latin typeface="Nunito Sans" pitchFamily="2" charset="0"/>
                        </a:rPr>
                        <a:t>When?</a:t>
                      </a:r>
                      <a:r>
                        <a:rPr lang="en-US" sz="1400" b="0" dirty="0">
                          <a:solidFill>
                            <a:srgbClr val="000000"/>
                          </a:solidFill>
                          <a:effectLst/>
                          <a:latin typeface="Nunito Sans" pitchFamily="2" charset="0"/>
                        </a:rPr>
                        <a:t>​</a:t>
                      </a:r>
                      <a:endParaRPr lang="en-US" sz="2400" b="0" i="0" dirty="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1" u="none" strike="noStrike">
                          <a:solidFill>
                            <a:srgbClr val="000000"/>
                          </a:solidFill>
                          <a:effectLst/>
                          <a:latin typeface="Nunito Sans" pitchFamily="2" charset="0"/>
                        </a:rPr>
                        <a:t>Method of Communication</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1" u="none" strike="noStrike">
                          <a:solidFill>
                            <a:srgbClr val="000000"/>
                          </a:solidFill>
                          <a:effectLst/>
                          <a:latin typeface="Nunito Sans" pitchFamily="2" charset="0"/>
                        </a:rPr>
                        <a:t>Provider</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2916034834"/>
                  </a:ext>
                </a:extLst>
              </a:tr>
              <a:tr h="1218426">
                <a:tc>
                  <a:txBody>
                    <a:bodyPr/>
                    <a:lstStyle/>
                    <a:p>
                      <a:pPr algn="l" fontAlgn="base">
                        <a:lnSpc>
                          <a:spcPts val="1425"/>
                        </a:lnSpc>
                        <a:buNone/>
                      </a:pPr>
                      <a:r>
                        <a:rPr lang="en-US" sz="1400" b="1" u="none" strike="noStrike">
                          <a:solidFill>
                            <a:srgbClr val="000000"/>
                          </a:solidFill>
                          <a:effectLst/>
                          <a:latin typeface="Nunito Sans" pitchFamily="2" charset="0"/>
                        </a:rPr>
                        <a:t>Project Status Report</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CEO, PM, Project Team, VP-Manufacturing, VP-Production Design</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Monthly</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E-mail + Review Meeting</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Project Manager</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3733195469"/>
                  </a:ext>
                </a:extLst>
              </a:tr>
              <a:tr h="899974">
                <a:tc>
                  <a:txBody>
                    <a:bodyPr/>
                    <a:lstStyle/>
                    <a:p>
                      <a:pPr algn="l" fontAlgn="base">
                        <a:lnSpc>
                          <a:spcPts val="1425"/>
                        </a:lnSpc>
                        <a:buNone/>
                      </a:pPr>
                      <a:r>
                        <a:rPr lang="en-US" sz="1400" b="1" u="none" strike="noStrike">
                          <a:solidFill>
                            <a:srgbClr val="000000"/>
                          </a:solidFill>
                          <a:effectLst/>
                          <a:latin typeface="Nunito Sans" pitchFamily="2" charset="0"/>
                        </a:rPr>
                        <a:t>Budget Status &amp; Cost Performance</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CFO, PM, Project Steering Committee</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Monthly</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dirty="0">
                          <a:solidFill>
                            <a:srgbClr val="000000"/>
                          </a:solidFill>
                          <a:effectLst/>
                          <a:latin typeface="Nunito Sans" pitchFamily="2" charset="0"/>
                        </a:rPr>
                        <a:t>E-mail + Dashboard Summary</a:t>
                      </a:r>
                      <a:r>
                        <a:rPr lang="en-US" sz="1400" b="0" dirty="0">
                          <a:solidFill>
                            <a:srgbClr val="000000"/>
                          </a:solidFill>
                          <a:effectLst/>
                          <a:latin typeface="Nunito Sans" pitchFamily="2" charset="0"/>
                        </a:rPr>
                        <a:t>​</a:t>
                      </a:r>
                      <a:endParaRPr lang="en-US" sz="2400" b="0" i="0" dirty="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Finance Lead</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2474807814"/>
                  </a:ext>
                </a:extLst>
              </a:tr>
              <a:tr h="1218426">
                <a:tc>
                  <a:txBody>
                    <a:bodyPr/>
                    <a:lstStyle/>
                    <a:p>
                      <a:pPr algn="l" fontAlgn="base">
                        <a:lnSpc>
                          <a:spcPts val="1425"/>
                        </a:lnSpc>
                        <a:buNone/>
                      </a:pPr>
                      <a:r>
                        <a:rPr lang="en-US" sz="1400" b="1" u="none" strike="noStrike">
                          <a:solidFill>
                            <a:srgbClr val="000000"/>
                          </a:solidFill>
                          <a:effectLst/>
                          <a:latin typeface="Nunito Sans" pitchFamily="2" charset="0"/>
                        </a:rPr>
                        <a:t>Change Requests</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PM, VP-Production Design, VP-Manufacturing, Project Steering Committee</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As Required</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Formal Change Log + Meeting</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dirty="0">
                          <a:solidFill>
                            <a:srgbClr val="000000"/>
                          </a:solidFill>
                          <a:effectLst/>
                          <a:latin typeface="Nunito Sans" pitchFamily="2" charset="0"/>
                        </a:rPr>
                        <a:t>Change Control Manager</a:t>
                      </a:r>
                      <a:r>
                        <a:rPr lang="en-US" sz="1400" b="0" dirty="0">
                          <a:solidFill>
                            <a:srgbClr val="000000"/>
                          </a:solidFill>
                          <a:effectLst/>
                          <a:latin typeface="Nunito Sans" pitchFamily="2" charset="0"/>
                        </a:rPr>
                        <a:t>​</a:t>
                      </a:r>
                      <a:endParaRPr lang="en-US" sz="2400" b="0" i="0" dirty="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658912030"/>
                  </a:ext>
                </a:extLst>
              </a:tr>
              <a:tr h="1218426">
                <a:tc>
                  <a:txBody>
                    <a:bodyPr/>
                    <a:lstStyle/>
                    <a:p>
                      <a:pPr algn="l" fontAlgn="base">
                        <a:lnSpc>
                          <a:spcPts val="1425"/>
                        </a:lnSpc>
                        <a:buNone/>
                      </a:pPr>
                      <a:r>
                        <a:rPr lang="en-US" sz="1400" b="1" u="none" strike="noStrike">
                          <a:solidFill>
                            <a:srgbClr val="000000"/>
                          </a:solidFill>
                          <a:effectLst/>
                          <a:latin typeface="Nunito Sans" pitchFamily="2" charset="0"/>
                        </a:rPr>
                        <a:t>Risk Assessment Report</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PM, Project Team, VP-Manufacturing, VP-Production Design</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Bi-weekly</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E-mail</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Risk Management Officer</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3869717199"/>
                  </a:ext>
                </a:extLst>
              </a:tr>
              <a:tr h="1218426">
                <a:tc>
                  <a:txBody>
                    <a:bodyPr/>
                    <a:lstStyle/>
                    <a:p>
                      <a:pPr algn="l" fontAlgn="base">
                        <a:lnSpc>
                          <a:spcPts val="1425"/>
                        </a:lnSpc>
                        <a:buNone/>
                      </a:pPr>
                      <a:r>
                        <a:rPr lang="en-US" sz="1400" b="1" u="none" strike="noStrike">
                          <a:solidFill>
                            <a:srgbClr val="000000"/>
                          </a:solidFill>
                          <a:effectLst/>
                          <a:latin typeface="Nunito Sans" pitchFamily="2" charset="0"/>
                        </a:rPr>
                        <a:t>Market Research Report</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CMO, Market Research Group, VP-Production Design, PM</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Bi-weekly</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E-mail + Briefing Call</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dirty="0">
                          <a:solidFill>
                            <a:srgbClr val="000000"/>
                          </a:solidFill>
                          <a:effectLst/>
                          <a:latin typeface="Nunito Sans" pitchFamily="2" charset="0"/>
                        </a:rPr>
                        <a:t>Lead Market Analyst</a:t>
                      </a:r>
                      <a:r>
                        <a:rPr lang="en-US" sz="1400" b="0" dirty="0">
                          <a:solidFill>
                            <a:srgbClr val="000000"/>
                          </a:solidFill>
                          <a:effectLst/>
                          <a:latin typeface="Nunito Sans" pitchFamily="2" charset="0"/>
                        </a:rPr>
                        <a:t>​</a:t>
                      </a:r>
                      <a:endParaRPr lang="en-US" sz="2400" b="0" i="0" dirty="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1147915915"/>
                  </a:ext>
                </a:extLst>
              </a:tr>
              <a:tr h="1536879">
                <a:tc>
                  <a:txBody>
                    <a:bodyPr/>
                    <a:lstStyle/>
                    <a:p>
                      <a:pPr algn="l" fontAlgn="base">
                        <a:lnSpc>
                          <a:spcPts val="1425"/>
                        </a:lnSpc>
                        <a:buNone/>
                      </a:pPr>
                      <a:r>
                        <a:rPr lang="en-US" sz="1400" b="1" u="none" strike="noStrike">
                          <a:solidFill>
                            <a:srgbClr val="000000"/>
                          </a:solidFill>
                          <a:effectLst/>
                          <a:latin typeface="Nunito Sans" pitchFamily="2" charset="0"/>
                        </a:rPr>
                        <a:t>Pilot Results &amp; Antitoxin Report</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Project Steering Committee, Technion Institute of Technology, PM, Project Team</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End of Pilot</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Presentation + Technical Report</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dirty="0">
                          <a:solidFill>
                            <a:srgbClr val="000000"/>
                          </a:solidFill>
                          <a:effectLst/>
                          <a:latin typeface="Nunito Sans" pitchFamily="2" charset="0"/>
                        </a:rPr>
                        <a:t>Test Manager / Research Lead</a:t>
                      </a:r>
                      <a:r>
                        <a:rPr lang="en-US" sz="1400" b="0" dirty="0">
                          <a:solidFill>
                            <a:srgbClr val="000000"/>
                          </a:solidFill>
                          <a:effectLst/>
                          <a:latin typeface="Nunito Sans" pitchFamily="2" charset="0"/>
                        </a:rPr>
                        <a:t>​</a:t>
                      </a:r>
                      <a:endParaRPr lang="en-US" sz="2400" b="0" i="0" dirty="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3696660806"/>
                  </a:ext>
                </a:extLst>
              </a:tr>
            </a:tbl>
          </a:graphicData>
        </a:graphic>
      </p:graphicFrame>
      <p:sp>
        <p:nvSpPr>
          <p:cNvPr id="13" name="Rectangle 1">
            <a:extLst>
              <a:ext uri="{FF2B5EF4-FFF2-40B4-BE49-F238E27FC236}">
                <a16:creationId xmlns:a16="http://schemas.microsoft.com/office/drawing/2014/main" id="{EAC21656-C540-65CC-3BA2-EEA1099A6002}"/>
              </a:ext>
            </a:extLst>
          </p:cNvPr>
          <p:cNvSpPr>
            <a:spLocks noChangeArrowheads="1"/>
          </p:cNvSpPr>
          <p:nvPr/>
        </p:nvSpPr>
        <p:spPr bwMode="auto">
          <a:xfrm>
            <a:off x="457200" y="1858963"/>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graphicFrame>
        <p:nvGraphicFramePr>
          <p:cNvPr id="14" name="Table 13">
            <a:extLst>
              <a:ext uri="{FF2B5EF4-FFF2-40B4-BE49-F238E27FC236}">
                <a16:creationId xmlns:a16="http://schemas.microsoft.com/office/drawing/2014/main" id="{8C116AC0-AC92-D1E7-B6A0-B0CAEA9851B4}"/>
              </a:ext>
            </a:extLst>
          </p:cNvPr>
          <p:cNvGraphicFramePr>
            <a:graphicFrameLocks noGrp="1"/>
          </p:cNvGraphicFramePr>
          <p:nvPr>
            <p:extLst>
              <p:ext uri="{D42A27DB-BD31-4B8C-83A1-F6EECF244321}">
                <p14:modId xmlns:p14="http://schemas.microsoft.com/office/powerpoint/2010/main" val="671945355"/>
              </p:ext>
            </p:extLst>
          </p:nvPr>
        </p:nvGraphicFramePr>
        <p:xfrm>
          <a:off x="10260635" y="1822429"/>
          <a:ext cx="7758792" cy="7970737"/>
        </p:xfrm>
        <a:graphic>
          <a:graphicData uri="http://schemas.openxmlformats.org/drawingml/2006/table">
            <a:tbl>
              <a:tblPr>
                <a:tableStyleId>{284E427A-3D55-4303-BF80-6455036E1DE7}</a:tableStyleId>
              </a:tblPr>
              <a:tblGrid>
                <a:gridCol w="1445655">
                  <a:extLst>
                    <a:ext uri="{9D8B030D-6E8A-4147-A177-3AD203B41FA5}">
                      <a16:colId xmlns:a16="http://schemas.microsoft.com/office/drawing/2014/main" val="1962801072"/>
                    </a:ext>
                  </a:extLst>
                </a:gridCol>
                <a:gridCol w="1478813">
                  <a:extLst>
                    <a:ext uri="{9D8B030D-6E8A-4147-A177-3AD203B41FA5}">
                      <a16:colId xmlns:a16="http://schemas.microsoft.com/office/drawing/2014/main" val="1857589877"/>
                    </a:ext>
                  </a:extLst>
                </a:gridCol>
                <a:gridCol w="1014612">
                  <a:extLst>
                    <a:ext uri="{9D8B030D-6E8A-4147-A177-3AD203B41FA5}">
                      <a16:colId xmlns:a16="http://schemas.microsoft.com/office/drawing/2014/main" val="4035019846"/>
                    </a:ext>
                  </a:extLst>
                </a:gridCol>
                <a:gridCol w="2480160">
                  <a:extLst>
                    <a:ext uri="{9D8B030D-6E8A-4147-A177-3AD203B41FA5}">
                      <a16:colId xmlns:a16="http://schemas.microsoft.com/office/drawing/2014/main" val="1673161217"/>
                    </a:ext>
                  </a:extLst>
                </a:gridCol>
                <a:gridCol w="1339552">
                  <a:extLst>
                    <a:ext uri="{9D8B030D-6E8A-4147-A177-3AD203B41FA5}">
                      <a16:colId xmlns:a16="http://schemas.microsoft.com/office/drawing/2014/main" val="3336275524"/>
                    </a:ext>
                  </a:extLst>
                </a:gridCol>
              </a:tblGrid>
              <a:tr h="463348">
                <a:tc>
                  <a:txBody>
                    <a:bodyPr/>
                    <a:lstStyle/>
                    <a:p>
                      <a:pPr algn="l" fontAlgn="base">
                        <a:lnSpc>
                          <a:spcPts val="1425"/>
                        </a:lnSpc>
                        <a:buNone/>
                      </a:pPr>
                      <a:r>
                        <a:rPr lang="en-US" sz="1400" b="1" u="none" strike="noStrike">
                          <a:solidFill>
                            <a:srgbClr val="000000"/>
                          </a:solidFill>
                          <a:effectLst/>
                          <a:latin typeface="Nunito Sans" pitchFamily="2" charset="0"/>
                        </a:rPr>
                        <a:t>What Information</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1" u="none" strike="noStrike">
                          <a:solidFill>
                            <a:srgbClr val="000000"/>
                          </a:solidFill>
                          <a:effectLst/>
                          <a:latin typeface="Nunito Sans" pitchFamily="2" charset="0"/>
                        </a:rPr>
                        <a:t>Target Audience</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1" u="none" strike="noStrike">
                          <a:solidFill>
                            <a:srgbClr val="000000"/>
                          </a:solidFill>
                          <a:effectLst/>
                          <a:latin typeface="Nunito Sans" pitchFamily="2" charset="0"/>
                        </a:rPr>
                        <a:t>When?</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1" u="none" strike="noStrike">
                          <a:solidFill>
                            <a:srgbClr val="000000"/>
                          </a:solidFill>
                          <a:effectLst/>
                          <a:latin typeface="Nunito Sans" pitchFamily="2" charset="0"/>
                        </a:rPr>
                        <a:t>Method of Communication</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1" u="none" strike="noStrike">
                          <a:solidFill>
                            <a:srgbClr val="000000"/>
                          </a:solidFill>
                          <a:effectLst/>
                          <a:latin typeface="Nunito Sans" pitchFamily="2" charset="0"/>
                        </a:rPr>
                        <a:t>Provider</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3685469306"/>
                  </a:ext>
                </a:extLst>
              </a:tr>
              <a:tr h="1417240">
                <a:tc>
                  <a:txBody>
                    <a:bodyPr/>
                    <a:lstStyle/>
                    <a:p>
                      <a:pPr algn="l" fontAlgn="base">
                        <a:lnSpc>
                          <a:spcPts val="1425"/>
                        </a:lnSpc>
                        <a:buNone/>
                      </a:pPr>
                      <a:r>
                        <a:rPr lang="en-US" sz="1400" b="1" u="none" strike="noStrike" dirty="0">
                          <a:solidFill>
                            <a:srgbClr val="000000"/>
                          </a:solidFill>
                          <a:effectLst/>
                          <a:latin typeface="Nunito Sans" pitchFamily="2" charset="0"/>
                        </a:rPr>
                        <a:t>Project Status Report</a:t>
                      </a:r>
                      <a:r>
                        <a:rPr lang="en-US" sz="1400" b="0" dirty="0">
                          <a:solidFill>
                            <a:srgbClr val="000000"/>
                          </a:solidFill>
                          <a:effectLst/>
                          <a:latin typeface="Nunito Sans" pitchFamily="2" charset="0"/>
                        </a:rPr>
                        <a:t>​</a:t>
                      </a:r>
                      <a:endParaRPr lang="en-US" sz="2400" b="0" i="0" dirty="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CEO, PM, Project Team, VP-Manufacturing, VP-Production Design</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Monthly</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E-mail + Review Meeting</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Project Manager</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3142848591"/>
                  </a:ext>
                </a:extLst>
              </a:tr>
              <a:tr h="888960">
                <a:tc>
                  <a:txBody>
                    <a:bodyPr/>
                    <a:lstStyle/>
                    <a:p>
                      <a:pPr algn="l" fontAlgn="base">
                        <a:lnSpc>
                          <a:spcPts val="1425"/>
                        </a:lnSpc>
                        <a:buNone/>
                      </a:pPr>
                      <a:r>
                        <a:rPr lang="en-US" sz="1400" b="1" u="none" strike="noStrike">
                          <a:solidFill>
                            <a:srgbClr val="000000"/>
                          </a:solidFill>
                          <a:effectLst/>
                          <a:latin typeface="Nunito Sans" pitchFamily="2" charset="0"/>
                        </a:rPr>
                        <a:t>Budget Status &amp; Cost Performance</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CFO, PM, Project Steering Committee</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Monthly</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E-mail + Dashboard Summary</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Finance Lead</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3393740114"/>
                  </a:ext>
                </a:extLst>
              </a:tr>
              <a:tr h="1476432">
                <a:tc>
                  <a:txBody>
                    <a:bodyPr/>
                    <a:lstStyle/>
                    <a:p>
                      <a:pPr algn="l" fontAlgn="base">
                        <a:lnSpc>
                          <a:spcPts val="1425"/>
                        </a:lnSpc>
                        <a:buNone/>
                      </a:pPr>
                      <a:r>
                        <a:rPr lang="en-US" sz="1400" b="1" u="none" strike="noStrike">
                          <a:solidFill>
                            <a:srgbClr val="000000"/>
                          </a:solidFill>
                          <a:effectLst/>
                          <a:latin typeface="Nunito Sans" pitchFamily="2" charset="0"/>
                        </a:rPr>
                        <a:t>Change Requests</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PM, VP-Production Design, VP-Manufacturing, Project Steering Committee</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As Required</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Formal Change Log + Meeting</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Change Control Manager</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2900502925"/>
                  </a:ext>
                </a:extLst>
              </a:tr>
              <a:tr h="1154417">
                <a:tc>
                  <a:txBody>
                    <a:bodyPr/>
                    <a:lstStyle/>
                    <a:p>
                      <a:pPr algn="l" fontAlgn="base">
                        <a:lnSpc>
                          <a:spcPts val="1425"/>
                        </a:lnSpc>
                        <a:buNone/>
                      </a:pPr>
                      <a:r>
                        <a:rPr lang="en-US" sz="1400" b="1" u="none" strike="noStrike">
                          <a:solidFill>
                            <a:srgbClr val="000000"/>
                          </a:solidFill>
                          <a:effectLst/>
                          <a:latin typeface="Nunito Sans" pitchFamily="2" charset="0"/>
                        </a:rPr>
                        <a:t>Risk Assessment Report</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dirty="0">
                          <a:solidFill>
                            <a:srgbClr val="000000"/>
                          </a:solidFill>
                          <a:effectLst/>
                          <a:latin typeface="Nunito Sans" pitchFamily="2" charset="0"/>
                        </a:rPr>
                        <a:t>PM, Project Team, VP-Manufacturing, VP-Production Design</a:t>
                      </a:r>
                      <a:r>
                        <a:rPr lang="en-US" sz="1400" b="0" dirty="0">
                          <a:solidFill>
                            <a:srgbClr val="000000"/>
                          </a:solidFill>
                          <a:effectLst/>
                          <a:latin typeface="Nunito Sans" pitchFamily="2" charset="0"/>
                        </a:rPr>
                        <a:t>​</a:t>
                      </a:r>
                      <a:endParaRPr lang="en-US" sz="2400" b="0" i="0" dirty="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Bi-weekly</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E-mail</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Risk Management Officer</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4279146695"/>
                  </a:ext>
                </a:extLst>
              </a:tr>
              <a:tr h="1153100">
                <a:tc>
                  <a:txBody>
                    <a:bodyPr/>
                    <a:lstStyle/>
                    <a:p>
                      <a:pPr algn="l" fontAlgn="base">
                        <a:lnSpc>
                          <a:spcPts val="1425"/>
                        </a:lnSpc>
                        <a:buNone/>
                      </a:pPr>
                      <a:r>
                        <a:rPr lang="en-US" sz="1400" b="1" u="none" strike="noStrike">
                          <a:solidFill>
                            <a:srgbClr val="000000"/>
                          </a:solidFill>
                          <a:effectLst/>
                          <a:latin typeface="Nunito Sans" pitchFamily="2" charset="0"/>
                        </a:rPr>
                        <a:t>Market Research Report</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CMO, Market Research Group, VP-Production Design, PM</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Bi-weekly</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E-mail + Briefing Call</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Lead Market Analyst</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2946674312"/>
                  </a:ext>
                </a:extLst>
              </a:tr>
              <a:tr h="1417240">
                <a:tc>
                  <a:txBody>
                    <a:bodyPr/>
                    <a:lstStyle/>
                    <a:p>
                      <a:pPr algn="l" fontAlgn="base">
                        <a:lnSpc>
                          <a:spcPts val="1425"/>
                        </a:lnSpc>
                        <a:buNone/>
                      </a:pPr>
                      <a:r>
                        <a:rPr lang="en-US" sz="1400" b="1" u="none" strike="noStrike">
                          <a:solidFill>
                            <a:srgbClr val="000000"/>
                          </a:solidFill>
                          <a:effectLst/>
                          <a:latin typeface="Nunito Sans" pitchFamily="2" charset="0"/>
                        </a:rPr>
                        <a:t>Pilot Results &amp; Antitoxin Report</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dirty="0">
                          <a:solidFill>
                            <a:srgbClr val="000000"/>
                          </a:solidFill>
                          <a:effectLst/>
                          <a:latin typeface="Nunito Sans" pitchFamily="2" charset="0"/>
                        </a:rPr>
                        <a:t>Project Steering Committee, Technion Institute of Technology, PM, Project Team</a:t>
                      </a:r>
                      <a:r>
                        <a:rPr lang="en-US" sz="1400" b="0" dirty="0">
                          <a:solidFill>
                            <a:srgbClr val="000000"/>
                          </a:solidFill>
                          <a:effectLst/>
                          <a:latin typeface="Nunito Sans" pitchFamily="2" charset="0"/>
                        </a:rPr>
                        <a:t>​</a:t>
                      </a:r>
                      <a:endParaRPr lang="en-US" sz="2400" b="0" i="0" dirty="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End of Pilot</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a:solidFill>
                            <a:srgbClr val="000000"/>
                          </a:solidFill>
                          <a:effectLst/>
                          <a:latin typeface="Nunito Sans" pitchFamily="2" charset="0"/>
                        </a:rPr>
                        <a:t>Presentation + Technical Report</a:t>
                      </a:r>
                      <a:r>
                        <a:rPr lang="en-US" sz="1400" b="0">
                          <a:solidFill>
                            <a:srgbClr val="000000"/>
                          </a:solidFill>
                          <a:effectLst/>
                          <a:latin typeface="Nunito Sans" pitchFamily="2" charset="0"/>
                        </a:rPr>
                        <a:t>​</a:t>
                      </a:r>
                      <a:endParaRPr lang="en-US" sz="2400" b="0" i="0">
                        <a:solidFill>
                          <a:srgbClr val="000000"/>
                        </a:solidFill>
                        <a:effectLst/>
                        <a:latin typeface="Nunito Sans" pitchFamily="2" charset="0"/>
                      </a:endParaRPr>
                    </a:p>
                  </a:txBody>
                  <a:tcPr marL="67525" marR="67525" marT="33762" marB="33762" anchor="ctr"/>
                </a:tc>
                <a:tc>
                  <a:txBody>
                    <a:bodyPr/>
                    <a:lstStyle/>
                    <a:p>
                      <a:pPr algn="l" fontAlgn="base">
                        <a:lnSpc>
                          <a:spcPts val="1425"/>
                        </a:lnSpc>
                        <a:buNone/>
                      </a:pPr>
                      <a:r>
                        <a:rPr lang="en-US" sz="1400" b="0" u="none" strike="noStrike" dirty="0">
                          <a:solidFill>
                            <a:srgbClr val="000000"/>
                          </a:solidFill>
                          <a:effectLst/>
                          <a:latin typeface="Nunito Sans" pitchFamily="2" charset="0"/>
                        </a:rPr>
                        <a:t>Test Manager / Research Lead</a:t>
                      </a:r>
                      <a:r>
                        <a:rPr lang="en-US" sz="1400" b="0" dirty="0">
                          <a:solidFill>
                            <a:srgbClr val="000000"/>
                          </a:solidFill>
                          <a:effectLst/>
                          <a:latin typeface="Nunito Sans" pitchFamily="2" charset="0"/>
                        </a:rPr>
                        <a:t>​</a:t>
                      </a:r>
                      <a:endParaRPr lang="en-US" sz="2400" b="0" i="0" dirty="0">
                        <a:solidFill>
                          <a:srgbClr val="000000"/>
                        </a:solidFill>
                        <a:effectLst/>
                        <a:latin typeface="Nunito Sans" pitchFamily="2" charset="0"/>
                      </a:endParaRPr>
                    </a:p>
                  </a:txBody>
                  <a:tcPr marL="67525" marR="67525" marT="33762" marB="33762" anchor="ctr"/>
                </a:tc>
                <a:extLst>
                  <a:ext uri="{0D108BD9-81ED-4DB2-BD59-A6C34878D82A}">
                    <a16:rowId xmlns:a16="http://schemas.microsoft.com/office/drawing/2014/main" val="722286421"/>
                  </a:ext>
                </a:extLst>
              </a:tr>
            </a:tbl>
          </a:graphicData>
        </a:graphic>
      </p:graphicFrame>
      <p:sp>
        <p:nvSpPr>
          <p:cNvPr id="15" name="Rectangle 2">
            <a:extLst>
              <a:ext uri="{FF2B5EF4-FFF2-40B4-BE49-F238E27FC236}">
                <a16:creationId xmlns:a16="http://schemas.microsoft.com/office/drawing/2014/main" id="{D7DA5E4E-451A-5673-1D81-6BCCDE6E6CE6}"/>
              </a:ext>
            </a:extLst>
          </p:cNvPr>
          <p:cNvSpPr>
            <a:spLocks noChangeArrowheads="1"/>
          </p:cNvSpPr>
          <p:nvPr/>
        </p:nvSpPr>
        <p:spPr bwMode="auto">
          <a:xfrm>
            <a:off x="12743688" y="2236811"/>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5224112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gradFill>
          <a:gsLst>
            <a:gs pos="0">
              <a:srgbClr val="FFC000"/>
            </a:gs>
            <a:gs pos="100000">
              <a:srgbClr val="FFFFFF">
                <a:alpha val="100000"/>
              </a:srgbClr>
            </a:gs>
          </a:gsLst>
          <a:lin ang="0" scaled="0"/>
        </a:gradFill>
        <a:effectLst/>
      </p:bgPr>
    </p:bg>
    <p:spTree>
      <p:nvGrpSpPr>
        <p:cNvPr id="1" name="">
          <a:extLst>
            <a:ext uri="{FF2B5EF4-FFF2-40B4-BE49-F238E27FC236}">
              <a16:creationId xmlns:a16="http://schemas.microsoft.com/office/drawing/2014/main" id="{271C2F4E-10E5-B92F-89EE-A405AB8F05B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1511ECD-73DF-71DE-3121-D4E22F9EA92F}"/>
              </a:ext>
            </a:extLst>
          </p:cNvPr>
          <p:cNvGrpSpPr/>
          <p:nvPr/>
        </p:nvGrpSpPr>
        <p:grpSpPr>
          <a:xfrm>
            <a:off x="0" y="-1727565"/>
            <a:ext cx="27584990" cy="12118677"/>
            <a:chOff x="0" y="-38100"/>
            <a:chExt cx="7265182" cy="3191750"/>
          </a:xfrm>
          <a:gradFill>
            <a:gsLst>
              <a:gs pos="0">
                <a:srgbClr val="FF0000"/>
              </a:gs>
              <a:gs pos="100000">
                <a:srgbClr val="FFFFFF">
                  <a:alpha val="100000"/>
                </a:srgbClr>
              </a:gs>
            </a:gsLst>
            <a:lin ang="0" scaled="0"/>
          </a:gradFill>
        </p:grpSpPr>
        <p:sp>
          <p:nvSpPr>
            <p:cNvPr id="3" name="Freeform 3">
              <a:extLst>
                <a:ext uri="{FF2B5EF4-FFF2-40B4-BE49-F238E27FC236}">
                  <a16:creationId xmlns:a16="http://schemas.microsoft.com/office/drawing/2014/main" id="{5D03AA85-4869-7D03-5BE7-2A53F81B431B}"/>
                </a:ext>
              </a:extLst>
            </p:cNvPr>
            <p:cNvSpPr/>
            <p:nvPr/>
          </p:nvSpPr>
          <p:spPr>
            <a:xfrm>
              <a:off x="0" y="0"/>
              <a:ext cx="7265182" cy="3153650"/>
            </a:xfrm>
            <a:custGeom>
              <a:avLst/>
              <a:gdLst/>
              <a:ahLst/>
              <a:cxnLst/>
              <a:rect l="l" t="t" r="r" b="b"/>
              <a:pathLst>
                <a:path w="7265182" h="3153650">
                  <a:moveTo>
                    <a:pt x="0" y="0"/>
                  </a:moveTo>
                  <a:lnTo>
                    <a:pt x="7265182" y="0"/>
                  </a:lnTo>
                  <a:lnTo>
                    <a:pt x="7265182" y="3153650"/>
                  </a:lnTo>
                  <a:lnTo>
                    <a:pt x="0" y="3153650"/>
                  </a:lnTo>
                  <a:close/>
                </a:path>
              </a:pathLst>
            </a:custGeom>
            <a:grpFill/>
          </p:spPr>
          <p:txBody>
            <a:bodyPr/>
            <a:lstStyle/>
            <a:p>
              <a:endParaRPr lang="en-IN"/>
            </a:p>
          </p:txBody>
        </p:sp>
        <p:sp>
          <p:nvSpPr>
            <p:cNvPr id="4" name="TextBox 4">
              <a:extLst>
                <a:ext uri="{FF2B5EF4-FFF2-40B4-BE49-F238E27FC236}">
                  <a16:creationId xmlns:a16="http://schemas.microsoft.com/office/drawing/2014/main" id="{482A0BD7-286A-AB51-5427-58414FC7FA27}"/>
                </a:ext>
              </a:extLst>
            </p:cNvPr>
            <p:cNvSpPr txBox="1"/>
            <p:nvPr/>
          </p:nvSpPr>
          <p:spPr>
            <a:xfrm>
              <a:off x="0" y="-38100"/>
              <a:ext cx="7265182" cy="3191750"/>
            </a:xfrm>
            <a:prstGeom prst="rect">
              <a:avLst/>
            </a:prstGeom>
            <a:grpFill/>
          </p:spPr>
          <p:txBody>
            <a:bodyPr lIns="50800" tIns="50800" rIns="50800" bIns="50800" rtlCol="0" anchor="ctr"/>
            <a:lstStyle/>
            <a:p>
              <a:pPr algn="ctr">
                <a:lnSpc>
                  <a:spcPts val="3359"/>
                </a:lnSpc>
              </a:pPr>
              <a:endParaRPr dirty="0"/>
            </a:p>
          </p:txBody>
        </p:sp>
      </p:grpSp>
      <p:sp>
        <p:nvSpPr>
          <p:cNvPr id="7" name="AutoShape 7">
            <a:extLst>
              <a:ext uri="{FF2B5EF4-FFF2-40B4-BE49-F238E27FC236}">
                <a16:creationId xmlns:a16="http://schemas.microsoft.com/office/drawing/2014/main" id="{3E7F283C-550D-C679-59A0-80AE5A066D95}"/>
              </a:ext>
            </a:extLst>
          </p:cNvPr>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11" name="TextBox 11">
            <a:extLst>
              <a:ext uri="{FF2B5EF4-FFF2-40B4-BE49-F238E27FC236}">
                <a16:creationId xmlns:a16="http://schemas.microsoft.com/office/drawing/2014/main" id="{220BE1F0-2188-B44E-CE7B-D43A3A13FA2F}"/>
              </a:ext>
            </a:extLst>
          </p:cNvPr>
          <p:cNvSpPr txBox="1"/>
          <p:nvPr/>
        </p:nvSpPr>
        <p:spPr>
          <a:xfrm rot="-5400000">
            <a:off x="-1686896" y="7498874"/>
            <a:ext cx="4498668" cy="564257"/>
          </a:xfrm>
          <a:prstGeom prst="rect">
            <a:avLst/>
          </a:prstGeom>
        </p:spPr>
        <p:txBody>
          <a:bodyPr lIns="0" tIns="0" rIns="0" bIns="0" rtlCol="0" anchor="t">
            <a:spAutoFit/>
          </a:bodyPr>
          <a:lstStyle/>
          <a:p>
            <a:pPr>
              <a:lnSpc>
                <a:spcPts val="2160"/>
              </a:lnSpc>
            </a:pPr>
            <a:r>
              <a:rPr lang="en-US" dirty="0">
                <a:solidFill>
                  <a:schemeClr val="bg1"/>
                </a:solidFill>
                <a:latin typeface="Georgia Pro" panose="02040502050405020303" pitchFamily="18" charset="0"/>
              </a:rPr>
              <a:t>POM+ Singapore </a:t>
            </a:r>
            <a:endParaRPr lang="en-US" spc="-53" dirty="0">
              <a:solidFill>
                <a:schemeClr val="bg1"/>
              </a:solidFill>
              <a:latin typeface="Georgia Pro" panose="02040502050405020303" pitchFamily="18" charset="0"/>
              <a:ea typeface="Nunito Sans"/>
              <a:cs typeface="Nunito Sans"/>
              <a:sym typeface="Nunito Sans"/>
            </a:endParaRPr>
          </a:p>
          <a:p>
            <a:pPr algn="l">
              <a:lnSpc>
                <a:spcPts val="2160"/>
              </a:lnSpc>
            </a:pPr>
            <a:endParaRPr lang="en-US" sz="1800" spc="-53" dirty="0">
              <a:solidFill>
                <a:srgbClr val="03286A"/>
              </a:solidFill>
              <a:latin typeface="Nunito Sans"/>
              <a:ea typeface="Nunito Sans"/>
              <a:cs typeface="Nunito Sans"/>
              <a:sym typeface="Nunito Sans"/>
            </a:endParaRPr>
          </a:p>
        </p:txBody>
      </p:sp>
      <p:sp>
        <p:nvSpPr>
          <p:cNvPr id="24" name="TextBox 24">
            <a:extLst>
              <a:ext uri="{FF2B5EF4-FFF2-40B4-BE49-F238E27FC236}">
                <a16:creationId xmlns:a16="http://schemas.microsoft.com/office/drawing/2014/main" id="{D63D82C2-F68E-F93C-ABC0-37DFD1D32BC2}"/>
              </a:ext>
            </a:extLst>
          </p:cNvPr>
          <p:cNvSpPr txBox="1"/>
          <p:nvPr/>
        </p:nvSpPr>
        <p:spPr>
          <a:xfrm>
            <a:off x="9258527" y="8777753"/>
            <a:ext cx="8000773" cy="356235"/>
          </a:xfrm>
          <a:prstGeom prst="rect">
            <a:avLst/>
          </a:prstGeom>
        </p:spPr>
        <p:txBody>
          <a:bodyPr lIns="0" tIns="0" rIns="0" bIns="0" rtlCol="0" anchor="t">
            <a:spAutoFit/>
          </a:bodyPr>
          <a:lstStyle/>
          <a:p>
            <a:pPr marL="0" lvl="0" indent="0" algn="l">
              <a:lnSpc>
                <a:spcPts val="2940"/>
              </a:lnSpc>
              <a:spcBef>
                <a:spcPct val="0"/>
              </a:spcBef>
            </a:pPr>
            <a:r>
              <a:rPr lang="en-US" sz="2100" dirty="0">
                <a:solidFill>
                  <a:srgbClr val="03286A"/>
                </a:solidFill>
                <a:latin typeface="Nunito Sans Light"/>
                <a:ea typeface="Nunito Sans Light"/>
                <a:cs typeface="Nunito Sans Light"/>
                <a:sym typeface="Nunito Sans Light"/>
              </a:rPr>
              <a:t>. </a:t>
            </a:r>
          </a:p>
        </p:txBody>
      </p:sp>
      <p:sp>
        <p:nvSpPr>
          <p:cNvPr id="27" name="TextBox 10">
            <a:extLst>
              <a:ext uri="{FF2B5EF4-FFF2-40B4-BE49-F238E27FC236}">
                <a16:creationId xmlns:a16="http://schemas.microsoft.com/office/drawing/2014/main" id="{EB69B243-4BE2-DE1B-1186-4560659F7ADA}"/>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chemeClr val="bg1"/>
                </a:solidFill>
                <a:latin typeface="Nunito Sans"/>
                <a:ea typeface="Nunito Sans"/>
                <a:cs typeface="Nunito Sans"/>
                <a:sym typeface="Nunito Sans"/>
              </a:rPr>
              <a:t>NOV</a:t>
            </a:r>
            <a:r>
              <a:rPr lang="en-US" sz="1800" spc="-53" dirty="0">
                <a:solidFill>
                  <a:schemeClr val="bg1"/>
                </a:solidFill>
                <a:latin typeface="Nunito Sans"/>
                <a:ea typeface="Nunito Sans"/>
                <a:cs typeface="Nunito Sans"/>
                <a:sym typeface="Nunito Sans"/>
              </a:rPr>
              <a:t> 2025</a:t>
            </a:r>
          </a:p>
        </p:txBody>
      </p:sp>
      <p:sp>
        <p:nvSpPr>
          <p:cNvPr id="28" name="TextBox 27">
            <a:extLst>
              <a:ext uri="{FF2B5EF4-FFF2-40B4-BE49-F238E27FC236}">
                <a16:creationId xmlns:a16="http://schemas.microsoft.com/office/drawing/2014/main" id="{A0C38ACA-1474-D3C9-C7F8-98E9FAE73B6F}"/>
              </a:ext>
            </a:extLst>
          </p:cNvPr>
          <p:cNvSpPr txBox="1"/>
          <p:nvPr/>
        </p:nvSpPr>
        <p:spPr>
          <a:xfrm>
            <a:off x="1303054" y="554575"/>
            <a:ext cx="8458198" cy="646331"/>
          </a:xfrm>
          <a:prstGeom prst="rect">
            <a:avLst/>
          </a:prstGeom>
          <a:noFill/>
        </p:spPr>
        <p:txBody>
          <a:bodyPr wrap="square" rtlCol="0">
            <a:spAutoFit/>
          </a:bodyPr>
          <a:lstStyle/>
          <a:p>
            <a:r>
              <a:rPr lang="en-IN" sz="3600" dirty="0">
                <a:solidFill>
                  <a:schemeClr val="bg1"/>
                </a:solidFill>
                <a:latin typeface="Georgia Pro" panose="02040502050405020303" pitchFamily="18" charset="0"/>
              </a:rPr>
              <a:t>  </a:t>
            </a:r>
            <a:r>
              <a:rPr lang="en-IN" sz="3600" dirty="0">
                <a:latin typeface="Georgia Pro" panose="02040502050405020303" pitchFamily="18" charset="0"/>
              </a:rPr>
              <a:t>​ ​</a:t>
            </a:r>
          </a:p>
        </p:txBody>
      </p:sp>
      <p:sp>
        <p:nvSpPr>
          <p:cNvPr id="6" name="Rectangle 1">
            <a:extLst>
              <a:ext uri="{FF2B5EF4-FFF2-40B4-BE49-F238E27FC236}">
                <a16:creationId xmlns:a16="http://schemas.microsoft.com/office/drawing/2014/main" id="{C5E06504-FDD6-2587-4100-EE0DAEC5801A}"/>
              </a:ext>
            </a:extLst>
          </p:cNvPr>
          <p:cNvSpPr>
            <a:spLocks noChangeArrowheads="1"/>
          </p:cNvSpPr>
          <p:nvPr/>
        </p:nvSpPr>
        <p:spPr bwMode="auto">
          <a:xfrm>
            <a:off x="1847850" y="1862138"/>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0" name="TextBox 9">
            <a:extLst>
              <a:ext uri="{FF2B5EF4-FFF2-40B4-BE49-F238E27FC236}">
                <a16:creationId xmlns:a16="http://schemas.microsoft.com/office/drawing/2014/main" id="{48A66CAA-2CBA-786F-3AA7-F4B700606C34}"/>
              </a:ext>
            </a:extLst>
          </p:cNvPr>
          <p:cNvSpPr txBox="1"/>
          <p:nvPr/>
        </p:nvSpPr>
        <p:spPr>
          <a:xfrm>
            <a:off x="2209800" y="2095500"/>
            <a:ext cx="13563592" cy="369332"/>
          </a:xfrm>
          <a:prstGeom prst="rect">
            <a:avLst/>
          </a:prstGeom>
          <a:noFill/>
        </p:spPr>
        <p:txBody>
          <a:bodyPr wrap="square" rtlCol="0">
            <a:spAutoFit/>
          </a:bodyPr>
          <a:lstStyle/>
          <a:p>
            <a:endParaRPr lang="en-IN" dirty="0"/>
          </a:p>
        </p:txBody>
      </p:sp>
      <p:sp>
        <p:nvSpPr>
          <p:cNvPr id="8" name="Rectangle 3">
            <a:extLst>
              <a:ext uri="{FF2B5EF4-FFF2-40B4-BE49-F238E27FC236}">
                <a16:creationId xmlns:a16="http://schemas.microsoft.com/office/drawing/2014/main" id="{9D37645B-5482-C138-E613-98DBB4952020}"/>
              </a:ext>
            </a:extLst>
          </p:cNvPr>
          <p:cNvSpPr>
            <a:spLocks noChangeArrowheads="1"/>
          </p:cNvSpPr>
          <p:nvPr/>
        </p:nvSpPr>
        <p:spPr bwMode="auto">
          <a:xfrm>
            <a:off x="1847850" y="1842778"/>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6" name="TextBox 15">
            <a:extLst>
              <a:ext uri="{FF2B5EF4-FFF2-40B4-BE49-F238E27FC236}">
                <a16:creationId xmlns:a16="http://schemas.microsoft.com/office/drawing/2014/main" id="{017D67F8-6124-ACE5-7EDC-230AE5F24DE7}"/>
              </a:ext>
            </a:extLst>
          </p:cNvPr>
          <p:cNvSpPr txBox="1"/>
          <p:nvPr/>
        </p:nvSpPr>
        <p:spPr>
          <a:xfrm>
            <a:off x="6876288" y="4241030"/>
            <a:ext cx="13789152" cy="369332"/>
          </a:xfrm>
          <a:prstGeom prst="rect">
            <a:avLst/>
          </a:prstGeom>
          <a:noFill/>
        </p:spPr>
        <p:txBody>
          <a:bodyPr wrap="square">
            <a:spAutoFit/>
          </a:bodyPr>
          <a:lstStyle/>
          <a:p>
            <a:r>
              <a:rPr lang="en-IN" dirty="0"/>
              <a:t> </a:t>
            </a:r>
          </a:p>
        </p:txBody>
      </p:sp>
      <p:sp>
        <p:nvSpPr>
          <p:cNvPr id="20" name="TextBox 19">
            <a:extLst>
              <a:ext uri="{FF2B5EF4-FFF2-40B4-BE49-F238E27FC236}">
                <a16:creationId xmlns:a16="http://schemas.microsoft.com/office/drawing/2014/main" id="{E6E84E00-C0F4-FAD4-45CC-D51B72AD5760}"/>
              </a:ext>
            </a:extLst>
          </p:cNvPr>
          <p:cNvSpPr txBox="1"/>
          <p:nvPr/>
        </p:nvSpPr>
        <p:spPr>
          <a:xfrm>
            <a:off x="6876288" y="4241030"/>
            <a:ext cx="13789152" cy="369332"/>
          </a:xfrm>
          <a:prstGeom prst="rect">
            <a:avLst/>
          </a:prstGeom>
          <a:noFill/>
        </p:spPr>
        <p:txBody>
          <a:bodyPr wrap="square">
            <a:spAutoFit/>
          </a:bodyPr>
          <a:lstStyle/>
          <a:p>
            <a:r>
              <a:rPr lang="en-IN" dirty="0"/>
              <a:t> </a:t>
            </a:r>
          </a:p>
        </p:txBody>
      </p:sp>
      <p:sp>
        <p:nvSpPr>
          <p:cNvPr id="9" name="Rectangle 1">
            <a:extLst>
              <a:ext uri="{FF2B5EF4-FFF2-40B4-BE49-F238E27FC236}">
                <a16:creationId xmlns:a16="http://schemas.microsoft.com/office/drawing/2014/main" id="{9ECDF66A-FF92-7FB4-BBFB-365AD9D7B2E0}"/>
              </a:ext>
            </a:extLst>
          </p:cNvPr>
          <p:cNvSpPr>
            <a:spLocks noChangeArrowheads="1"/>
          </p:cNvSpPr>
          <p:nvPr/>
        </p:nvSpPr>
        <p:spPr bwMode="auto">
          <a:xfrm>
            <a:off x="457200" y="1858963"/>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3" name="Rectangle 1">
            <a:extLst>
              <a:ext uri="{FF2B5EF4-FFF2-40B4-BE49-F238E27FC236}">
                <a16:creationId xmlns:a16="http://schemas.microsoft.com/office/drawing/2014/main" id="{78D4D58F-6B78-CBB3-C150-51C6D9F568E4}"/>
              </a:ext>
            </a:extLst>
          </p:cNvPr>
          <p:cNvSpPr>
            <a:spLocks noChangeArrowheads="1"/>
          </p:cNvSpPr>
          <p:nvPr/>
        </p:nvSpPr>
        <p:spPr bwMode="auto">
          <a:xfrm>
            <a:off x="457200" y="1858963"/>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5" name="Rectangle 2">
            <a:extLst>
              <a:ext uri="{FF2B5EF4-FFF2-40B4-BE49-F238E27FC236}">
                <a16:creationId xmlns:a16="http://schemas.microsoft.com/office/drawing/2014/main" id="{DCD2E531-F563-F5F3-4193-D34AF38AC322}"/>
              </a:ext>
            </a:extLst>
          </p:cNvPr>
          <p:cNvSpPr>
            <a:spLocks noChangeArrowheads="1"/>
          </p:cNvSpPr>
          <p:nvPr/>
        </p:nvSpPr>
        <p:spPr bwMode="auto">
          <a:xfrm>
            <a:off x="12743688" y="2236811"/>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7" name="TextBox 1">
            <a:extLst>
              <a:ext uri="{FF2B5EF4-FFF2-40B4-BE49-F238E27FC236}">
                <a16:creationId xmlns:a16="http://schemas.microsoft.com/office/drawing/2014/main" id="{530DA002-5C22-805F-C179-8FC1D6D1BACD}"/>
              </a:ext>
            </a:extLst>
          </p:cNvPr>
          <p:cNvSpPr txBox="1"/>
          <p:nvPr/>
        </p:nvSpPr>
        <p:spPr>
          <a:xfrm>
            <a:off x="1281718" y="269296"/>
            <a:ext cx="11572561" cy="584775"/>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ysClr val="windowText" lastClr="000000"/>
                </a:solidFill>
                <a:latin typeface="Aptos" panose="02110004020202020204"/>
              </a:defRPr>
            </a:lvl1pPr>
            <a:lvl2pPr marL="457200" algn="l" defTabSz="914400" rtl="0" eaLnBrk="1" latinLnBrk="0" hangingPunct="1">
              <a:defRPr sz="1800" kern="1200">
                <a:solidFill>
                  <a:sysClr val="windowText" lastClr="000000"/>
                </a:solidFill>
                <a:latin typeface="Aptos" panose="02110004020202020204"/>
              </a:defRPr>
            </a:lvl2pPr>
            <a:lvl3pPr marL="914400" algn="l" defTabSz="914400" rtl="0" eaLnBrk="1" latinLnBrk="0" hangingPunct="1">
              <a:defRPr sz="1800" kern="1200">
                <a:solidFill>
                  <a:sysClr val="windowText" lastClr="000000"/>
                </a:solidFill>
                <a:latin typeface="Aptos" panose="02110004020202020204"/>
              </a:defRPr>
            </a:lvl3pPr>
            <a:lvl4pPr marL="1371600" algn="l" defTabSz="914400" rtl="0" eaLnBrk="1" latinLnBrk="0" hangingPunct="1">
              <a:defRPr sz="1800" kern="1200">
                <a:solidFill>
                  <a:sysClr val="windowText" lastClr="000000"/>
                </a:solidFill>
                <a:latin typeface="Aptos" panose="02110004020202020204"/>
              </a:defRPr>
            </a:lvl4pPr>
            <a:lvl5pPr marL="1828800" algn="l" defTabSz="914400" rtl="0" eaLnBrk="1" latinLnBrk="0" hangingPunct="1">
              <a:defRPr sz="1800" kern="1200">
                <a:solidFill>
                  <a:sysClr val="windowText" lastClr="000000"/>
                </a:solidFill>
                <a:latin typeface="Aptos" panose="02110004020202020204"/>
              </a:defRPr>
            </a:lvl5pPr>
            <a:lvl6pPr marL="2286000" algn="l" defTabSz="914400" rtl="0" eaLnBrk="1" latinLnBrk="0" hangingPunct="1">
              <a:defRPr sz="1800" kern="1200">
                <a:solidFill>
                  <a:sysClr val="windowText" lastClr="000000"/>
                </a:solidFill>
                <a:latin typeface="Aptos" panose="02110004020202020204"/>
              </a:defRPr>
            </a:lvl6pPr>
            <a:lvl7pPr marL="2743200" algn="l" defTabSz="914400" rtl="0" eaLnBrk="1" latinLnBrk="0" hangingPunct="1">
              <a:defRPr sz="1800" kern="1200">
                <a:solidFill>
                  <a:sysClr val="windowText" lastClr="000000"/>
                </a:solidFill>
                <a:latin typeface="Aptos" panose="02110004020202020204"/>
              </a:defRPr>
            </a:lvl7pPr>
            <a:lvl8pPr marL="3200400" algn="l" defTabSz="914400" rtl="0" eaLnBrk="1" latinLnBrk="0" hangingPunct="1">
              <a:defRPr sz="1800" kern="1200">
                <a:solidFill>
                  <a:sysClr val="windowText" lastClr="000000"/>
                </a:solidFill>
                <a:latin typeface="Aptos" panose="02110004020202020204"/>
              </a:defRPr>
            </a:lvl8pPr>
            <a:lvl9pPr marL="3657600" algn="l" defTabSz="914400" rtl="0" eaLnBrk="1" latinLnBrk="0" hangingPunct="1">
              <a:defRPr sz="1800" kern="1200">
                <a:solidFill>
                  <a:sysClr val="windowText" lastClr="000000"/>
                </a:solidFill>
                <a:latin typeface="Aptos" panose="02110004020202020204"/>
              </a:defRPr>
            </a:lvl9pPr>
          </a:lstStyle>
          <a:p>
            <a:r>
              <a:rPr lang="en-US" sz="3200" dirty="0">
                <a:solidFill>
                  <a:schemeClr val="bg1"/>
                </a:solidFill>
                <a:latin typeface="Georgia Pro" panose="02040502050405020303" pitchFamily="18" charset="0"/>
                <a:ea typeface="Aptos" panose="02110004020202020204"/>
                <a:cs typeface="Aptos" panose="02110004020202020204"/>
              </a:rPr>
              <a:t>Risk Response Matrix</a:t>
            </a:r>
            <a:endParaRPr lang="en-US" sz="3200" dirty="0">
              <a:solidFill>
                <a:schemeClr val="bg1"/>
              </a:solidFill>
              <a:latin typeface="Georgia Pro" panose="02040502050405020303" pitchFamily="18" charset="0"/>
            </a:endParaRPr>
          </a:p>
        </p:txBody>
      </p:sp>
      <p:graphicFrame>
        <p:nvGraphicFramePr>
          <p:cNvPr id="19" name="Table 18">
            <a:extLst>
              <a:ext uri="{FF2B5EF4-FFF2-40B4-BE49-F238E27FC236}">
                <a16:creationId xmlns:a16="http://schemas.microsoft.com/office/drawing/2014/main" id="{9DB33D7C-5DE8-27F4-C22C-35BE5167670C}"/>
              </a:ext>
            </a:extLst>
          </p:cNvPr>
          <p:cNvGraphicFramePr>
            <a:graphicFrameLocks noGrp="1"/>
          </p:cNvGraphicFramePr>
          <p:nvPr>
            <p:extLst>
              <p:ext uri="{D42A27DB-BD31-4B8C-83A1-F6EECF244321}">
                <p14:modId xmlns:p14="http://schemas.microsoft.com/office/powerpoint/2010/main" val="2950322914"/>
              </p:ext>
            </p:extLst>
          </p:nvPr>
        </p:nvGraphicFramePr>
        <p:xfrm>
          <a:off x="1281718" y="1309750"/>
          <a:ext cx="16453727" cy="8015424"/>
        </p:xfrm>
        <a:graphic>
          <a:graphicData uri="http://schemas.openxmlformats.org/drawingml/2006/table">
            <a:tbl>
              <a:tblPr>
                <a:tableStyleId>{284E427A-3D55-4303-BF80-6455036E1DE7}</a:tableStyleId>
              </a:tblPr>
              <a:tblGrid>
                <a:gridCol w="2452082">
                  <a:extLst>
                    <a:ext uri="{9D8B030D-6E8A-4147-A177-3AD203B41FA5}">
                      <a16:colId xmlns:a16="http://schemas.microsoft.com/office/drawing/2014/main" val="4274604384"/>
                    </a:ext>
                  </a:extLst>
                </a:gridCol>
                <a:gridCol w="4331473">
                  <a:extLst>
                    <a:ext uri="{9D8B030D-6E8A-4147-A177-3AD203B41FA5}">
                      <a16:colId xmlns:a16="http://schemas.microsoft.com/office/drawing/2014/main" val="3570998603"/>
                    </a:ext>
                  </a:extLst>
                </a:gridCol>
                <a:gridCol w="5274640">
                  <a:extLst>
                    <a:ext uri="{9D8B030D-6E8A-4147-A177-3AD203B41FA5}">
                      <a16:colId xmlns:a16="http://schemas.microsoft.com/office/drawing/2014/main" val="4028649326"/>
                    </a:ext>
                  </a:extLst>
                </a:gridCol>
                <a:gridCol w="2768529">
                  <a:extLst>
                    <a:ext uri="{9D8B030D-6E8A-4147-A177-3AD203B41FA5}">
                      <a16:colId xmlns:a16="http://schemas.microsoft.com/office/drawing/2014/main" val="3764780970"/>
                    </a:ext>
                  </a:extLst>
                </a:gridCol>
                <a:gridCol w="1627003">
                  <a:extLst>
                    <a:ext uri="{9D8B030D-6E8A-4147-A177-3AD203B41FA5}">
                      <a16:colId xmlns:a16="http://schemas.microsoft.com/office/drawing/2014/main" val="2717931542"/>
                    </a:ext>
                  </a:extLst>
                </a:gridCol>
              </a:tblGrid>
              <a:tr h="1017255">
                <a:tc>
                  <a:txBody>
                    <a:bodyPr/>
                    <a:lstStyle/>
                    <a:p>
                      <a:pPr algn="ctr" fontAlgn="base">
                        <a:lnSpc>
                          <a:spcPts val="1650"/>
                        </a:lnSpc>
                        <a:buNone/>
                      </a:pPr>
                      <a:r>
                        <a:rPr lang="en-US" sz="1400" b="1" dirty="0">
                          <a:solidFill>
                            <a:schemeClr val="tx1"/>
                          </a:solidFill>
                          <a:effectLst/>
                        </a:rPr>
                        <a:t>Risk Event​</a:t>
                      </a:r>
                      <a:endParaRPr lang="en-US" sz="2000" b="1" i="0" dirty="0">
                        <a:solidFill>
                          <a:schemeClr val="tx1"/>
                        </a:solidFill>
                        <a:effectLst/>
                        <a:latin typeface="Nunito Sans" pitchFamily="2" charset="0"/>
                      </a:endParaRPr>
                    </a:p>
                  </a:txBody>
                  <a:tcPr marL="63002" marR="63002" marT="31501" marB="31501" anchor="ctr"/>
                </a:tc>
                <a:tc>
                  <a:txBody>
                    <a:bodyPr/>
                    <a:lstStyle/>
                    <a:p>
                      <a:pPr algn="ctr" fontAlgn="base">
                        <a:lnSpc>
                          <a:spcPts val="1650"/>
                        </a:lnSpc>
                        <a:buNone/>
                      </a:pPr>
                      <a:r>
                        <a:rPr lang="en-US" sz="1400" b="1" dirty="0">
                          <a:solidFill>
                            <a:schemeClr val="tx1"/>
                          </a:solidFill>
                          <a:effectLst/>
                        </a:rPr>
                        <a:t>Response​</a:t>
                      </a:r>
                      <a:endParaRPr lang="en-US" sz="2000" b="1" i="0" dirty="0">
                        <a:solidFill>
                          <a:schemeClr val="tx1"/>
                        </a:solidFill>
                        <a:effectLst/>
                        <a:latin typeface="Nunito Sans" pitchFamily="2" charset="0"/>
                      </a:endParaRPr>
                    </a:p>
                  </a:txBody>
                  <a:tcPr marL="63002" marR="63002" marT="31501" marB="31501" anchor="ctr"/>
                </a:tc>
                <a:tc>
                  <a:txBody>
                    <a:bodyPr/>
                    <a:lstStyle/>
                    <a:p>
                      <a:pPr algn="ctr" fontAlgn="base">
                        <a:lnSpc>
                          <a:spcPts val="1650"/>
                        </a:lnSpc>
                        <a:buNone/>
                      </a:pPr>
                      <a:r>
                        <a:rPr lang="en-US" sz="1400" b="1" dirty="0">
                          <a:solidFill>
                            <a:schemeClr val="tx1"/>
                          </a:solidFill>
                          <a:effectLst/>
                        </a:rPr>
                        <a:t>Contingency Plan​</a:t>
                      </a:r>
                      <a:endParaRPr lang="en-US" sz="2000" b="1" i="0" dirty="0">
                        <a:solidFill>
                          <a:schemeClr val="tx1"/>
                        </a:solidFill>
                        <a:effectLst/>
                        <a:latin typeface="Nunito Sans" pitchFamily="2" charset="0"/>
                      </a:endParaRPr>
                    </a:p>
                  </a:txBody>
                  <a:tcPr marL="63002" marR="63002" marT="31501" marB="31501" anchor="ctr"/>
                </a:tc>
                <a:tc>
                  <a:txBody>
                    <a:bodyPr/>
                    <a:lstStyle/>
                    <a:p>
                      <a:pPr algn="ctr" fontAlgn="base">
                        <a:lnSpc>
                          <a:spcPts val="1650"/>
                        </a:lnSpc>
                        <a:buNone/>
                      </a:pPr>
                      <a:r>
                        <a:rPr lang="en-US" sz="1400" b="1">
                          <a:solidFill>
                            <a:schemeClr val="tx1"/>
                          </a:solidFill>
                          <a:effectLst/>
                        </a:rPr>
                        <a:t>Trigger​</a:t>
                      </a:r>
                      <a:endParaRPr lang="en-US" sz="2000" b="1" i="0">
                        <a:solidFill>
                          <a:schemeClr val="tx1"/>
                        </a:solidFill>
                        <a:effectLst/>
                        <a:latin typeface="Nunito Sans" pitchFamily="2" charset="0"/>
                      </a:endParaRPr>
                    </a:p>
                  </a:txBody>
                  <a:tcPr marL="63002" marR="63002" marT="31501" marB="31501" anchor="ctr"/>
                </a:tc>
                <a:tc>
                  <a:txBody>
                    <a:bodyPr/>
                    <a:lstStyle/>
                    <a:p>
                      <a:pPr algn="ctr" fontAlgn="base">
                        <a:lnSpc>
                          <a:spcPts val="1650"/>
                        </a:lnSpc>
                        <a:buNone/>
                      </a:pPr>
                      <a:r>
                        <a:rPr lang="en-US" sz="1400" b="1" dirty="0">
                          <a:solidFill>
                            <a:schemeClr val="tx1"/>
                          </a:solidFill>
                          <a:effectLst/>
                        </a:rPr>
                        <a:t>Who is responsible​</a:t>
                      </a:r>
                      <a:endParaRPr lang="en-US" sz="2000" b="1" i="0" dirty="0">
                        <a:solidFill>
                          <a:schemeClr val="tx1"/>
                        </a:solidFill>
                        <a:effectLst/>
                        <a:latin typeface="Nunito Sans" pitchFamily="2" charset="0"/>
                      </a:endParaRPr>
                    </a:p>
                  </a:txBody>
                  <a:tcPr marL="63002" marR="63002" marT="31501" marB="31501" anchor="ctr"/>
                </a:tc>
                <a:extLst>
                  <a:ext uri="{0D108BD9-81ED-4DB2-BD59-A6C34878D82A}">
                    <a16:rowId xmlns:a16="http://schemas.microsoft.com/office/drawing/2014/main" val="2945328068"/>
                  </a:ext>
                </a:extLst>
              </a:tr>
              <a:tr h="1335904">
                <a:tc>
                  <a:txBody>
                    <a:bodyPr/>
                    <a:lstStyle/>
                    <a:p>
                      <a:pPr algn="l" fontAlgn="base">
                        <a:lnSpc>
                          <a:spcPts val="1650"/>
                        </a:lnSpc>
                        <a:buNone/>
                      </a:pPr>
                      <a:r>
                        <a:rPr lang="en-US" sz="1400" b="1" u="none" strike="noStrike" dirty="0">
                          <a:solidFill>
                            <a:srgbClr val="000000"/>
                          </a:solidFill>
                          <a:effectLst/>
                        </a:rPr>
                        <a:t>Delays in  testing results </a:t>
                      </a:r>
                      <a:r>
                        <a:rPr lang="en-US" sz="1400" b="0" dirty="0">
                          <a:solidFill>
                            <a:srgbClr val="000000"/>
                          </a:solidFill>
                          <a:effectLst/>
                        </a:rPr>
                        <a:t>​</a:t>
                      </a:r>
                      <a:endParaRPr lang="en-US" sz="2000" b="0" i="0" dirty="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1" u="none" strike="noStrike" dirty="0">
                          <a:solidFill>
                            <a:srgbClr val="000000"/>
                          </a:solidFill>
                          <a:effectLst/>
                        </a:rPr>
                        <a:t>Mitigate: </a:t>
                      </a:r>
                      <a:r>
                        <a:rPr lang="en-US" sz="1400" b="0" u="none" strike="noStrike" dirty="0">
                          <a:solidFill>
                            <a:srgbClr val="000000"/>
                          </a:solidFill>
                          <a:effectLst/>
                        </a:rPr>
                        <a:t>Reduce Schedule Risk (Proactively minimizes the chance of delay and lessens the impact on the critical path.)</a:t>
                      </a:r>
                      <a:r>
                        <a:rPr lang="en-US" sz="1400" b="0" dirty="0">
                          <a:solidFill>
                            <a:srgbClr val="000000"/>
                          </a:solidFill>
                          <a:effectLst/>
                        </a:rPr>
                        <a:t>​</a:t>
                      </a:r>
                      <a:endParaRPr lang="en-US" sz="2000" b="0" i="0" dirty="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u="none" strike="noStrike" dirty="0">
                          <a:solidFill>
                            <a:srgbClr val="000000"/>
                          </a:solidFill>
                          <a:effectLst/>
                        </a:rPr>
                        <a:t>Proactive Scheduling + Redundancy (Build slack by testing early; ensure a fallback option with a backup facility.)</a:t>
                      </a:r>
                      <a:r>
                        <a:rPr lang="en-US" sz="1400" b="0" dirty="0">
                          <a:solidFill>
                            <a:srgbClr val="000000"/>
                          </a:solidFill>
                          <a:effectLst/>
                        </a:rPr>
                        <a:t>​</a:t>
                      </a:r>
                      <a:endParaRPr lang="en-US" sz="2000" b="0" i="0" dirty="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u="none" strike="noStrike">
                          <a:solidFill>
                            <a:srgbClr val="000000"/>
                          </a:solidFill>
                          <a:effectLst/>
                        </a:rPr>
                        <a:t>Expected results date passes with no formal report.</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a:solidFill>
                            <a:srgbClr val="000000"/>
                          </a:solidFill>
                          <a:effectLst/>
                        </a:rPr>
                        <a:t>Project Manager​</a:t>
                      </a:r>
                      <a:endParaRPr lang="en-US" sz="2000" b="0" i="0">
                        <a:solidFill>
                          <a:srgbClr val="000000"/>
                        </a:solidFill>
                        <a:effectLst/>
                        <a:latin typeface="Nunito Sans" pitchFamily="2" charset="0"/>
                      </a:endParaRPr>
                    </a:p>
                  </a:txBody>
                  <a:tcPr marL="63002" marR="63002" marT="31501" marB="31501"/>
                </a:tc>
                <a:extLst>
                  <a:ext uri="{0D108BD9-81ED-4DB2-BD59-A6C34878D82A}">
                    <a16:rowId xmlns:a16="http://schemas.microsoft.com/office/drawing/2014/main" val="160488405"/>
                  </a:ext>
                </a:extLst>
              </a:tr>
              <a:tr h="1335904">
                <a:tc>
                  <a:txBody>
                    <a:bodyPr/>
                    <a:lstStyle/>
                    <a:p>
                      <a:pPr algn="l" fontAlgn="base">
                        <a:lnSpc>
                          <a:spcPts val="1650"/>
                        </a:lnSpc>
                        <a:buNone/>
                      </a:pPr>
                      <a:r>
                        <a:rPr lang="en-US" sz="1400" b="1" u="none" strike="noStrike">
                          <a:solidFill>
                            <a:srgbClr val="000000"/>
                          </a:solidFill>
                          <a:effectLst/>
                        </a:rPr>
                        <a:t>Failure to meet 4/5 market taste rating</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1" u="none" strike="noStrike">
                          <a:solidFill>
                            <a:srgbClr val="000000"/>
                          </a:solidFill>
                          <a:effectLst/>
                        </a:rPr>
                        <a:t>Mitigate: </a:t>
                      </a:r>
                      <a:r>
                        <a:rPr lang="en-US" sz="1400" b="0" u="none" strike="noStrike">
                          <a:solidFill>
                            <a:srgbClr val="000000"/>
                          </a:solidFill>
                          <a:effectLst/>
                        </a:rPr>
                        <a:t>Improve Success Probability (Focuses on continuous improvement and correction to ensure a core acceptance criterion is met.)</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u="none" strike="noStrike" dirty="0">
                          <a:solidFill>
                            <a:srgbClr val="000000"/>
                          </a:solidFill>
                          <a:effectLst/>
                        </a:rPr>
                        <a:t>Iterative Testing + Real-time Adjustment (Use tasting rounds during the pilot to correct the formulation immediately.)</a:t>
                      </a:r>
                      <a:r>
                        <a:rPr lang="en-US" sz="1400" b="0" dirty="0">
                          <a:solidFill>
                            <a:srgbClr val="000000"/>
                          </a:solidFill>
                          <a:effectLst/>
                        </a:rPr>
                        <a:t>​</a:t>
                      </a:r>
                      <a:endParaRPr lang="en-US" sz="2000" b="0" i="0" dirty="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u="none" strike="noStrike">
                          <a:solidFill>
                            <a:srgbClr val="000000"/>
                          </a:solidFill>
                          <a:effectLst/>
                        </a:rPr>
                        <a:t>Pilot data shows taste score trending below 4.0/5.0</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a:solidFill>
                            <a:srgbClr val="000000"/>
                          </a:solidFill>
                          <a:effectLst/>
                        </a:rPr>
                        <a:t>Marketing Lead​</a:t>
                      </a:r>
                      <a:endParaRPr lang="en-US" sz="2000" b="0" i="0">
                        <a:solidFill>
                          <a:srgbClr val="000000"/>
                        </a:solidFill>
                        <a:effectLst/>
                        <a:latin typeface="Nunito Sans" pitchFamily="2" charset="0"/>
                      </a:endParaRPr>
                    </a:p>
                  </a:txBody>
                  <a:tcPr marL="63002" marR="63002" marT="31501" marB="31501"/>
                </a:tc>
                <a:extLst>
                  <a:ext uri="{0D108BD9-81ED-4DB2-BD59-A6C34878D82A}">
                    <a16:rowId xmlns:a16="http://schemas.microsoft.com/office/drawing/2014/main" val="540422009"/>
                  </a:ext>
                </a:extLst>
              </a:tr>
              <a:tr h="1335904">
                <a:tc>
                  <a:txBody>
                    <a:bodyPr/>
                    <a:lstStyle/>
                    <a:p>
                      <a:pPr algn="l" fontAlgn="base">
                        <a:lnSpc>
                          <a:spcPts val="1650"/>
                        </a:lnSpc>
                        <a:buNone/>
                      </a:pPr>
                      <a:r>
                        <a:rPr lang="en-US" sz="1400" b="1" u="none" strike="noStrike">
                          <a:solidFill>
                            <a:srgbClr val="000000"/>
                          </a:solidFill>
                          <a:effectLst/>
                        </a:rPr>
                        <a:t>Supply delays in Recyclable packing materials</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1" u="none" strike="noStrike">
                          <a:solidFill>
                            <a:srgbClr val="000000"/>
                          </a:solidFill>
                          <a:effectLst/>
                        </a:rPr>
                        <a:t>Transfer: </a:t>
                      </a:r>
                      <a:r>
                        <a:rPr lang="en-US" sz="1400" b="0" u="none" strike="noStrike">
                          <a:solidFill>
                            <a:srgbClr val="000000"/>
                          </a:solidFill>
                          <a:effectLst/>
                        </a:rPr>
                        <a:t>Shift Financial Burden (Shifts the responsibility and the financial consequence of the supply failure to external parties via contracts.)</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u="none" strike="noStrike">
                          <a:solidFill>
                            <a:srgbClr val="000000"/>
                          </a:solidFill>
                          <a:effectLst/>
                        </a:rPr>
                        <a:t>Vendor Redundancy + Contractual Penalty (Secure a second supplier; enforce contractual clauses for late delivery.)</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u="none" strike="noStrike">
                          <a:solidFill>
                            <a:srgbClr val="000000"/>
                          </a:solidFill>
                          <a:effectLst/>
                        </a:rPr>
                        <a:t>Primary supplier confirms delivery will be late (e.g., &gt;3 days).</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a:solidFill>
                            <a:srgbClr val="000000"/>
                          </a:solidFill>
                          <a:effectLst/>
                        </a:rPr>
                        <a:t>Procurement Manager​</a:t>
                      </a:r>
                      <a:endParaRPr lang="en-US" sz="2000" b="0" i="0">
                        <a:solidFill>
                          <a:srgbClr val="000000"/>
                        </a:solidFill>
                        <a:effectLst/>
                        <a:latin typeface="Nunito Sans" pitchFamily="2" charset="0"/>
                      </a:endParaRPr>
                    </a:p>
                  </a:txBody>
                  <a:tcPr marL="63002" marR="63002" marT="31501" marB="31501"/>
                </a:tc>
                <a:extLst>
                  <a:ext uri="{0D108BD9-81ED-4DB2-BD59-A6C34878D82A}">
                    <a16:rowId xmlns:a16="http://schemas.microsoft.com/office/drawing/2014/main" val="2408616628"/>
                  </a:ext>
                </a:extLst>
              </a:tr>
              <a:tr h="1335904">
                <a:tc>
                  <a:txBody>
                    <a:bodyPr/>
                    <a:lstStyle/>
                    <a:p>
                      <a:pPr algn="l" fontAlgn="base">
                        <a:lnSpc>
                          <a:spcPts val="1650"/>
                        </a:lnSpc>
                        <a:buNone/>
                      </a:pPr>
                      <a:r>
                        <a:rPr lang="en-US" sz="1400" b="1" u="none" strike="noStrike">
                          <a:solidFill>
                            <a:srgbClr val="000000"/>
                          </a:solidFill>
                          <a:effectLst/>
                        </a:rPr>
                        <a:t>Equipment malfunction</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1" u="none" strike="noStrike">
                          <a:solidFill>
                            <a:srgbClr val="000000"/>
                          </a:solidFill>
                          <a:effectLst/>
                        </a:rPr>
                        <a:t>Accept/Prepare: </a:t>
                      </a:r>
                      <a:r>
                        <a:rPr lang="en-US" sz="1400" b="0" u="none" strike="noStrike">
                          <a:solidFill>
                            <a:srgbClr val="000000"/>
                          </a:solidFill>
                          <a:effectLst/>
                        </a:rPr>
                        <a:t>Manage Downtime (Accepts the low-probability risk but implements a rapid recovery plan to minimize severe schedule impact.)</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u="none" strike="noStrike" dirty="0">
                          <a:solidFill>
                            <a:srgbClr val="000000"/>
                          </a:solidFill>
                          <a:effectLst/>
                        </a:rPr>
                        <a:t>Expert Availability + Preemptive Check (Ensure a vendor is ready for immediate repair; verify readiness before the run.)</a:t>
                      </a:r>
                      <a:r>
                        <a:rPr lang="en-US" sz="1400" b="0" dirty="0">
                          <a:solidFill>
                            <a:srgbClr val="000000"/>
                          </a:solidFill>
                          <a:effectLst/>
                        </a:rPr>
                        <a:t>​</a:t>
                      </a:r>
                      <a:endParaRPr lang="en-US" sz="2000" b="0" i="0" dirty="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u="none" strike="noStrike">
                          <a:solidFill>
                            <a:srgbClr val="000000"/>
                          </a:solidFill>
                          <a:effectLst/>
                        </a:rPr>
                        <a:t>Production line halt or major non-conformance during a trial run.</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a:solidFill>
                            <a:srgbClr val="000000"/>
                          </a:solidFill>
                          <a:effectLst/>
                        </a:rPr>
                        <a:t>Production Manager​</a:t>
                      </a:r>
                      <a:endParaRPr lang="en-US" sz="2000" b="0" i="0">
                        <a:solidFill>
                          <a:srgbClr val="000000"/>
                        </a:solidFill>
                        <a:effectLst/>
                        <a:latin typeface="Nunito Sans" pitchFamily="2" charset="0"/>
                      </a:endParaRPr>
                    </a:p>
                  </a:txBody>
                  <a:tcPr marL="63002" marR="63002" marT="31501" marB="31501"/>
                </a:tc>
                <a:extLst>
                  <a:ext uri="{0D108BD9-81ED-4DB2-BD59-A6C34878D82A}">
                    <a16:rowId xmlns:a16="http://schemas.microsoft.com/office/drawing/2014/main" val="1921386594"/>
                  </a:ext>
                </a:extLst>
              </a:tr>
              <a:tr h="1654553">
                <a:tc>
                  <a:txBody>
                    <a:bodyPr/>
                    <a:lstStyle/>
                    <a:p>
                      <a:pPr algn="l" fontAlgn="base">
                        <a:lnSpc>
                          <a:spcPts val="1650"/>
                        </a:lnSpc>
                        <a:buNone/>
                      </a:pPr>
                      <a:r>
                        <a:rPr lang="en-US" sz="1400" b="1" u="none" strike="noStrike">
                          <a:solidFill>
                            <a:srgbClr val="000000"/>
                          </a:solidFill>
                          <a:effectLst/>
                        </a:rPr>
                        <a:t>Resource unavailability</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1" u="none" strike="noStrike">
                          <a:solidFill>
                            <a:srgbClr val="000000"/>
                          </a:solidFill>
                          <a:effectLst/>
                        </a:rPr>
                        <a:t>Avoid: </a:t>
                      </a:r>
                      <a:r>
                        <a:rPr lang="en-US" sz="1400" b="0" u="none" strike="noStrike">
                          <a:solidFill>
                            <a:srgbClr val="000000"/>
                          </a:solidFill>
                          <a:effectLst/>
                        </a:rPr>
                        <a:t>Eliminate Single-Point Failure (Changes the plan to remove dependence on specific individuals for critical tasks, thus eliminating the schedule risk.)</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u="none" strike="noStrike">
                          <a:solidFill>
                            <a:srgbClr val="000000"/>
                          </a:solidFill>
                          <a:effectLst/>
                        </a:rPr>
                        <a:t>Availability Verification + Cross-Training (Formally confirm required stakeholder participation; train alternatives to step in.)</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u="none" strike="noStrike">
                          <a:solidFill>
                            <a:srgbClr val="000000"/>
                          </a:solidFill>
                          <a:effectLst/>
                        </a:rPr>
                        <a:t>Key reviewer/team member confirms inability to attend a critical meeting/trial.</a:t>
                      </a:r>
                      <a:r>
                        <a:rPr lang="en-US" sz="1400" b="0">
                          <a:solidFill>
                            <a:srgbClr val="000000"/>
                          </a:solidFill>
                          <a:effectLst/>
                        </a:rPr>
                        <a:t>​</a:t>
                      </a:r>
                      <a:endParaRPr lang="en-US" sz="2000" b="0" i="0">
                        <a:solidFill>
                          <a:srgbClr val="000000"/>
                        </a:solidFill>
                        <a:effectLst/>
                        <a:latin typeface="Nunito Sans" pitchFamily="2" charset="0"/>
                      </a:endParaRPr>
                    </a:p>
                  </a:txBody>
                  <a:tcPr marL="63002" marR="63002" marT="31501" marB="31501"/>
                </a:tc>
                <a:tc>
                  <a:txBody>
                    <a:bodyPr/>
                    <a:lstStyle/>
                    <a:p>
                      <a:pPr algn="l" fontAlgn="base">
                        <a:lnSpc>
                          <a:spcPts val="1650"/>
                        </a:lnSpc>
                        <a:buNone/>
                      </a:pPr>
                      <a:r>
                        <a:rPr lang="en-US" sz="1400" b="0" dirty="0">
                          <a:solidFill>
                            <a:srgbClr val="000000"/>
                          </a:solidFill>
                          <a:effectLst/>
                        </a:rPr>
                        <a:t>Procurement Manager​</a:t>
                      </a:r>
                      <a:endParaRPr lang="en-US" sz="2000" b="0" i="0" dirty="0">
                        <a:solidFill>
                          <a:srgbClr val="000000"/>
                        </a:solidFill>
                        <a:effectLst/>
                        <a:latin typeface="Nunito Sans" pitchFamily="2" charset="0"/>
                      </a:endParaRPr>
                    </a:p>
                  </a:txBody>
                  <a:tcPr marL="63002" marR="63002" marT="31501" marB="31501"/>
                </a:tc>
                <a:extLst>
                  <a:ext uri="{0D108BD9-81ED-4DB2-BD59-A6C34878D82A}">
                    <a16:rowId xmlns:a16="http://schemas.microsoft.com/office/drawing/2014/main" val="3105261575"/>
                  </a:ext>
                </a:extLst>
              </a:tr>
            </a:tbl>
          </a:graphicData>
        </a:graphic>
      </p:graphicFrame>
      <p:sp>
        <p:nvSpPr>
          <p:cNvPr id="21" name="Rectangle 1">
            <a:extLst>
              <a:ext uri="{FF2B5EF4-FFF2-40B4-BE49-F238E27FC236}">
                <a16:creationId xmlns:a16="http://schemas.microsoft.com/office/drawing/2014/main" id="{AC58E548-48B2-92DD-9DE6-059ED0C529D1}"/>
              </a:ext>
            </a:extLst>
          </p:cNvPr>
          <p:cNvSpPr>
            <a:spLocks noChangeArrowheads="1"/>
          </p:cNvSpPr>
          <p:nvPr/>
        </p:nvSpPr>
        <p:spPr bwMode="auto">
          <a:xfrm>
            <a:off x="1336175" y="962915"/>
            <a:ext cx="3767072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705349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976417"/>
            <a:ext cx="28394688" cy="15263417"/>
            <a:chOff x="0" y="0"/>
            <a:chExt cx="7478436" cy="4019995"/>
          </a:xfrm>
        </p:grpSpPr>
        <p:sp>
          <p:nvSpPr>
            <p:cNvPr id="3" name="Freeform 3"/>
            <p:cNvSpPr/>
            <p:nvPr/>
          </p:nvSpPr>
          <p:spPr>
            <a:xfrm>
              <a:off x="0" y="0"/>
              <a:ext cx="7478437" cy="4019995"/>
            </a:xfrm>
            <a:custGeom>
              <a:avLst/>
              <a:gdLst/>
              <a:ahLst/>
              <a:cxnLst/>
              <a:rect l="l" t="t" r="r" b="b"/>
              <a:pathLst>
                <a:path w="7478437" h="4019995">
                  <a:moveTo>
                    <a:pt x="0" y="0"/>
                  </a:moveTo>
                  <a:lnTo>
                    <a:pt x="7478437" y="0"/>
                  </a:lnTo>
                  <a:lnTo>
                    <a:pt x="7478437" y="4019995"/>
                  </a:lnTo>
                  <a:lnTo>
                    <a:pt x="0" y="4019995"/>
                  </a:lnTo>
                  <a:close/>
                </a:path>
              </a:pathLst>
            </a:custGeom>
            <a:gradFill rotWithShape="1">
              <a:gsLst>
                <a:gs pos="0">
                  <a:srgbClr val="F94075">
                    <a:alpha val="100000"/>
                  </a:srgbClr>
                </a:gs>
                <a:gs pos="100000">
                  <a:srgbClr val="FFFFFF">
                    <a:alpha val="100000"/>
                  </a:srgbClr>
                </a:gs>
              </a:gsLst>
              <a:lin ang="0"/>
            </a:gradFill>
          </p:spPr>
          <p:txBody>
            <a:bodyPr/>
            <a:lstStyle/>
            <a:p>
              <a:endParaRPr lang="en-IN"/>
            </a:p>
          </p:txBody>
        </p:sp>
        <p:sp>
          <p:nvSpPr>
            <p:cNvPr id="4" name="TextBox 4"/>
            <p:cNvSpPr txBox="1"/>
            <p:nvPr/>
          </p:nvSpPr>
          <p:spPr>
            <a:xfrm>
              <a:off x="0" y="-38100"/>
              <a:ext cx="7478436" cy="4058095"/>
            </a:xfrm>
            <a:prstGeom prst="rect">
              <a:avLst/>
            </a:prstGeom>
          </p:spPr>
          <p:txBody>
            <a:bodyPr lIns="50800" tIns="50800" rIns="50800" bIns="50800" rtlCol="0" anchor="ctr"/>
            <a:lstStyle/>
            <a:p>
              <a:pPr algn="ctr">
                <a:lnSpc>
                  <a:spcPts val="3359"/>
                </a:lnSpc>
              </a:pPr>
              <a:endParaRPr/>
            </a:p>
          </p:txBody>
        </p:sp>
      </p:grpSp>
      <p:sp>
        <p:nvSpPr>
          <p:cNvPr id="5" name="AutoShape 5"/>
          <p:cNvSpPr/>
          <p:nvPr/>
        </p:nvSpPr>
        <p:spPr>
          <a:xfrm flipH="1" flipV="1">
            <a:off x="803670" y="0"/>
            <a:ext cx="0" cy="10287000"/>
          </a:xfrm>
          <a:prstGeom prst="line">
            <a:avLst/>
          </a:prstGeom>
          <a:ln w="9525" cap="flat">
            <a:solidFill>
              <a:srgbClr val="03286A"/>
            </a:solidFill>
            <a:prstDash val="solid"/>
            <a:headEnd type="none" w="sm" len="sm"/>
            <a:tailEnd type="none" w="sm" len="sm"/>
          </a:ln>
        </p:spPr>
        <p:txBody>
          <a:bodyPr/>
          <a:lstStyle/>
          <a:p>
            <a:endParaRPr lang="en-IN"/>
          </a:p>
        </p:txBody>
      </p:sp>
      <p:sp>
        <p:nvSpPr>
          <p:cNvPr id="6" name="TextBox 6"/>
          <p:cNvSpPr txBox="1"/>
          <p:nvPr/>
        </p:nvSpPr>
        <p:spPr>
          <a:xfrm rot="-5400000">
            <a:off x="-1737384" y="7468004"/>
            <a:ext cx="4498668" cy="564257"/>
          </a:xfrm>
          <a:prstGeom prst="rect">
            <a:avLst/>
          </a:prstGeom>
        </p:spPr>
        <p:txBody>
          <a:bodyPr lIns="0" tIns="0" rIns="0" bIns="0" rtlCol="0" anchor="t">
            <a:spAutoFit/>
          </a:bodyPr>
          <a:lstStyle/>
          <a:p>
            <a:pPr>
              <a:lnSpc>
                <a:spcPts val="2160"/>
              </a:lnSpc>
            </a:pPr>
            <a:r>
              <a:rPr lang="en-US" dirty="0">
                <a:solidFill>
                  <a:schemeClr val="bg1"/>
                </a:solidFill>
                <a:latin typeface="Georgia Pro" panose="02040502050405020303" pitchFamily="18" charset="0"/>
              </a:rPr>
              <a:t>POM+ Singapore </a:t>
            </a:r>
            <a:endParaRPr lang="en-US" spc="-53" dirty="0">
              <a:solidFill>
                <a:schemeClr val="bg1"/>
              </a:solidFill>
              <a:latin typeface="Georgia Pro" panose="02040502050405020303" pitchFamily="18" charset="0"/>
              <a:ea typeface="Nunito Sans"/>
              <a:cs typeface="Nunito Sans"/>
              <a:sym typeface="Nunito Sans"/>
            </a:endParaRPr>
          </a:p>
          <a:p>
            <a:pPr algn="l">
              <a:lnSpc>
                <a:spcPts val="2160"/>
              </a:lnSpc>
            </a:pPr>
            <a:endParaRPr lang="en-US" sz="1800" spc="-53" dirty="0">
              <a:solidFill>
                <a:srgbClr val="03286A"/>
              </a:solidFill>
              <a:latin typeface="Nunito Sans"/>
              <a:ea typeface="Nunito Sans"/>
              <a:cs typeface="Nunito Sans"/>
              <a:sym typeface="Nunito Sans"/>
            </a:endParaRPr>
          </a:p>
        </p:txBody>
      </p:sp>
      <p:sp>
        <p:nvSpPr>
          <p:cNvPr id="8" name="TextBox 8"/>
          <p:cNvSpPr txBox="1"/>
          <p:nvPr/>
        </p:nvSpPr>
        <p:spPr>
          <a:xfrm>
            <a:off x="1348744" y="709515"/>
            <a:ext cx="10596985" cy="1565557"/>
          </a:xfrm>
          <a:prstGeom prst="rect">
            <a:avLst/>
          </a:prstGeom>
        </p:spPr>
        <p:txBody>
          <a:bodyPr lIns="0" tIns="0" rIns="0" bIns="0" rtlCol="0" anchor="t">
            <a:spAutoFit/>
          </a:bodyPr>
          <a:lstStyle/>
          <a:p>
            <a:pPr algn="l">
              <a:lnSpc>
                <a:spcPts val="12000"/>
              </a:lnSpc>
            </a:pPr>
            <a:r>
              <a:rPr lang="en-US" sz="12000" dirty="0">
                <a:solidFill>
                  <a:srgbClr val="FFFFFF"/>
                </a:solidFill>
                <a:latin typeface="Georgia Pro"/>
                <a:ea typeface="Georgia Pro"/>
                <a:cs typeface="Georgia Pro"/>
                <a:sym typeface="Georgia Pro"/>
              </a:rPr>
              <a:t>Conclusion</a:t>
            </a:r>
          </a:p>
        </p:txBody>
      </p:sp>
      <p:sp>
        <p:nvSpPr>
          <p:cNvPr id="10" name="Content Placeholder 2">
            <a:extLst>
              <a:ext uri="{FF2B5EF4-FFF2-40B4-BE49-F238E27FC236}">
                <a16:creationId xmlns:a16="http://schemas.microsoft.com/office/drawing/2014/main" id="{4E5A4466-124C-FA52-7EFA-CFC6C1F24F70}"/>
              </a:ext>
            </a:extLst>
          </p:cNvPr>
          <p:cNvSpPr>
            <a:spLocks noGrp="1"/>
          </p:cNvSpPr>
          <p:nvPr/>
        </p:nvSpPr>
        <p:spPr>
          <a:xfrm>
            <a:off x="1357436" y="2582960"/>
            <a:ext cx="11596564" cy="7393646"/>
          </a:xfrm>
          <a:prstGeom prst="rect">
            <a:avLst/>
          </a:prstGeom>
        </p:spPr>
        <p:txBody>
          <a:bodyPr vert="horz" lIns="45720" tIns="45720" rIns="45720" bIns="45720" rtlCol="0" anchor="t">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lnSpc>
                <a:spcPct val="70000"/>
              </a:lnSpc>
              <a:buFont typeface="Wingdings" panose="020B0602020104020603" pitchFamily="34" charset="0"/>
              <a:buChar char="Ø"/>
            </a:pPr>
            <a:r>
              <a:rPr lang="en-US" sz="2600" b="1" dirty="0">
                <a:latin typeface="Nunito Sans" pitchFamily="2" charset="0"/>
                <a:ea typeface="+mn-lt"/>
                <a:cs typeface="+mn-lt"/>
              </a:rPr>
              <a:t>Feasibility &amp; Strategic Alignment: </a:t>
            </a:r>
            <a:r>
              <a:rPr lang="en-US" sz="2600" dirty="0">
                <a:latin typeface="Nunito Sans" pitchFamily="2" charset="0"/>
                <a:ea typeface="+mn-lt"/>
                <a:cs typeface="+mn-lt"/>
              </a:rPr>
              <a:t>The POM+ Singapore Pilot is strategically aligned with Big Kola’s entry into the functional beverage market and successfully meets all technical requirements, including the crucial sustainability goal and external validation by the Technion Institute.</a:t>
            </a:r>
            <a:br>
              <a:rPr lang="en-US" sz="2600" dirty="0">
                <a:latin typeface="Nunito Sans" pitchFamily="2" charset="0"/>
                <a:ea typeface="+mn-lt"/>
                <a:cs typeface="+mn-lt"/>
              </a:rPr>
            </a:br>
            <a:endParaRPr lang="en-US" sz="2600" dirty="0">
              <a:latin typeface="Nunito Sans" pitchFamily="2" charset="0"/>
            </a:endParaRPr>
          </a:p>
          <a:p>
            <a:pPr>
              <a:lnSpc>
                <a:spcPct val="70000"/>
              </a:lnSpc>
              <a:buFont typeface="Wingdings" panose="020B0602020104020603" pitchFamily="34" charset="0"/>
              <a:buChar char="Ø"/>
            </a:pPr>
            <a:r>
              <a:rPr lang="en-US" sz="2600" b="1" dirty="0">
                <a:latin typeface="Nunito Sans" pitchFamily="2" charset="0"/>
                <a:ea typeface="+mn-lt"/>
                <a:cs typeface="+mn-lt"/>
              </a:rPr>
              <a:t>Financial Status &amp; Viability:</a:t>
            </a:r>
            <a:r>
              <a:rPr lang="en-US" sz="2600" dirty="0">
                <a:latin typeface="Nunito Sans" pitchFamily="2" charset="0"/>
                <a:ea typeface="+mn-lt"/>
                <a:cs typeface="+mn-lt"/>
              </a:rPr>
              <a:t> The project is financially unattractive under the full cost model, resulting in a Negative Net Present Value (NPV=−$165,704.75). This highlights that overhead costs are the primary viability factor.</a:t>
            </a:r>
            <a:br>
              <a:rPr lang="en-US" sz="2600" dirty="0">
                <a:latin typeface="Nunito Sans" pitchFamily="2" charset="0"/>
                <a:ea typeface="+mn-lt"/>
                <a:cs typeface="+mn-lt"/>
              </a:rPr>
            </a:br>
            <a:endParaRPr lang="en-US" sz="2600" dirty="0">
              <a:latin typeface="Nunito Sans" pitchFamily="2" charset="0"/>
            </a:endParaRPr>
          </a:p>
          <a:p>
            <a:pPr>
              <a:lnSpc>
                <a:spcPct val="70000"/>
              </a:lnSpc>
              <a:buFont typeface="Wingdings" panose="020B0602020104020603" pitchFamily="34" charset="0"/>
              <a:buChar char="Ø"/>
            </a:pPr>
            <a:r>
              <a:rPr lang="en-US" sz="2600" b="1" dirty="0">
                <a:latin typeface="Nunito Sans" pitchFamily="2" charset="0"/>
                <a:ea typeface="+mn-lt"/>
                <a:cs typeface="+mn-lt"/>
              </a:rPr>
              <a:t>Performance Challenges (EVM):</a:t>
            </a:r>
            <a:r>
              <a:rPr lang="en-US" sz="2600" dirty="0">
                <a:latin typeface="Nunito Sans" pitchFamily="2" charset="0"/>
                <a:ea typeface="+mn-lt"/>
                <a:cs typeface="+mn-lt"/>
              </a:rPr>
              <a:t> Current execution is significantly troubled. Earned Value Management shows the project is both over budget (CPI=0.871) and behind schedule (SPI=0.720), requiring immediate corrective action and resource reallocation.</a:t>
            </a:r>
            <a:br>
              <a:rPr lang="en-US" sz="2600" dirty="0">
                <a:latin typeface="Nunito Sans" pitchFamily="2" charset="0"/>
                <a:ea typeface="+mn-lt"/>
                <a:cs typeface="+mn-lt"/>
              </a:rPr>
            </a:br>
            <a:endParaRPr lang="en-US" sz="2600" dirty="0">
              <a:latin typeface="Nunito Sans" pitchFamily="2" charset="0"/>
            </a:endParaRPr>
          </a:p>
          <a:p>
            <a:pPr>
              <a:lnSpc>
                <a:spcPct val="70000"/>
              </a:lnSpc>
              <a:buFont typeface="Wingdings" panose="020B0602020104020603" pitchFamily="34" charset="0"/>
              <a:buChar char="Ø"/>
            </a:pPr>
            <a:r>
              <a:rPr lang="en-US" sz="2600" b="1" dirty="0">
                <a:latin typeface="Nunito Sans" pitchFamily="2" charset="0"/>
                <a:ea typeface="+mn-lt"/>
                <a:cs typeface="+mn-lt"/>
              </a:rPr>
              <a:t>Outlook: </a:t>
            </a:r>
            <a:r>
              <a:rPr lang="en-US" sz="2600" dirty="0">
                <a:latin typeface="Nunito Sans" pitchFamily="2" charset="0"/>
                <a:ea typeface="+mn-lt"/>
                <a:cs typeface="+mn-lt"/>
              </a:rPr>
              <a:t>While the core planning and risk strategy are robust, the success of the pilot and the final Go/No-Go decision are now entirely dependent on aggressively rectifying the schedule and cost variances and successfully mitigating high-priority risks (e.g., Technion delays).</a:t>
            </a:r>
            <a:endParaRPr lang="en-US" sz="2600" dirty="0">
              <a:latin typeface="Nunito Sans" pitchFamily="2" charset="0"/>
            </a:endParaRPr>
          </a:p>
          <a:p>
            <a:pPr>
              <a:buFont typeface="Wingdings" panose="020B0602020104020603" pitchFamily="34" charset="0"/>
              <a:buChar char="Ø"/>
            </a:pPr>
            <a:endParaRPr lang="en-US" dirty="0"/>
          </a:p>
        </p:txBody>
      </p:sp>
      <p:sp>
        <p:nvSpPr>
          <p:cNvPr id="14" name="TextBox 10">
            <a:extLst>
              <a:ext uri="{FF2B5EF4-FFF2-40B4-BE49-F238E27FC236}">
                <a16:creationId xmlns:a16="http://schemas.microsoft.com/office/drawing/2014/main" id="{09810EE9-01D0-153E-B850-5AEDA30EEBAC}"/>
              </a:ext>
            </a:extLst>
          </p:cNvPr>
          <p:cNvSpPr txBox="1"/>
          <p:nvPr/>
        </p:nvSpPr>
        <p:spPr>
          <a:xfrm rot="16200000">
            <a:off x="-1827961" y="2683490"/>
            <a:ext cx="4498668" cy="282129"/>
          </a:xfrm>
          <a:prstGeom prst="rect">
            <a:avLst/>
          </a:prstGeom>
        </p:spPr>
        <p:txBody>
          <a:bodyPr lIns="0" tIns="0" rIns="0" bIns="0" rtlCol="0" anchor="t">
            <a:spAutoFit/>
          </a:bodyPr>
          <a:lstStyle/>
          <a:p>
            <a:pPr algn="r">
              <a:lnSpc>
                <a:spcPts val="2160"/>
              </a:lnSpc>
            </a:pPr>
            <a:r>
              <a:rPr lang="en-US" spc="-53" dirty="0">
                <a:solidFill>
                  <a:schemeClr val="bg1"/>
                </a:solidFill>
                <a:latin typeface="Nunito Sans"/>
                <a:ea typeface="Nunito Sans"/>
                <a:cs typeface="Nunito Sans"/>
                <a:sym typeface="Nunito Sans"/>
              </a:rPr>
              <a:t>NOV</a:t>
            </a:r>
            <a:r>
              <a:rPr lang="en-US" sz="1800" spc="-53" dirty="0">
                <a:solidFill>
                  <a:schemeClr val="bg1"/>
                </a:solidFill>
                <a:latin typeface="Nunito Sans"/>
                <a:ea typeface="Nunito Sans"/>
                <a:cs typeface="Nunito Sans"/>
                <a:sym typeface="Nunito Sans"/>
              </a:rPr>
              <a:t> 2025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232</TotalTime>
  <Words>3154</Words>
  <Application>Microsoft Office PowerPoint</Application>
  <PresentationFormat>Custom</PresentationFormat>
  <Paragraphs>498</Paragraphs>
  <Slides>18</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18</vt:i4>
      </vt:variant>
    </vt:vector>
  </HeadingPairs>
  <TitlesOfParts>
    <vt:vector size="28" baseType="lpstr">
      <vt:lpstr>Wingdings</vt:lpstr>
      <vt:lpstr>Nunito Sans</vt:lpstr>
      <vt:lpstr>Nunito Sans Light</vt:lpstr>
      <vt:lpstr>Calibri</vt:lpstr>
      <vt:lpstr>Arial</vt:lpstr>
      <vt:lpstr>Georgia Pro</vt:lpstr>
      <vt:lpstr>Tw Cen MT</vt:lpstr>
      <vt:lpstr>Tw Cen MT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Copy of Simple Marketing Plan Slides</dc:title>
  <dc:creator>akash ag</dc:creator>
  <cp:lastModifiedBy>akash ag</cp:lastModifiedBy>
  <cp:revision>4</cp:revision>
  <dcterms:created xsi:type="dcterms:W3CDTF">2006-08-16T00:00:00Z</dcterms:created>
  <dcterms:modified xsi:type="dcterms:W3CDTF">2026-01-21T06:30:00Z</dcterms:modified>
  <dc:identifier>DAG45yDfGnM</dc:identifier>
</cp:coreProperties>
</file>